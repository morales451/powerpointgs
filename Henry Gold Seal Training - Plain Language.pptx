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Lst>
  <p:notesMasterIdLst>
    <p:notesMasterId r:id="rId2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8a035786-53ab-406d-6a02-219e7496072d}">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 name="Silicone" id="{01da634b-e382-4f52-2506-807a64625492}">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Lst>
        </p14:section>
        <p14:section name="Acrylic" id="{31acca82-09e0-c454-c0a7-87abd5b6d309}">
          <p14:sldIdLst>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Lst>
        </p14:section>
        <p14:section name="Aluminum" id="{f143c916-9406-cd47-57a7-ee15f2dce3a9}">
          <p14:sldIdLst>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Lst>
        </p14:section>
        <p14:section name="Emulsion" id="{8497551c-81ab-dde8-a80c-7f3fe8ec6601}">
          <p14:sldIdLst>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Lst>
        </p14:section>
        <p14:section name="Repair Mastics" id="{4f1bdbe7-58cf-7825-ecb7-6b77c10ec546}">
          <p14:sldIdLst>
            <p14:sldId id="466"/>
            <p14:sldId id="467"/>
            <p14:sldId id="468"/>
            <p14:sldId id="469"/>
            <p14:sldId id="470"/>
            <p14:sldId id="471"/>
            <p14:sldId id="472"/>
            <p14:sldId id="473"/>
            <p14:sldId id="474"/>
            <p14:sldId id="475"/>
            <p14:sldId id="476"/>
            <p14:sldId id="477"/>
            <p14:sldId id="478"/>
            <p14:sldId id="479"/>
            <p14:sldId id="480"/>
            <p14:sldId id="481"/>
            <p14:sldId id="482"/>
          </p14:sldIdLst>
        </p14:section>
        <p14:section name="Warranty &amp; Authorization" id="{0ab4dc74-a6b0-f324-211f-e79ca5ec34f8}">
          <p14:sldIdLst>
            <p14:sldId id="483"/>
            <p14:sldId id="484"/>
            <p14:sldId id="485"/>
            <p14:sldId id="486"/>
            <p14:sldId id="487"/>
          </p14:sldIdLst>
        </p14:section>
        <p14:section name="Final Inspection" id="{a0f04f25-1605-9680-3f5e-8ccabd6f3307}">
          <p14:sldIdLst>
            <p14:sldId id="488"/>
            <p14:sldId id="489"/>
            <p14:sldId id="490"/>
            <p14:sldId id="491"/>
            <p14:sldId id="492"/>
            <p14:sldId id="493"/>
            <p14:sldId id="494"/>
            <p14:sldId id="495"/>
            <p14:sldId id="496"/>
            <p14:sldId id="497"/>
          </p14:sldIdLst>
        </p14:section>
        <p14:section name="Results &amp; Support" id="{fa873e9d-f96d-f953-5fea-8436e2289a07}">
          <p14:sldIdLst>
            <p14:sldId id="498"/>
            <p14:sldId id="499"/>
            <p14:sldId id="500"/>
            <p14:sldId id="501"/>
            <p14:sldId id="502"/>
            <p14:sldId id="503"/>
            <p14:sldId id="504"/>
            <p14:sldId id="505"/>
            <p14:sldId id="5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notesMaster" Target="notesMasters/notesMaster1.xml"/><Relationship Id="rId254" Type="http://schemas.openxmlformats.org/officeDocument/2006/relationships/presProps" Target="presProps.xml"/><Relationship Id="rId255" Type="http://schemas.openxmlformats.org/officeDocument/2006/relationships/viewProps" Target="viewProps.xml"/><Relationship Id="rId256" Type="http://schemas.openxmlformats.org/officeDocument/2006/relationships/theme" Target="theme/theme1.xml"/><Relationship Id="rId2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Today you'll learn how to bring an old roof back to life — and how to get Henry's best warranty behind your work.
SAY IT LIKE THIS
Welcome. Over the next sessions we'll cover how to tell if a roof can be saved, how to do the work right, and how to get it warranted. No test at the end. Just ask questions as we go.
MAKE IT STICK
Start with a story: a roof you saved that the owner thought was a goner. People remember stories, not bullet points.
ASK THE CREW
"Raise your hand if you've ever coated a roof." This tells you who your experts are, so you can call on them later.
(Original deck: slide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Here's the road map. Six stops.
SAY IT LIKE THIS
Read the list once, fast. Tell them when breaks are. Tell them it's OK to stop you and ask.
MAKE IT STICK
The four icons stand for what a good roof does: keeps water out, controls air, saves energy, and lasts.
ASK THE CREW
"What's one thing you want to walk out of here knowing?" Write answers on a flip chart and check them off at the end.
(Original deck: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For owners, Henry means more years from the roof they already paid for.
SAY IT LIKE THIS
This is how we talk to building owners. They care about money, time, and fewer headaches. Our coatings give them more life from the roof they already have.
MAKE IT STICK
Henry's motto is "the gift of time." Time is what an owner buys when they restore instead of replace.
(Original deck: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For contractors, Henry means easier jobs, more jobs, and backup when you need it.
SAY IT LIKE THIS
This one's about you. One system that works together. Leads from us. Training like today. And people to call when you're stuck.
ASK THE CREW
"What slows your crew down most on a coating job?" Keep that answer in mind — we'll come back to it.
(Original deck: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Henry protects the whole building, from the foundation to the roof.
SAY IT LIKE THIS
Each red dot on the drawing is a product area. Today we focus on one: roof restoration coatings.
(Original deck: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Over 90 years old, and now part of Carlisle — one of the biggest names in roofing.
SAY IT LIKE THIS
Keep this short. The point: we've been around a long time, and we keep getting stronger.
(Original deck: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Three companies came together. You deal with one name: Henry.
SAY IT LIKE THIS
If you used Carlisle coatings or National Coatings before, those products now live under Henry.
(Original deck: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One supplier for every coating type: silicone, acrylic, aluminum, emulsion, foam, and mastics.
SAY IT LIKE THIS
Look at the top row — all green checks. That means whatever the roof needs, you can get it from one place, with one warranty.
ASK THE CREW
"Why does one supplier for everything matter to you?" (One call, one warranty, one rep.)
(Original deck: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Restore sits in the sweet spot: less cost and mess than recover or replace.
SAY IT LIKE THIS
Every roof goes around this circle. Restoration is the step that buys the most years for the least money — if we catch the roof in time.
MAKE IT STICK
Like a car: oil changes (repair), a rebuild (restore), or a new car (replace). Most people wait too long and end up buying new.
(Original deck: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 leaking roof is not always a dead roof.
SAY IT LIKE THIS
When an owner sees a leak, they think the whole roof is shot. Usually it's not. Most of the time a small part needs fixing and the rest just needs a new coat.
MAKE IT STICK
One bad tooth doesn't mean you pull them all.
ASK THE CREW
"How many of you have walked a 'dead' roof that was actually 90% fine?"
(Original deck: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If less than 25% of the roof needs replacing, restore it.
SAY IT LIKE THIS
Every owner will face this choice. Replacement costs a lot and shuts things down. Restoration costs a fraction and adds years. But there's a window — wait too long and restoration is off the table.
MAKE IT STICK
Remember the number 25. Under 25% bad: restore. Over 25%: replace.
ASK THE CREW
"What's the magic number?" (25%.) Ask it again later in the day.
(Original deck: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Owners save money now and later.
SAY IT LIKE THIS
These are the selling points for the owner. Pick the two or three that matter most to the customer in front of you — don't read them the whole list.
ASK THE CREW
"Which one of these would your customers care about most?"
(Original deck: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Restoration is safer, faster work — and it brings you back to the same roof for years.
SAY IT LIKE THIS
No kettles, no torches. Easier to train new hires. And once you coat a roof, you can keep that customer for maintenance.
ASK THE CREW
"What's the hardest part of training a new guy on hot work?" Compare that to rolling coating.
(Original deck: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Restoration is a rebuild, not a cover-up.
SAY IT LIKE THIS
Look at the car. Same car, same frame. Fixed up, it runs and looks great. That's what we do to a roof.
MAKE IT STICK
Nobody junks a classic car because the paint faded. Same with a roof that's still solid underneath.
(Original deck: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Clean. Dry. Sound. If a roof fails one, it's not ready.
SAY IT LIKE THIS
This is the most important slide today. Every roof we restore has to pass all three. If it's dirty, we clean it. If it's wet, we dry or replace the wet part. If it's not solid, we repair it first — or walk away.
MAKE IT STICK
Say it out loud together: "Clean, dry, sound." Repeat it at the end of every section today.
ASK THE CREW
"Give me an example of a roof that's clean and dry but NOT sound."
(Original deck: slide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Use Clean, Dry, Sound to judge each photo.
SAY IT LIKE THIS
Don't tell them the answer. Point at each photo and let the room decide. Then reveal why.
ASK THE CREW
"Why does the top-right one get an X?" (Not sound — the deck is damaged.)
(Original deck: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More practice. The crew should be calling these on their own now.
SAY IT LIKE THIS
Same game. This time, have someone else explain each answer.
ASK THE CREW
"Which rule — clean, dry, or sound — does each X break?"
(Original deck: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Section 1 of 4: Silicone.
SAY IT LIKE THIS
We start with silicone because it's our strongest system and it handles the hardest problem on flat roofs: standing water.
(Original deck: slide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Silicone stays put — through heat, cold, sun, and standing water.
SAY IT LIKE THIS
High solids means when you put 10 gallons down, about 9 stay on the roof. It cures with moisture, so ponding water can't turn it back to goo.
MAKE IT STICK
Fun fact: silicon is the second most common element on Earth — about 27% of the earth's crust. It's basically made from sand.
ASK THE CREW
"Why do high solids matter to you as the installer?" (Less material, thicker film, fewer coats.)
(Original deck: slide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Know the downsides so you can plan for them — not so you avoid silicone.
SAY IT LIKE THIS
Be honest with customers about this. Most of these have a fix: our 988 resists dirt, the 294 basecoat stops asphalt stains, and training fixes unfamiliarity.
MAKE IT STICK
Silicone is a one-way street: once a roof is silicone, it stays silicone.
(Original deck: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Flat, low-slope, harsh weather, ponding water: think silicone.
SAY IT LIKE THIS
Ponding water is where silicone shines. But read the footnote: puddles, not lakes. The roof still has to drain.
(Original deck: slide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Steep, curved, high-traffic, or swimming-pool roofs: pick something else.
SAY IT LIKE THIS
Silicone runs on steep slopes and gets slick to walk on. On a roof with heavy foot traffic, use a tougher topcoat or add walk pads.
ASK THE CREW
"A roof holds 4 inches of water for a week after rain. Silicone?" (No — fix the drainage first.)
(Original deck: slide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Next: a quick photo tour of roof types silicone can restore.
SAY IT LIKE THIS
Keep these fast — about 20 seconds each. The point is: silicone goes on almost anything.
(Original deck: slide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works on asphalt roofs — granulated or smooth mod-bit, and built-up (BUR) roofs.
SAY IT LIKE THIS
Point at the photo. "If you see a roof like this, this coating can restore it — as long as it passes Clean, Dry, Sound." Over asphalt, use the 294 basecoat first to stop stains.
ASK THE CREW
"Where have you seen a roof like this around here?"
(Original deck: slide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works on single-ply roofs — TPO, PVC, and EPDM.
SAY IT LIKE THIS
Point at the photo. "If you see a roof like this, this coating can restore it — as long as it passes Clean, Dry, Sound." Single-ply always needs an adhesion test.
ASK THE CREW
"Where have you seen a roof like this around here?"
(Original deck: slide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works on metal roofs.
SAY IT LIKE THIS
Point at the photo. "If you see a roof like this, this coating can restore it — as long as it passes Clean, Dry, Sound." Metal always needs an adhesion test. No moisture survey needed.
ASK THE CREW
"Where have you seen a roof like this around here?"
(Original deck: slide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works on roofs that were coated before.
SAY IT LIKE THIS
Point at the photo. "If you see a roof like this, this coating can restore it — as long as it passes Clean, Dry, Sound." Always test adhesion over an old coating.
ASK THE CREW
"Where have you seen a roof like this around here?"
(Original deck: slide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works on spray foam (SPF) roofs.
SAY IT LIKE THIS
Point at the photo. "If you see a roof like this, this coating can restore it — as long as it passes Clean, Dry, Sound."
ASK THE CREW
"Where have you seen a roof like this around here?"
(Original deck: slide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works on tar and gravel roofs — once the gravel is handled.
SAY IT LIKE THIS
Point at the photo. "If you see a roof like this, this coating can restore it — as long as it passes Clean, Dry, Sound." Loose gravel can't be coated over.
ASK THE CREW
"Where have you seen a roof like this around here?"
(Original deck: slide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works on tar and gravel roofs with spray foam on top.
SAY IT LIKE THIS
Point at the photo. "If you see a roof like this, this coating can restore it — as long as it passes Clean, Dry, Sound." Foam creates a new, smooth surface. Then silicone protects the foam.
ASK THE CREW
"Where have you seen a roof like this around here?"
(Original deck: slide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Now: how we do a silicone job, start to finish.
SAY IT LIKE THIS
These steps are the same for every system. Learn them once here; we'll just review them later.
(Original deck: slide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Six steps, every time. Skip one and the warranty can be at risk.
SAY IT LIKE THIS
This is the whole job on one slide. Look, test, check for water, fix, coat, inspect. The steps marked "if needed" depend on the roof and the warranty you're going for.
MAKE IT STICK
Think of it like a doctor visit: check-up, tests, treat the problem, then follow-up. You don't operate before the X-ray.
ASK THE CREW
"Which step do you think crews skip most often?" (Usually the adhesion test or the moisture survey.)
(Original deck: slide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Before anything else, put eyes on the roof — and invite Henry to come with you.
SAY IT LIKE THIS
Call your Henry rep. They walk the roof with you at no cost. All we need is roof access. Two sets of eyes catch more problems.
MAKE IT STICK
A free second opinion now beats a warranty claim later.
(Original deck: slide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Test a small patch first. If it doesn't stick, nothing else matters.
SAY IT LIKE THIS
We put down a test patch and pull it. We want the coating to rip apart before it peels off the roof. That's called cohesive failure — and in this test, "failure" is the good result.
MAKE IT STICK
Like testing tape on a wall before you hang a picture. You don't hang the whole picture and hope.
ASK THE CREW
"Ever had a coating peel on you? What was the roof?"
(Original deck: slide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Pass = the coating tears. Fail = it peels off clean.
SAY IT LIKE THIS
Left photos: the coating peeled off the roof clean. That's a fail. Right: the coating ripped inside itself and stayed stuck to the roof. That's a pass. It also has to hold at least 2 pounds per inch.
MAKE IT STICK
If the coating comes off clean like a sticker, it will come off in the wind, too.
ASK THE CREW
Hold up a sample or point at the photo: "Pass or fail?"
(Original deck: slide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25% rule: more than a quarter wet means it's not a restoration job.
SAY IT LIKE THIS
You can't see wet insulation from the top. The scan finds it. If more than 25% of the roof is wet, we don't restore it. If it's less, we cut out the wet spots, replace them, and keep going.
MAKE IT STICK
Coating over wet insulation is like putting a new bandage over an infected cut. It looks fine — until it doesn't.
ASK THE CREW
"On a 100-square roof, how many squares can be wet and still be a candidate?" (Up to 25.)
(Original deck: slide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 drone heat scan shows wet areas you can't see from the roof.
SAY IT LIKE THIS
Wet insulation holds heat longer, so it shows up brighter on the scan. Each bright spot is a place to check with a core cut.
ASK THE CREW
"Where would you cut a core on this roof?"
(Original deck: slide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Repair first, then restore. Coating does not fix a broken roof.
SAY IT LIKE THIS
Coating protects a roof. It doesn't fix one. Get the roof solid and dry first. Then coat it.
MAKE IT STICK
You don't paint over rotten wood. Same idea.
ASK THE CREW
"What's the worst thing you've seen someone coat over?"
(Original deck: slide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Next: the silicone products, and what each one is for.
SAY IT LIKE THIS
Don't memorize numbers. Learn what job each product does.
(Original deck: slide 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One coating, four sealers, one basecoat, three primers. Everything you need for a silicone job.
SAY IT LIKE THIS
Group them by job: the coating covers the field, sealers do the details, the basecoat stops stains, primers help it stick.
ASK THE CREW
"Which product would you grab for a pipe boot?"
(Original deck: slide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Why 988 beats other silicones.
SAY IT LIKE THIS
Three things to remember about 988: one coat, often no primer, and rain-safe in 15 minutes.
(Original deck: slide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988 saves you a trip: one coat, often no primer, no fabric.
SAY IT LIKE THIS
Most silicones need two coats. 988 goes on up to 50 mils in one pass. That's one less day on the roof. And if a storm pops up, it's rain-safe in 15 minutes.
MAKE IT STICK
50 mils is about the thickness of a credit card plus a bit. In one coat.
ASK THE CREW
"What does one coat instead of two save you on a 200-square roof?"
(Original deck: slide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No cheap filler. Safe for rainwater. Long shelf life.
SAY IT LIKE THIS
Chalk is cheap filler. It makes a coating cheaper — and weaker. 988 has none.
MAKE IT STICK
Half-chalk silicone is like half-water coffee. Cheaper, but you notice.
(Original deck: slide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 cleaner roof stays cooler and looks better to the owner.
SAY IT LIKE THIS
Silicone's weak spot is dirt. 988's new formula fights that. Point at the panels: same dirt, less staining on ours.
(Original deck: slide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Rain-safe in 15 minutes means a pop-up storm won't ruin your day.
SAY IT LIKE THIS
Left: 988 after rain — smooth. Right: the competitor — washed out. Ask: what does it cost you to redo a section after rain?
ASK THE CREW
"Ever lost a day's work to a surprise shower?"
(Original deck: slide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D7281 is the proof: the coating keeps water out, even when it sits.
SAY IT LIKE THIS
You don't need to remember the test number. Remember what it means: water can sit on this coating and not get through.
MAKE IT STICK
Like a rain jacket vs. a sweatshirt. Both cover you. Only one keeps you dry.
(Original deck: slide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products that do the detail work.
SAY IT LIKE THIS
Remember — 90% of leaks start at the details. These are your detail tools.
(Original deck: slide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923 is thick like butter. Use it on details.
SAY IT LIKE THIS
Spreads like butter, stays where you put it. Good for walls and flat details up to a quarter inch thick.
(Original deck: slide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957 has fibers and goes on twice as thick as 923.
SAY IT LIKE THIS
When the gap is bigger, reach for 957. Fibers let it go on up to half an inch.
ASK THE CREW
"Gap is 3/8 inch. 923 or 957?" (957.)
(Original deck: slide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928 pours and levels itself. Great for pitch pockets and screw heads.
SAY IT LIKE THIS
Fill the pocket, walk away. No tooling. On metal roofs, a dab on each screw — about 100 screws per tube.
(Original deck: slide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920 is the silicone caulk for small holes and cracks.
SAY IT LIKE THIS
Quick, clean fixes from a tube. About 100 half-inch holes per tube.
(Original deck: slide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Asphalt roof? 294 goes on first. Every time.
SAY IT LIKE THIS
Asphalt oils bleed up and stain a white topcoat brown. 294 locks them in.
MAKE IT STICK
Like stain-blocking primer over a water spot on a ceiling. Skip it and the stain comes right back through.
ASK THE CREW
"What happens if you skip 294 on a mod-bit roof?" (Brown stains in the white silicone.)
(Original deck: slide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TPO is slick. This primer gives the coating something to grab.
SAY IT LIKE THIS
TPO is smooth and slippery — coatings have a hard time holding on. This red primer fixes that. It's only for TPO.
MAKE IT STICK
It's red, so you can see where you've been — no missed spots.
(Original deck: slide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If the adhesion test says you need help, 941 is the help.
SAY IT LIKE THIS
Use 941 when the pull test comes back weak. Spray it thin — a gallon goes 400 to 600 square feet.
(Original deck: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Prep: where good jobs are won or lost.
SAY IT LIKE THIS
Most coating failures start with bad prep. This section is short, but it matters most.
(Original deck: slide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Coating sticks to whatever is on the roof. Make sure that's the roof — not dirt.
SAY IT LIKE THIS
Each roof type gets cleaned a little differently. Granulated and smooth asphalt: sweep, vacuum, blow it out. Single-ply and metal: pressure wash with plain water — no soap. Metal gets more pressure and a wire brush on rust. Then let it dry.
MAKE IT STICK
Paint on a dusty wall peels. Coating on a dirty roof peels. Most adhesion problems start right here.
ASK THE CREW
"Why water only — no soap?" (Soap leaves film behind, and coating won't stick to film.)
(Original deck: slide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Asphalt or old aluminum? Basecoat with 294 before the silicone.
SAY IT LIKE THIS
Any method works. Just make sure it's covered evenly, with no bare spots.
(Original deck: slide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pull test decides if you prime. Don't guess.
SAY IT LIKE THIS
No need to prime everything. Test first. If the test is weak, prime.
(Original deck: slide 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90% of roof leaks start at these spots. Seal them first.
SAY IT LIKE THIS
Most of the roof is wide-open field. Leaks almost never start there. They start where something cuts through or changes. Do these first, and do them right.
MAKE IT STICK
A boat doesn't sink through the middle of the hull. It leaks at the seams and the holes.
ASK THE CREW
"Name the last leak you chased. Where was it?" (It's almost always one of these.)
(Original deck: slide 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Match the product to the detail.
SAY IT LIKE THIS
Hand out this chart. It's a cheat sheet. Go row by row: roof type, the detail, the product to use.
ASK THE CREW
"Metal roof, a hundred screw heads. What's fastest?" (928 from a caulk gun.)
(Original deck: slide 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Putting the coating down.
SAY IT LIKE THIS
Two things decide a good application: the right amount and even coverage. The grid gets you both.
(Original deck: slide 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Mark the squares. Count the pails. Hit the rate.
SAY IT LIKE THIS
Chalk out 10 by 10 boxes. Each box is one square. Now you know exactly how many pails each area needs, and nobody runs thin. Rough roofs eat more coating, so plan for extra.
MAKE IT STICK
A 10' × 10' square is about the size of a small bedroom. Picture filling that room's floor with the right number of gallons.
ASK THE CREW
"Spec is 2 gallons a square. You have 10 squares. How many gallons?" (20.)
(Original deck: slide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Roll is one of the ways to put this coating down.
SAY IT LIKE THIS
Walk through the photo. Roll it on in even passes. Good for small roofs and edges. Pick the method that fits the roof size, the crew, and the weather.
ASK THE CREW
"Who here has used this method? Any tips for the new folks?"
(Original deck: slide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Squeegee and Back Roll is one of the ways to put this coating down.
SAY IT LIKE THIS
Walk through the photo. Pour, spread with a squeegee, then roll to even it out. Pick the method that fits the roof size, the crew, and the weather.
ASK THE CREW
"Who here has used this method? Any tips for the new folks?"
(Original deck: slide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Spray and Back Roll is one of the ways to put this coating down.
SAY IT LIKE THIS
Walk through the photo. Spray for speed, then roll to push it into the surface. Pick the method that fits the roof size, the crew, and the weather.
ASK THE CREW
"Who here has used this method? Any tips for the new folks?"
(Original deck: slide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Tank Spreader is one of the ways to put this coating down.
SAY IT LIKE THIS
Walk through the photo. Walk-behind spreader puts down an even coat on big, open areas. Pick the method that fits the roof size, the crew, and the weather.
ASK THE CREW
"Who here has used this method? Any tips for the new folks?"
(Original deck: slide 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What the silicone warranty covers.
SAY IT LIKE THIS
This is what the owner is really buying: years of peace of mind.
(Original deck: slide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Up to 20 years, and ponding water is covered on silicone.
SAY IT LIKE THIS
Most warranties say "no coverage where water ponds." Ours doesn't — on silicone. That's a big selling point.
MAKE IT STICK
Tell the owner: "Even where water sits, you're covered."
(Original deck: slide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application guide is the rulebook. When in doubt, check the guide.
SAY IT LIKE THIS
This is the reference sheet for the whole system: prep, primers, rates, and cure times. Print it. Keep it in the truck.
(Original deck: slide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Section 2 of 4: Acrylic.
SAY IT LIKE THIS
Acrylic is the budget-friendly workhorse. Great on sloped roofs and metal. The catch: it hates standing water.
(Original deck: slide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Acrylic is easy, affordable, and flexible.
SAY IT LIKE THIS
Easy to put down, easy to clean up, and you can coat over it later with almost anything.
(Original deck: slide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Acrylic needs warm, dry weather and a roof that drains.
SAY IT LIKE THIS
Water-based means rain is its enemy until it cures. Watch the forecast. And half of what's in the bucket evaporates — that's why it takes more coats.
MAKE IT STICK
Acrylic is like latex house paint. Great stuff — but you don't paint in the rain.
ASK THE CREW
"Forecast says rain in 18 hours. Do you spray acrylic today?" (No — it needs 24.)
(Original deck: slide 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Sloped, metal, curved, or dry climates: think acrylic.
SAY IT LIKE THIS
Notice this is the opposite of silicone. Where silicone runs off, acrylic holds.
(Original deck: slide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Standing water and acrylic don't mix.
SAY IT LIKE THIS
If water sits on the roof after a rain, acrylic will soften and fail. Pick silicone instead.
ASK THE CREW
"Flat roof in Florida with ponding. Acrylic or silicone?" (Silicone.)
(Original deck: slide 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Quick photo tour, same as silicone.
SAY IT LIKE THIS
Have the crew name each roof type before you click.
(Original deck: slide 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asphalt roof types.
SAY IT LIKE THIS
We covered this already. Don't re-teach it. Ask the crew to explain it to you, then fill in anything they miss.
ASK THE CREW
"Who can walk us through this one?" Let them talk first.
(Original deck: slide 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single-ply roof types.
SAY IT LIKE THIS
We covered this already. Don't re-teach it. Ask the crew to explain it to you, then fill in anything they miss.
ASK THE CREW
"Who can walk us through this one?" Let them talk first.
(Original deck: slide 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metal roofs.
SAY IT LIKE THIS
We covered this already. Don't re-teach it. Ask the crew to explain it to you, then fill in anything they miss.
ASK THE CREW
"Who can walk us through this one?" Let them talk first.
(Original deck: slide 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spray foam roofs.
SAY IT LIKE THIS
We covered this already. Don't re-teach it. Ask the crew to explain it to you, then fill in anything they miss.
ASK THE CREW
"Who can walk us through this one?" Let them talk first.
(Original deck: slide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Acrylic can't go over silicone.
SAY IT LIKE THIS
Remember: only silicone sticks to silicone. Acrylic goes over almost any other old coating.
ASK THE CREW
"Why can't acrylic go over silicone?"
(Original deck: slide 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tar and gravel roofs.
SAY IT LIKE THIS
We covered this already. Don't re-teach it. Ask the crew to explain it to you, then fill in anything they miss.
ASK THE CREW
"Who can walk us through this one?" Let them talk first.
(Original deck: slide 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tar and gravel with spray foam.
SAY IT LIKE THIS
We covered this already. Don't re-teach it. Ask the crew to explain it to you, then fill in anything they miss.
ASK THE CREW
"Who can walk us through this one?" Let them talk first.
(Original deck: slide 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restoration steps — same as silicone.
SAY IT LIKE THIS
We covered this already. Don't re-teach it. Ask the crew to explain it to you, then fill in anything they miss.
ASK THE CREW
"Who can walk us through this one?" Let them talk first.
(Original deck: slide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six steps of a warranted job.
SAY IT LIKE THIS
We covered this already. Don't re-teach it. Ask the crew to explain it to you, then fill in anything they miss.
ASK THE CREW
"Who can walk us through this one?" Let them talk first.
(Original deck: slide 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roof walk — free, with a Henry rep.
SAY IT LIKE THIS
We covered this already. Don't re-teach it. Ask the crew to explain it to you, then fill in anything they miss.
ASK THE CREW
"Who can walk us through this one?" Let them talk first.
(Original deck: slide 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adhesion test and what a good result looks like.
SAY IT LIKE THIS
We covered this already. Don't re-teach it. Ask the crew to explain it to you, then fill in anything they miss.
ASK THE CREW
"Who can walk us through this one?" Let them talk first.
(Original deck: slide 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how to run the pull test — cut, pull, measure.
SAY IT LIKE THIS
We covered this already. Don't re-teach it. Ask the crew to explain it to you, then fill in anything they miss.
ASK THE CREW
"Who can walk us through this one?" Let them talk first.
(Original deck: slide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moisture survey and the 25% rule.
SAY IT LIKE THIS
We covered this already. Don't re-teach it. Ask the crew to explain it to you, then fill in anything they miss.
ASK THE CREW
"Who can walk us through this one?" Let them talk first.
(Original deck: slide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drone heat scans.
SAY IT LIKE THIS
We covered this already. Don't re-teach it. Ask the crew to explain it to you, then fill in anything they miss.
ASK THE CREW
"Who can walk us through this one?" Let them talk first.
(Original deck: slide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repair first, then restore.
SAY IT LIKE THIS
We covered this already. Don't re-teach it. Ask the crew to explain it to you, then fill in anything they miss.
ASK THE CREW
"Who can walk us through this one?" Let them talk first.
(Original deck: slide 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acrylic products.
SAY IT LIKE THIS
Same idea as silicone: group them by job.
(Original deck: slide 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Basecoat + topcoat + sealants + fabric = a complete acrylic system.
SAY IT LIKE THIS
Pro-Grade 280 and 294 are still available for older specs that call for them.
(Original deck: slide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Four topcoats. Each fits a different job.
SAY IT LIKE THIS
Standard, fast, tough, or multi-purpose. That's the whole decision.
(Original deck: slide 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Standard → 510. Weather risk → 610. Tough job → 550. All-around → 400.
SAY IT LIKE THIS
All four meet codes, come in white, sand, light gray, and dark gray, in 5- and 55-gallon sizes.
ASK THE CREW
"Job near the coast with morning fog. Which topcoat?" (610 Fast-Set.)
(Original deck: slide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250 is the low-cost option — but it only gets a material warranty.
SAY IT LIKE THIS
Good for price-driven jobs. Be clear with the owner: no labor coverage with this one.
ASK THE CREW
"Owner wants a Gold Seal warranty. Can you use 250?" (No.)
(Original deck: slide 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What goes under the topcoat.
SAY IT LIKE THIS
A good basecoat stops stains and helps everything stick.
(Original deck: slide 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Standard → 505. Weather risk → 605.
SAY IT LIKE THIS
Same pattern as the topcoats: there's a standard and a fast-set version.
(Original deck: slide 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Prime-Tek TPO primer — TPO only.
SAY IT LIKE THIS
We covered this already. Don't re-teach it. Ask the crew to explain it to you, then fill in anything they miss.
ASK THE CREW
"Who can walk us through this one?" Let them talk first.
(Original deck: slide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197 is the black base layer. It always needs a topcoat.
SAY IT LIKE THIS
This is a cold asphalt coating. No kettle, no torch. It fills and levels the old asphalt. But the sun breaks it down, so it must be covered with acrylic or aluminum.
MAKE IT STICK
Think of 197 as primer on a car. It's important — but you'd never leave the car in primer.
(Original deck: slide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295 seals metal seams and screws — no fabric needed.
SAY IT LIKE THIS
Metal roofs move with heat and cold. This sealer moves with them. Use it on seams, fasteners, penetrations, and flashings. Seams must move less than an eighth of an inch.
ASK THE CREW
"How do you know if a seam moves more than 1/8 inch?"
(Original deck: slide 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289 is the white patch for acrylic jobs. Damp is OK. Wet is not.
SAY IT LIKE THIS
Use it to patch and seal details before the acrylic goes on. It stays white, so it won't stain your topcoat.
ASK THE CREW
"What's the difference between damp and wet?" (Damp: dark but no standing water. Wet: you can see water.)
(Original deck: slide 103)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Fabric adds strength where the roof moves or cracks.
SAY IT LIKE THIS
Lay fabric into wet coating at seams, drains, and repairs. Use 195 when you need it to wrap around shapes. Use 196 when you want it stiffer.
MAKE IT STICK
Fabric in coating works like rebar in concrete: it holds everything together.
(Original deck: slide 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project startup.
SAY IT LIKE THIS
We covered this already. Don't re-teach it. Ask the crew to explain it to you, then fill in anything they miss.
ASK THE CREW
"Who can walk us through this one?" Let them talk first.
(Original deck: slide 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cleaning by roof type — and the dry-roof rule.
SAY IT LIKE THIS
We covered this already. Don't re-teach it. Ask the crew to explain it to you, then fill in anything they miss.
ASK THE CREW
"Who can walk us through this one?" Let them talk first.
(Original deck: slide 106)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Asphalt gets 505 or 605. Metal gets 400 or 605.
SAY IT LIKE THIS
605 works on both, so it's handy when the weather is iffy.
(Original deck: slide 107)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six detail areas where 90% of leaks start.
SAY IT LIKE THIS
We covered this already. Don't re-teach it. Ask the crew to explain it to you, then fill in anything they miss.
ASK THE CREW
"Who can walk us through this one?" Let them talk first.
(Original deck: slide 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Acrylic details: 289 on asphalt and single-ply. 295 or 289 on metal.
SAY IT LIKE THIS
If you're putting fabric over the whole roof, you can skip the 289 on seams.
(Original deck: slide 109)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grid method.
SAY IT LIKE THIS
We covered this already. Don't re-teach it. Ask the crew to explain it to you, then fill in anything they miss.
ASK THE CREW
"Who can walk us through this one?" Let them talk first.
(Original deck: slide 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3 gal per square → one 5-gal pail covers 1.6 squares.
SAY IT LIKE THIS
Same grid method as before. Only the rate changes. Have the crew do the math out loud.
ASK THE CREW
"Spec is 3 gallons a square. You have 10 squares. How many gallons?" (30.)
(Original deck: slide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roll.
SAY IT LIKE THIS
We covered this already. Don't re-teach it. Ask the crew to explain it to you, then fill in anything they miss.
ASK THE CREW
"Who can walk us through this one?" Let them talk first.
(Original deck: slide 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squeegee and back roll.
SAY IT LIKE THIS
We covered this already. Don't re-teach it. Ask the crew to explain it to you, then fill in anything they miss.
ASK THE CREW
"Who can walk us through this one?" Let them talk first.
(Original deck: slide 113)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spray and back roll.
SAY IT LIKE THIS
We covered this already. Don't re-teach it. Ask the crew to explain it to you, then fill in anything they miss.
ASK THE CREW
"Who can walk us through this one?" Let them talk first.
(Original deck: slide 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tank spreader.
SAY IT LIKE THIS
We covered this already. Don't re-teach it. Ask the crew to explain it to you, then fill in anything they miss.
ASK THE CREW
"Who can walk us through this one?" Let them talk first.
(Original deck: slide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warranties.
SAY IT LIKE THIS
We covered this already. Don't re-teach it. Ask the crew to explain it to you, then fill in anything they miss.
ASK THE CREW
"Who can walk us through this one?" Let them talk first.
(Original deck: slide 116)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Acrylic systems can also earn up to 20 years.
SAY IT LIKE THIS
Same promise as silicone. The length depends on how much coating goes down — see the charts.
(Original deck: slide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119)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121)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Section 3 of 4: Aluminum.
SAY IT LIKE THIS
Aluminum is the most budget-friendly option and it loves metal roofs — even rusty ones.
(Original deck: slide 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Aluminum is cheap, simple, and handles rusty metal.
SAY IT LIKE THIS
Tight rust means rust that's stuck on — not flaking. Aluminum goes right over it.
ASK THE CREW
"How do you tell tight rust from loose rust?" (Scrape it. If it flakes off, it's loose — remove it.)
(Original deck: slide 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Mix it well, keep it off single-ply and foam, and keep water moving.
SAY IT LIKE THIS
That "brick" at the bottom of the bucket is the aluminum. If you don't mix it in, you're just putting down asphalt.
MAKE IT STICK
Unmixed aluminum is like a milkshake with all the ice cream stuck at the bottom.
(Original deck: slide 124)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Metal roofs on a budget: think aluminum.
SAY IT LIKE THIS
When the owner says "what's the cheapest way to make it last?" — this is often the answer.
(Original deck: slide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No single-ply. No foam. No ponding.
SAY IT LIKE THIS
Same water rule as acrylic. Plus: never on single-ply or foam.
(Original deck: slide 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Fewer roof types than silicone or acrylic.
SAY IT LIKE THIS
Notice what's missing: no single-ply, no foam.
(Original deck: slide 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asphalt roof types.
SAY IT LIKE THIS
We covered this already. Don't re-teach it. Ask the crew to explain it to you, then fill in anything they miss.
ASK THE CREW
"Who can walk us through this one?" Let them talk first.
(Original deck: slide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metal roofs.
SAY IT LIKE THIS
We covered this already. Don't re-teach it. Ask the crew to explain it to you, then fill in anything they miss.
ASK THE CREW
"Who can walk us through this one?" Let them talk first.
(Original deck: slide 129)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previously coated roofs.
SAY IT LIKE THIS
We covered this already. Don't re-teach it. Ask the crew to explain it to you, then fill in anything they miss.
ASK THE CREW
"Who can walk us through this one?" Let them talk first.
(Original deck: slide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tar and gravel roofs.
SAY IT LIKE THIS
We covered this already. Don't re-teach it. Ask the crew to explain it to you, then fill in anything they miss.
ASK THE CREW
"Who can walk us through this one?" Let them talk first.
(Original deck: slide 131)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restoration steps.
SAY IT LIKE THIS
We covered this already. Don't re-teach it. Ask the crew to explain it to you, then fill in anything they miss.
ASK THE CREW
"Who can walk us through this one?" Let them talk first.
(Original deck: slide 132)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six steps of a warranted job.
SAY IT LIKE THIS
We covered this already. Don't re-teach it. Ask the crew to explain it to you, then fill in anything they miss.
ASK THE CREW
"Who can walk us through this one?" Let them talk first.
(Original deck: slide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roof walk — free, with a Henry rep.
SAY IT LIKE THIS
We covered this already. Don't re-teach it. Ask the crew to explain it to you, then fill in anything they miss.
ASK THE CREW
"Who can walk us through this one?" Let them talk first.
(Original deck: slide 134)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Aluminum uses a tape test, not a pull test. Coating on the tape means it fails.
SAY IT LIKE THIS
This is the ASTM D3359 tape test. Cut an X, tape it, rip it back fast. Clean tape: pass. Coating on the tape: fail.
MAKE IT STICK
Like testing nail polish with tape — if it lifts, it wasn't bonded.
ASK THE CREW
Show a photo of a pulled tape: "Pass or fail?"
(Original deck: slide 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moisture survey and the 25% rule.
SAY IT LIKE THIS
We covered this already. Don't re-teach it. Ask the crew to explain it to you, then fill in anything they miss.
ASK THE CREW
"Who can walk us through this one?" Let them talk first.
(Original deck: slide 136)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drone heat scans.
SAY IT LIKE THIS
We covered this already. Don't re-teach it. Ask the crew to explain it to you, then fill in anything they miss.
ASK THE CREW
"Who can walk us through this one?" Let them talk first.
(Original deck: slide 137)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repair first, then restore.
SAY IT LIKE THIS
We covered this already. Don't re-teach it. Ask the crew to explain it to you, then fill in anything they miss.
ASK THE CREW
"Who can walk us through this one?" Let them talk first.
(Original deck: slide 138)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aluminum products.
SAY IT LIKE THIS
Three aluminum coatings — good, better, best — plus the base and repair products.
(Original deck: slide 139)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Three aluminum coatings, plus everything to prep and seal.
SAY IT LIKE THIS
Group by job again: coatings for the field, the rest for the details.
(Original deck: slide 140)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Three aluminums. Pick by budget and job.
SAY IT LIKE THIS
Walk left to right: best to good. Let the customer choose the level.
(Original deck: slide 141)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588 is the low-fume aluminum — use it where VOC rules are strict.
SAY IT LIKE THIS
Same shiny protection, but water-based. If the job is in an area with strict VOC rules, like Southern California, this is your aluminum.
(Original deck: slide 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586 is the fire-rated, one-coat aluminum.
SAY IT LIKE THIS
Solvent-based, so it goes on in one coat and carries a fire rating. Strong approvals list, including FM and Miami-Dade.
(Original deck: slide 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599 is our best aluminum. The rubber makes it tougher.
SAY IT LIKE THIS
Rubber in the mix lets it stretch with the roof and handle some ponding water. If the customer wants the best aluminum, this is it.
(Original deck: slide 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Less mixing, no primer, one coat.
SAY IT LIKE THIS
Alligatoring is the cracked pattern on old asphalt. Aluminum fills those cracks.
(Original deck: slide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accessory products.
SAY IT LIKE THIS
We covered this already. Don't re-teach it. Ask the crew to explain it to you, then fill in anything they miss.
ASK THE CREW
"Who can walk us through this one?" Let them talk first.
(Original deck: slide 146)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197 emulsion — and why it always gets a topcoat.
SAY IT LIKE THIS
We covered this already. Don't re-teach it. Ask the crew to explain it to you, then fill in anything they miss.
ASK THE CREW
"Who can walk us through this one?" Let them talk first.
(Original deck: slide 147)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167 works in almost any weather — even underwater.
SAY IT LIKE THIS
This is the top-of-the-line cement. Rain, cold, heat — it still goes on and still sticks. Good for permanent repairs, not just quick fixes.
ASK THE CREW
"When would you grab 167 instead of a cheaper cement?"
(Original deck: slide 148)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295 metal seam sealer.
SAY IT LIKE THIS
We covered this already. Don't re-teach it. Ask the crew to explain it to you, then fill in anything they miss.
ASK THE CREW
"Who can walk us through this one?" Let them talk first.
(Original deck: slide 149)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289 white roof sealant.
SAY IT LIKE THIS
We covered this already. Don't re-teach it. Ask the crew to explain it to you, then fill in anything they miss.
ASK THE CREW
"Who can walk us through this one?" Let them talk first.
(Original deck: slide 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195/196 polyester fabric.
SAY IT LIKE THIS
We covered this already. Don't re-teach it. Ask the crew to explain it to you, then fill in anything they miss.
ASK THE CREW
"Who can walk us through this one?" Let them talk first.
(Original deck: slide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183 is the tough repair fabric for asphalt work.
SAY IT LIKE THIS
Pair it with mastic or flashing cement to reinforce a repair. It won't rot, so the repair lasts.
(Original deck: slide 152)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project startup.
SAY IT LIKE THIS
We covered this already. Don't re-teach it. Ask the crew to explain it to you, then fill in anything they miss.
ASK THE CREW
"Who can walk us through this one?" Let them talk first.
(Original deck: slide 153)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cleaning by roof type — and the dry-roof rule.
SAY IT LIKE THIS
We covered this already. Don't re-teach it. Ask the crew to explain it to you, then fill in anything they miss.
ASK THE CREW
"Who can walk us through this one?" Let them talk first.
(Original deck: slide 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six detail areas where 90% of leaks start.
SAY IT LIKE THIS
We covered this already. Don't re-teach it. Ask the crew to explain it to you, then fill in anything they miss.
ASK THE CREW
"Who can walk us through this one?" Let them talk first.
(Original deck: slide 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Asphalt details: emulsion or cement with fabric. Metal: 295.
SAY IT LIKE THIS
Use 289 on metal only where 295 doesn't meet local VOC rules.
(Original deck: slide 156)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grid method.
SAY IT LIKE THIS
We covered this already. Don't re-teach it. Ask the crew to explain it to you, then fill in anything they miss.
ASK THE CREW
"Who can walk us through this one?" Let them talk first.
(Original deck: slide 157)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2.5 gal per square → one 5-gal pail covers 2 squares.
SAY IT LIKE THIS
Same grid method as before. Only the rate changes. Have the crew do the math out loud.
ASK THE CREW
"Spec is 2.5 gallons a square. You have 10 squares. How many gallons?" (25.)
(Original deck: slide 158)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roll or brush.
SAY IT LIKE THIS
We covered this already. Don't re-teach it. Ask the crew to explain it to you, then fill in anything they miss.
ASK THE CREW
"Who can walk us through this one?" Let them talk first.
(Original deck: slide 159)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spray and back roll.
SAY IT LIKE THIS
We covered this already. Don't re-teach it. Ask the crew to explain it to you, then fill in anything they miss.
ASK THE CREW
"Who can walk us through this one?" Let them talk first.
(Original deck: slide 160)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tank spreader.
SAY IT LIKE THIS
We covered this already. Don't re-teach it. Ask the crew to explain it to you, then fill in anything they miss.
ASK THE CREW
"Who can walk us through this one?" Let them talk first.
(Original deck: slide 161)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warranties.
SAY IT LIKE THIS
We covered this already. Don't re-teach it. Ask the crew to explain it to you, then fill in anything they miss.
ASK THE CREW
"Who can walk us through this one?" Let them talk first.
(Original deck: slide 162)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Aluminum systems can earn up to 12 years.
SAY IT LIKE THIS
Shorter than silicone or acrylic, but it's also the lowest-cost system.
(Original deck: slide 163)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164)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application guide is the rulebook. When in doubt, check the guide.
SAY IT LIKE THIS
This is the reference sheet for the whole system: prep, primers, rates, and cure times. Print it. Keep it in the truck.
(Original deck: slide 165)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Section 4 of 4: Emulsion.
SAY IT LIKE THIS
Emulsion is cold-applied asphalt. It builds up an old asphalt roof, then a reflective topcoat protects it.
(Original deck: slide 166)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Emulsion builds back a worn asphalt roof — cheaply and with no fumes.
SAY IT LIKE THIS
With fabric in it, emulsion becomes one solid layer — no seams.
(Original deck: slide 167)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Emulsion needs a topcoat and good weather.
SAY IT LIKE THIS
It's water-based, so treat it like acrylic: watch the weather.
ASK THE CREW
"What two topcoats can go over emulsion?" (Acrylic or aluminum.)
(Original deck: slide 168)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Old, cracked asphalt roofs: think emulsion.
SAY IT LIKE THIS
Emulsion fills the cracks and builds the roof back up before the topcoat.
(Original deck: slide 169)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No ponding, no single-ply, no foam.
SAY IT LIKE THIS
Same limits as aluminum.
(Original deck: slide 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How emulsion restoration works.
SAY IT LIKE THIS
Two layers, two jobs: emulsion builds, topcoat protects.
(Original deck: slide 171)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Emulsion is for asphalt roofs.
SAY IT LIKE THIS
Short list. Asphalt only.
(Original deck: slide 172)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asphalt roof types.
SAY IT LIKE THIS
We covered this already. Don't re-teach it. Ask the crew to explain it to you, then fill in anything they miss.
ASK THE CREW
"Who can walk us through this one?" Let them talk first.
(Original deck: slide 173)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previously coated roofs.
SAY IT LIKE THIS
We covered this already. Don't re-teach it. Ask the crew to explain it to you, then fill in anything they miss.
ASK THE CREW
"Who can walk us through this one?" Let them talk first.
(Original deck: slide 174)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Tar and gravel with emulsion is not approved yet.
SAY IT LIKE THIS
Call your Henry rep before quoting emulsion on a tar and gravel roof.
(Original deck: slide 175)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restoration steps.
SAY IT LIKE THIS
We covered this already. Don't re-teach it. Ask the crew to explain it to you, then fill in anything they miss.
ASK THE CREW
"Who can walk us through this one?" Let them talk first.
(Original deck: slide 176)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six steps of a warranted job.
SAY IT LIKE THIS
We covered this already. Don't re-teach it. Ask the crew to explain it to you, then fill in anything they miss.
ASK THE CREW
"Who can walk us through this one?" Let them talk first.
(Original deck: slide 177)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moisture survey and the 25% rule.
SAY IT LIKE THIS
We covered this already. Don't re-teach it. Ask the crew to explain it to you, then fill in anything they miss.
ASK THE CREW
"Who can walk us through this one?" Let them talk first.
(Original deck: slide 178)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drone heat scans.
SAY IT LIKE THIS
We covered this already. Don't re-teach it. Ask the crew to explain it to you, then fill in anything they miss.
ASK THE CREW
"Who can walk us through this one?" Let them talk first.
(Original deck: slide 179)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repair first, then restore.
SAY IT LIKE THIS
We covered this already. Don't re-teach it. Ask the crew to explain it to you, then fill in anything they miss.
ASK THE CREW
"Who can walk us through this one?" Let them talk first.
(Original deck: slide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emulsion products.
SAY IT LIKE THIS
Emulsion plus your choice of topcoat.
(Original deck: slide 181)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197 down first. Then pick an acrylic or aluminum topcoat.
SAY IT LIKE THIS
Pro-Grade 280 and 294 are still available for older specs.
(Original deck: slide 182)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197 emulsion — and why it always gets a topcoat.
SAY IT LIKE THIS
We covered this already. Don't re-teach it. Ask the crew to explain it to you, then fill in anything they miss.
ASK THE CREW
"Who can walk us through this one?" Let them talk first.
(Original deck: slide 183)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coatings that go over emulsion.
SAY IT LIKE THIS
You've seen most of these already. Quick review.
(Original deck: slide 184)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505 is the go-to basecoat. It stops asphalt stains.
SAY IT LIKE THIS
Put 505 down first, then your topcoat. It's beige so you can see it's on, and it keeps the black asphalt from bleeding into the white topcoat.
(Original deck: slide 185)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510 is the standard topcoat — but it won't stop asphalt stains on its own.
SAY IT LIKE THIS
Always put a stain-blocking basecoat under 510 on asphalt.
(Original deck: slide 186)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605 is the basecoat for iffy weather.
SAY IT LIKE THIS
Morning dew or a sprinkle won't wash it off.
(Original deck: slide 187)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610 is the topcoat for iffy weather.
SAY IT LIKE THIS
Pair 605 base with 610 top when the forecast is uncertain.
(Original deck: slide 188)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550 is the tough one. Use it where people walk.
SAY IT LIKE THIS
Around rooftop units and walkways, 550 holds up best.
(Original deck: slide 189)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400 does a bit of everything — including blocking stains.
SAY IT LIKE THIS
Handy when you want one product that works as both base and top.
(Original deck: slide 190)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588 water-based aluminum.
SAY IT LIKE THIS
We covered this already. Don't re-teach it. Ask the crew to explain it to you, then fill in anything they miss.
ASK THE CREW
"Who can walk us through this one?" Let them talk first.
(Original deck: slide 191)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586 fire-rated aluminum.
SAY IT LIKE THIS
We covered this already. Don't re-teach it. Ask the crew to explain it to you, then fill in anything they miss.
ASK THE CREW
"Who can walk us through this one?" Let them talk first.
(Original deck: slide 192)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599 rubberized aluminum.
SAY IT LIKE THIS
We covered this already. Don't re-teach it. Ask the crew to explain it to you, then fill in anything they miss.
ASK THE CREW
"Who can walk us through this one?" Let them talk first.
(Original deck: slide 193)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accessory products.
SAY IT LIKE THIS
We covered this already. Don't re-teach it. Ask the crew to explain it to you, then fill in anything they miss.
ASK THE CREW
"Who can walk us through this one?" Let them talk first.
(Original deck: slide 194)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195/196 polyester fabric.
SAY IT LIKE THIS
We covered this already. Don't re-teach it. Ask the crew to explain it to you, then fill in anything they miss.
ASK THE CREW
"Who can walk us through this one?" Let them talk first.
(Original deck: slide 195)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project startup.
SAY IT LIKE THIS
We covered this already. Don't re-teach it. Ask the crew to explain it to you, then fill in anything they miss.
ASK THE CREW
"Who can walk us through this one?" Let them talk first.
(Original deck: slide 196)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cleaning by roof type — and the dry-roof rule.
SAY IT LIKE THIS
We covered this already. Don't re-teach it. Ask the crew to explain it to you, then fill in anything they miss.
ASK THE CREW
"Who can walk us through this one?" Let them talk first.
(Original deck: slide 197)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six detail areas where 90% of leaks start.
SAY IT LIKE THIS
We covered this already. Don't re-teach it. Ask the crew to explain it to you, then fill in anything they miss.
ASK THE CREW
"Who can walk us through this one?" Let them talk first.
(Original deck: slide 198)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Emulsion details: emulsion plus fabric.
SAY IT LIKE THIS
Same fabric approach as the aluminum system.
(Original deck: slide 199)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the grid method.
SAY IT LIKE THIS
We covered this already. Don't re-teach it. Ask the crew to explain it to you, then fill in anything they miss.
ASK THE CREW
"Who can walk us through this one?" Let them talk first.
(Original deck: slide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system: 5 gal per square → one 5-gal pail covers 1 squares.
SAY IT LIKE THIS
Same grid method as before. Only the rate changes. Have the crew do the math out loud.
ASK THE CREW
"Spec is 5 gallons a square. You have 10 squares. How many gallons?" (50.)
(Original deck: slide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broom, squeegee, roll.
SAY IT LIKE THIS
We covered this already. Don't re-teach it. Ask the crew to explain it to you, then fill in anything they miss.
ASK THE CREW
"Who can walk us through this one?" Let them talk first.
(Original deck: slide 202)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spray and broom in.
SAY IT LIKE THIS
We covered this already. Don't re-teach it. Ask the crew to explain it to you, then fill in anything they miss.
ASK THE CREW
"Who can walk us through this one?" Let them talk first.
(Original deck: slide 203)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applying by topcoat.
SAY IT LIKE THIS
We covered this already. Don't re-teach it. Ask the crew to explain it to you, then fill in anything they miss.
ASK THE CREW
"Who can walk us through this one?" Let them talk first.
(Original deck: slide 204)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warranties.
SAY IT LIKE THIS
We covered this already. Don't re-teach it. Ask the crew to explain it to you, then fill in anything they miss.
ASK THE CREW
"Who can walk us through this one?" Let them talk first.
(Original deck: slide 205)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Acrylic topcoat: up to 15 years. Aluminum topcoat: up to 12.
SAY IT LIKE THIS
The topcoat you pick decides the warranty length.
(Original deck: slide 206)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application guide is the rulebook. When in doubt, check the guide.
SAY IT LIKE THIS
This is the reference sheet for the whole system: prep, primers, rates, and cure times. Print it. Keep it in the truck.
(Original deck: slide 208)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Longer warranty = more coating. The chart tells you exactly how much.
SAY IT LIKE THIS
Don't read this chart out loud. Show how to use it: find the roof type, find the warranty years, read across to the rate. Hand out the printed chart so the crew can follow along.
ASK THE CREW
"Find the rate for a 10-year warranty on a smooth asphalt roof." Let them find it.
(Original deck: slide 209)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application guide is the rulebook. When in doubt, check the guide.
SAY IT LIKE THIS
This is the reference sheet for the whole system: prep, primers, rates, and cure times. Print it. Keep it in the truck.
(Original deck: slide 210)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Repairs: fixing leaks fast.
SAY IT LIKE THIS
Not every job is a full restoration. Sometimes you just need to stop a leak. That's what these products do.
(Original deck: slide 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asphalt roof types.
SAY IT LIKE THIS
We covered this already. Don't re-teach it. Ask the crew to explain it to you, then fill in anything they miss.
ASK THE CREW
"Who can walk us through this one?" Let them talk first.
(Original deck: slide 212)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repair products.
SAY IT LIKE THIS
Quick tour of our mastics and cements.
(Original deck: slide 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Mastics and cements.
SAY IT LIKE THIS
These are picked by weather and by job: basic, rubberized, all-weather, emergency, or extreme.
(Original deck: slide 214)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whole family on one page.
SAY IT LIKE THIS
Use this page as a reference. We'll go through each one next.
(Original deck: slide 215)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151 is the basic, everyday cement for flat work.
SAY IT LIKE THIS
Pick the winter grade when it's cold so it stays workable.
(Original deck: slide 216)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155 stays put on walls, even on a hot roof.
SAY IT LIKE THIS
Use it on vertical flashings where plain cement would sag.
(Original deck: slide 217)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161 goes on wet or dry. Great for mod-bit flashings.
SAY IT LIKE THIS
When it's raining and you still need to set a flashing, this is the one.
(Original deck: slide 218)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163 is the emergency fix. Keep a tube in every truck.
SAY IT LIKE THIS
Customer calls during a storm? 163 goes on even underwater.
ASK THE CREW
"Who carries an emergency tube in the truck right now?"
(Original deck: slide 219)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167 Extreme flashing cement.
SAY IT LIKE THIS
We covered this already. Don't re-teach it. Ask the crew to explain it to you, then fill in anything they miss.
ASK THE CREW
"Who can walk us through this one?" Let them talk first.
(Original deck: slide 220)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Review: 183 yellow fiberglass fabric.
SAY IT LIKE THIS
We covered this already. Don't re-teach it. Ask the crew to explain it to you, then fill in anything they miss.
ASK THE CREW
"Who can walk us through this one?" Let them talk first.
(Original deck: slide 221)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When you're stopping leaks, you want 100%.
SAY IT LIKE THIS
Some brands claim the underwater test but barely pass. Ours stick 100%.
MAKE IT STICK
"When you're stopping leaks, you want 100%." Say it with them.
(Original deck: slide 222)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Same test, different results. Ours really sticks underwater.
SAY IT LIKE THIS
Play the video if you have it. Then let the crew handle the samples themselves.
ASK THE CREW
Hands-on: pass around a wet trowel sample. "Try to pull it off."
(Original deck: slide 223)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How to do a good mastic repair.
SAY IT LIKE THIS
Three layers: cement, fabric, cement.
(Original deck: slide 224)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First layer: mastic, then fabric.
SAY IT LIKE THIS
Press the fabric into wet mastic so there are no dry spots.
(Original deck: slide 225)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Second layer: mastic over the fabric.
SAY IT LIKE THIS
Cover the fabric completely. No fabric should show.
(Original deck: slide 226)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Finish: smooth and sealed.
SAY IT LIKE THIS
Work out air bubbles. A bubble is a future leak.
ASK THE CREW
Hands-on: have each person build a small sample in a tray.
(Original deck: slide 227)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How to get Henry's warranties behind your work.
SAY IT LIKE THIS
No authorization, no Material Plus or Gold Seal warranty. The training has to be done before the job starts.
(Original deck: slide 228)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Gold Seal is the only warranty that covers workmanship.
SAY IT LIKE THIS
Go from top to bottom. Each step up covers more. Gold Seal is the top: it even covers installation mistakes.
MAKE IT STICK
Material Plus = "the product is good." Gold Seal = "the product AND the install are good."
ASK THE CREW
"Which warranty covers a seam your crew missed?" (Gold Seal only.)
(Original deck: slide 229)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Apply, send documents, train, get approved — before the job starts.
SAY IT LIKE THIS
Have the application ready to fill out today. The person who can sign for the company has to sign it.
ASK THE CREW
"Who here can sign for your company?"
(Original deck: slide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Gold Seal asks for more proof — and gives more coverage.
SAY IT LIKE THIS
Most requirements are the same. Gold Seal adds the pre-job inspection and proof of your tests.
(Original deck: slide 231)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With Gold Seal, you're only on the hook for 2 years of workmanship. Henry covers the rest.
SAY IT LIKE THIS
This is the big one for contractors. Other brands make you cover about half the warranty term. With Gold Seal, it's only 2 years. Both warranties can be transferred.
MAKE IT STICK
On a 20-year Gold Seal, you cover 2 years. Henry covers 18.
ASK THE CREW
"On a 20-year warranty, how many years are you liable for?" (2.)
(Original deck: slide 232)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How the final inspection works.
SAY IT LIKE THIS
Every Gold Seal job gets a final inspection. Know the steps so there are no surprises.
(Original deck: slide 233)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Required for ALL Gold Seal warranties.
SAY IT LIKE THIS
The fastest way to get your warranty: send complete documents the first time, and fix the punch list fast.
ASK THE CREW
"What slows this process down most?" (Missing documents.)
(Original deck: slide 234)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The most common things inspectors flag.
SAY IT LIKE THIS
Do your own walk before the inspector comes. Look for exactly these.
(Original deck: slide 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Open seams are the #1 punch list item.
SAY IT LIKE THIS
Red marks show where the inspector found gaps. Check every seam yourself first.
ASK THE CREW
"How would you have caught this before the inspector?"
(Original deck: slide 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Even small seam gaps fail inspection.
SAY IT LIKE THIS
Some of these are tiny. Get down on your knees and look.
(Original deck: slide 237)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Seal every penetration all the way around.
SAY IT LIKE THIS
Remember: 90% of leaks start at details like these.
(Original deck: slide 238)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Flashing edges must be tight.
SAY IT LIKE THIS
Run your hand along every flashing edge. If it lifts, seal it.
(Original deck: slide 239)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Thin coating means the rate wasn't hit.
SAY IT LIKE THIS
This is why we use the grid. Measure, count pails, hit the rate.
ASK THE CREW
"How do you check thickness while you work?" (Wet mil gauge.)
(Original deck: slide 240)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Cover every fastener.
SAY IT LIKE THIS
One missed screw is one more leak.
(Original deck: slide 241)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Final check: fasteners, skylights, and drains.
SAY IT LIKE THIS
Make this your last walk before you call for inspection.
(Original deck: slide 242)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What it all looks like when it's done right.
SAY IT LIKE THIS
Let the photos do the talking.
(Original deck: slide 243)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Same roof. Years of new life.
SAY IT LIKE THIS
Pause on each one. Let it sink in.
(Original deck: slide 244)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Bright white roof = cooler building, lower bills.
SAY IT LIKE THIS
Point out how much cooler the white roof will run in summer.
(Original deck: slide 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Restored, not replaced.
SAY IT LIKE THIS
No tear-off. No dumpster. Same roof, new life.
(Original deck: slide 246)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is what owners pay for.
SAY IT LIKE THIS
Use photos like these when you sell. Take your own before and after shots on every job.
(Original deck: slide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Your best sales tool is your own before-and-after photos.
SAY IT LIKE THIS
Ask: "Who's taking before photos on your next job?"
(Original deck: slide 248)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Who to call.
SAY IT LIKE THIS
Every region has a Henry tech rep. Save their number in your phone today.
(Original deck: slide 249)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Find your area. Save that number now.
SAY IT LIKE THIS
Have everyone pull out their phone and save their rep's number before moving on.
(Original deck: slide 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Four things to remember.
SAY IT LIKE THIS
Read the four lines together, out loud. Then open it up for questions.
MAKE IT STICK
End where you started: "Clean, dry, sound." If they remember nothing else, they remember that.
ASK THE CREW
Go back to the flip chart from the start. "Did we answer everything you wanted to know?"
(Original deck: slide 251)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Henry Gold Seal Training</a:t>
            </a:r>
            <a:endParaRPr lang="en-US" sz="1000" dirty="0"/>
          </a:p>
        </p:txBody>
      </p:sp>
      <p:sp>
        <p:nvSpPr>
          <p:cNvPr id="3" name="Text 1"/>
          <p:cNvSpPr/>
          <p:nvPr>
            <p:ph idx="101" type="body" hasCustomPrompt="1"/>
          </p:nvPr>
        </p:nvSpPr>
        <p:spPr>
          <a:xfrm>
            <a:off x="548640" y="292608"/>
            <a:ext cx="11094415"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548640" y="566928"/>
            <a:ext cx="11094415" cy="731520"/>
          </a:xfrm>
          <a:prstGeom prst="rect">
            <a:avLst/>
          </a:prstGeom>
          <a:noFill/>
          <a:ln/>
        </p:spPr>
        <p:txBody>
          <a:bodyPr wrap="square" rtlCol="0"/>
          <a:lstStyle>
            <a:lvl1pPr algn="l" indent="0" marL="0">
              <a:buNone/>
              <a:defRPr lang="en-US" sz="3000" b="1" dirty="0">
                <a:solidFill>
                  <a:schemeClr val="tx2"/>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rtlCol="0"/>
          <a:lstStyle>
            <a:lvl1pPr indent="0" marL="0">
              <a:buNone/>
              <a:defRPr lang="en-US" sz="1400" b="1" spc="2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2.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2.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2.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2.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slideLayout" Target="../slideLayouts/slideLayout2.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2.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2.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slideLayout" Target="../slideLayouts/slideLayout2.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2.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2.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slideLayout" Target="../slideLayouts/slideLayout2.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slideLayout" Target="../slideLayouts/slideLayout2.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slideLayout" Target="../slideLayouts/slideLayout2.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slideLayout" Target="../slideLayouts/slideLayout2.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2.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2.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slideLayout" Target="../slideLayouts/slideLayout2.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jpg"/><Relationship Id="rId2" Type="http://schemas.openxmlformats.org/officeDocument/2006/relationships/slideLayout" Target="../slideLayouts/slideLayout2.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slideLayout" Target="../slideLayouts/slideLayout2.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jpg"/><Relationship Id="rId2" Type="http://schemas.openxmlformats.org/officeDocument/2006/relationships/slideLayout" Target="../slideLayouts/slideLayout2.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jpg"/><Relationship Id="rId2" Type="http://schemas.openxmlformats.org/officeDocument/2006/relationships/slideLayout" Target="../slideLayouts/slideLayout2.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jpg"/><Relationship Id="rId2" Type="http://schemas.openxmlformats.org/officeDocument/2006/relationships/slideLayout" Target="../slideLayouts/slideLayout2.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g"/><Relationship Id="rId2" Type="http://schemas.openxmlformats.org/officeDocument/2006/relationships/slideLayout" Target="../slideLayouts/slideLayout2.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g"/><Relationship Id="rId2" Type="http://schemas.openxmlformats.org/officeDocument/2006/relationships/slideLayout" Target="../slideLayouts/slideLayout2.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g"/><Relationship Id="rId2" Type="http://schemas.openxmlformats.org/officeDocument/2006/relationships/slideLayout" Target="../slideLayouts/slideLayout2.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jpg"/><Relationship Id="rId2" Type="http://schemas.openxmlformats.org/officeDocument/2006/relationships/slideLayout" Target="../slideLayouts/slideLayout2.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g"/><Relationship Id="rId2" Type="http://schemas.openxmlformats.org/officeDocument/2006/relationships/slideLayout" Target="../slideLayouts/slideLayout2.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jpg"/><Relationship Id="rId2" Type="http://schemas.openxmlformats.org/officeDocument/2006/relationships/slideLayout" Target="../slideLayouts/slideLayout2.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slideLayout" Target="../slideLayouts/slideLayout2.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jpg"/><Relationship Id="rId2" Type="http://schemas.openxmlformats.org/officeDocument/2006/relationships/slideLayout" Target="../slideLayouts/slideLayout2.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jpg"/><Relationship Id="rId2" Type="http://schemas.openxmlformats.org/officeDocument/2006/relationships/slideLayout" Target="../slideLayouts/slideLayout2.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jpg"/><Relationship Id="rId2" Type="http://schemas.openxmlformats.org/officeDocument/2006/relationships/slideLayout" Target="../slideLayouts/slideLayout2.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jpg"/><Relationship Id="rId2" Type="http://schemas.openxmlformats.org/officeDocument/2006/relationships/slideLayout" Target="../slideLayouts/slideLayout2.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jpg"/><Relationship Id="rId2" Type="http://schemas.openxmlformats.org/officeDocument/2006/relationships/slideLayout" Target="../slideLayouts/slideLayout2.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jpg"/><Relationship Id="rId2" Type="http://schemas.openxmlformats.org/officeDocument/2006/relationships/slideLayout" Target="../slideLayouts/slideLayout2.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jpg"/><Relationship Id="rId2" Type="http://schemas.openxmlformats.org/officeDocument/2006/relationships/slideLayout" Target="../slideLayouts/slideLayout2.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jpg"/><Relationship Id="rId2" Type="http://schemas.openxmlformats.org/officeDocument/2006/relationships/slideLayout" Target="../slideLayouts/slideLayout2.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jpg"/><Relationship Id="rId2" Type="http://schemas.openxmlformats.org/officeDocument/2006/relationships/slideLayout" Target="../slideLayouts/slideLayout2.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image" Target="../media/image-140-1.jpg"/><Relationship Id="rId2" Type="http://schemas.openxmlformats.org/officeDocument/2006/relationships/slideLayout" Target="../slideLayouts/slideLayout2.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jpg"/><Relationship Id="rId2" Type="http://schemas.openxmlformats.org/officeDocument/2006/relationships/slideLayout" Target="../slideLayouts/slideLayout2.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image" Target="../media/image-142-1.jpg"/><Relationship Id="rId2" Type="http://schemas.openxmlformats.org/officeDocument/2006/relationships/slideLayout" Target="../slideLayouts/slideLayout2.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jpg"/><Relationship Id="rId2" Type="http://schemas.openxmlformats.org/officeDocument/2006/relationships/slideLayout" Target="../slideLayouts/slideLayout2.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image" Target="../media/image-144-1.jpg"/><Relationship Id="rId2" Type="http://schemas.openxmlformats.org/officeDocument/2006/relationships/slideLayout" Target="../slideLayouts/slideLayout2.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jpg"/><Relationship Id="rId2" Type="http://schemas.openxmlformats.org/officeDocument/2006/relationships/slideLayout" Target="../slideLayouts/slideLayout2.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image" Target="../media/image-147-1.jpg"/><Relationship Id="rId2" Type="http://schemas.openxmlformats.org/officeDocument/2006/relationships/slideLayout" Target="../slideLayouts/slideLayout2.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jpg"/><Relationship Id="rId2" Type="http://schemas.openxmlformats.org/officeDocument/2006/relationships/slideLayout" Target="../slideLayouts/slideLayout2.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image" Target="../media/image-149-1.jpg"/><Relationship Id="rId2" Type="http://schemas.openxmlformats.org/officeDocument/2006/relationships/slideLayout" Target="../slideLayouts/slideLayout2.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jpg"/><Relationship Id="rId2" Type="http://schemas.openxmlformats.org/officeDocument/2006/relationships/slideLayout" Target="../slideLayouts/slideLayout2.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jpg"/><Relationship Id="rId2" Type="http://schemas.openxmlformats.org/officeDocument/2006/relationships/slideLayout" Target="../slideLayouts/slideLayout2.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image" Target="../media/image-152-1.jpg"/><Relationship Id="rId2" Type="http://schemas.openxmlformats.org/officeDocument/2006/relationships/slideLayout" Target="../slideLayouts/slideLayout2.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image" Target="../media/image-154-1.jpg"/><Relationship Id="rId2" Type="http://schemas.openxmlformats.org/officeDocument/2006/relationships/slideLayout" Target="../slideLayouts/slideLayout2.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jpg"/><Relationship Id="rId2" Type="http://schemas.openxmlformats.org/officeDocument/2006/relationships/slideLayout" Target="../slideLayouts/slideLayout2.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image" Target="../media/image-158-1.jpg"/><Relationship Id="rId2" Type="http://schemas.openxmlformats.org/officeDocument/2006/relationships/slideLayout" Target="../slideLayouts/slideLayout2.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jpg"/><Relationship Id="rId2" Type="http://schemas.openxmlformats.org/officeDocument/2006/relationships/slideLayout" Target="../slideLayouts/slideLayout2.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image" Target="../media/image-160-1.jpg"/><Relationship Id="rId2" Type="http://schemas.openxmlformats.org/officeDocument/2006/relationships/slideLayout" Target="../slideLayouts/slideLayout2.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jpg"/><Relationship Id="rId2" Type="http://schemas.openxmlformats.org/officeDocument/2006/relationships/slideLayout" Target="../slideLayouts/slideLayout2.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63-1.jpg"/><Relationship Id="rId2" Type="http://schemas.openxmlformats.org/officeDocument/2006/relationships/slideLayout" Target="../slideLayouts/slideLayout2.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image" Target="../media/image-164-1.jpg"/><Relationship Id="rId2" Type="http://schemas.openxmlformats.org/officeDocument/2006/relationships/slideLayout" Target="../slideLayouts/slideLayout2.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image-165-1.jpg"/><Relationship Id="rId2" Type="http://schemas.openxmlformats.org/officeDocument/2006/relationships/slideLayout" Target="../slideLayouts/slideLayout2.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jpg"/><Relationship Id="rId2" Type="http://schemas.openxmlformats.org/officeDocument/2006/relationships/slideLayout" Target="../slideLayouts/slideLayout2.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168-1.jpg"/><Relationship Id="rId2" Type="http://schemas.openxmlformats.org/officeDocument/2006/relationships/slideLayout" Target="../slideLayouts/slideLayout2.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jpg"/><Relationship Id="rId2" Type="http://schemas.openxmlformats.org/officeDocument/2006/relationships/slideLayout" Target="../slideLayouts/slideLayout2.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jpg"/><Relationship Id="rId2" Type="http://schemas.openxmlformats.org/officeDocument/2006/relationships/slideLayout" Target="../slideLayouts/slideLayout2.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image-173-1.jpg"/><Relationship Id="rId2" Type="http://schemas.openxmlformats.org/officeDocument/2006/relationships/slideLayout" Target="../slideLayouts/slideLayout2.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image" Target="../media/image-174-1.jpg"/><Relationship Id="rId2" Type="http://schemas.openxmlformats.org/officeDocument/2006/relationships/slideLayout" Target="../slideLayouts/slideLayout2.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image-175-1.jpg"/><Relationship Id="rId2" Type="http://schemas.openxmlformats.org/officeDocument/2006/relationships/slideLayout" Target="../slideLayouts/slideLayout2.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image" Target="../media/image-178-1.jpg"/><Relationship Id="rId2" Type="http://schemas.openxmlformats.org/officeDocument/2006/relationships/slideLayout" Target="../slideLayouts/slideLayout2.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image-179-1.jpg"/><Relationship Id="rId2" Type="http://schemas.openxmlformats.org/officeDocument/2006/relationships/slideLayout" Target="../slideLayouts/slideLayout2.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image" Target="../media/image-180-1.jpg"/><Relationship Id="rId2" Type="http://schemas.openxmlformats.org/officeDocument/2006/relationships/slideLayout" Target="../slideLayouts/slideLayout2.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image-182-1.jpg"/><Relationship Id="rId2" Type="http://schemas.openxmlformats.org/officeDocument/2006/relationships/slideLayout" Target="../slideLayouts/slideLayout2.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image-183-1.jpg"/><Relationship Id="rId2" Type="http://schemas.openxmlformats.org/officeDocument/2006/relationships/slideLayout" Target="../slideLayouts/slideLayout2.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image-185-1.jpg"/><Relationship Id="rId2" Type="http://schemas.openxmlformats.org/officeDocument/2006/relationships/slideLayout" Target="../slideLayouts/slideLayout2.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image" Target="../media/image-186-1.jpg"/><Relationship Id="rId2" Type="http://schemas.openxmlformats.org/officeDocument/2006/relationships/slideLayout" Target="../slideLayouts/slideLayout2.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image-187-1.jpg"/><Relationship Id="rId2" Type="http://schemas.openxmlformats.org/officeDocument/2006/relationships/slideLayout" Target="../slideLayouts/slideLayout2.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image-188-1.jpg"/><Relationship Id="rId2" Type="http://schemas.openxmlformats.org/officeDocument/2006/relationships/slideLayout" Target="../slideLayouts/slideLayout2.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image-189-1.jpg"/><Relationship Id="rId2" Type="http://schemas.openxmlformats.org/officeDocument/2006/relationships/slideLayout" Target="../slideLayouts/slideLayout2.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image" Target="../media/image-190-1.jpg"/><Relationship Id="rId2" Type="http://schemas.openxmlformats.org/officeDocument/2006/relationships/slideLayout" Target="../slideLayouts/slideLayout2.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91-1.jpg"/><Relationship Id="rId2" Type="http://schemas.openxmlformats.org/officeDocument/2006/relationships/slideLayout" Target="../slideLayouts/slideLayout2.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image-192-1.jpg"/><Relationship Id="rId2" Type="http://schemas.openxmlformats.org/officeDocument/2006/relationships/slideLayout" Target="../slideLayouts/slideLayout2.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image-193-1.jpg"/><Relationship Id="rId2" Type="http://schemas.openxmlformats.org/officeDocument/2006/relationships/slideLayout" Target="../slideLayouts/slideLayout2.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image-195-1.jpg"/><Relationship Id="rId2" Type="http://schemas.openxmlformats.org/officeDocument/2006/relationships/slideLayout" Target="../slideLayouts/slideLayout2.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image-197-1.jpg"/><Relationship Id="rId2" Type="http://schemas.openxmlformats.org/officeDocument/2006/relationships/slideLayout" Target="../slideLayouts/slideLayout2.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image-198-1.jpg"/><Relationship Id="rId2" Type="http://schemas.openxmlformats.org/officeDocument/2006/relationships/slideLayout" Target="../slideLayouts/slideLayout2.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jpg"/><Relationship Id="rId2" Type="http://schemas.openxmlformats.org/officeDocument/2006/relationships/slideLayout" Target="../slideLayouts/slideLayout2.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image-202-1.jpg"/><Relationship Id="rId2" Type="http://schemas.openxmlformats.org/officeDocument/2006/relationships/slideLayout" Target="../slideLayouts/slideLayout2.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203-1.jpg"/><Relationship Id="rId2" Type="http://schemas.openxmlformats.org/officeDocument/2006/relationships/slideLayout" Target="../slideLayouts/slideLayout2.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image" Target="../media/image-204-1.jpg"/><Relationship Id="rId2" Type="http://schemas.openxmlformats.org/officeDocument/2006/relationships/slideLayout" Target="../slideLayouts/slideLayout2.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image" Target="../media/image-206-1.jpg"/><Relationship Id="rId2" Type="http://schemas.openxmlformats.org/officeDocument/2006/relationships/slideLayout" Target="../slideLayouts/slideLayout2.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image-207-1.jpg"/><Relationship Id="rId2" Type="http://schemas.openxmlformats.org/officeDocument/2006/relationships/slideLayout" Target="../slideLayouts/slideLayout2.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image" Target="../media/image-208-1.jpg"/><Relationship Id="rId2" Type="http://schemas.openxmlformats.org/officeDocument/2006/relationships/slideLayout" Target="../slideLayouts/slideLayout2.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image-209-1.jpg"/><Relationship Id="rId2" Type="http://schemas.openxmlformats.org/officeDocument/2006/relationships/slideLayout" Target="../slideLayouts/slideLayout2.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image-210-1.jpg"/><Relationship Id="rId2" Type="http://schemas.openxmlformats.org/officeDocument/2006/relationships/slideLayout" Target="../slideLayouts/slideLayout2.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image-212-1.jpg"/><Relationship Id="rId2" Type="http://schemas.openxmlformats.org/officeDocument/2006/relationships/slideLayout" Target="../slideLayouts/slideLayout2.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image" Target="../media/image-215-1.jpg"/><Relationship Id="rId2" Type="http://schemas.openxmlformats.org/officeDocument/2006/relationships/slideLayout" Target="../slideLayouts/slideLayout2.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image" Target="../media/image-216-1.jpg"/><Relationship Id="rId2" Type="http://schemas.openxmlformats.org/officeDocument/2006/relationships/slideLayout" Target="../slideLayouts/slideLayout2.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image" Target="../media/image-217-1.jpg"/><Relationship Id="rId2" Type="http://schemas.openxmlformats.org/officeDocument/2006/relationships/slideLayout" Target="../slideLayouts/slideLayout2.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jpg"/><Relationship Id="rId2" Type="http://schemas.openxmlformats.org/officeDocument/2006/relationships/slideLayout" Target="../slideLayouts/slideLayout2.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image" Target="../media/image-219-1.jpg"/><Relationship Id="rId2" Type="http://schemas.openxmlformats.org/officeDocument/2006/relationships/slideLayout" Target="../slideLayouts/slideLayout2.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image" Target="../media/image-220-1.jpg"/><Relationship Id="rId2" Type="http://schemas.openxmlformats.org/officeDocument/2006/relationships/slideLayout" Target="../slideLayouts/slideLayout2.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image" Target="../media/image-221-1.jpg"/><Relationship Id="rId2" Type="http://schemas.openxmlformats.org/officeDocument/2006/relationships/slideLayout" Target="../slideLayouts/slideLayout2.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image" Target="../media/image-222-1.jpg"/><Relationship Id="rId2" Type="http://schemas.openxmlformats.org/officeDocument/2006/relationships/slideLayout" Target="../slideLayouts/slideLayout2.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image" Target="../media/image-223-1.jpg"/><Relationship Id="rId2" Type="http://schemas.openxmlformats.org/officeDocument/2006/relationships/slideLayout" Target="../slideLayouts/slideLayout2.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image" Target="../media/image-225-1.jpg"/><Relationship Id="rId2" Type="http://schemas.openxmlformats.org/officeDocument/2006/relationships/slideLayout" Target="../slideLayouts/slideLayout2.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image" Target="../media/image-226-1.jpg"/><Relationship Id="rId2" Type="http://schemas.openxmlformats.org/officeDocument/2006/relationships/slideLayout" Target="../slideLayouts/slideLayout2.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image" Target="../media/image-227-1.jpg"/><Relationship Id="rId2" Type="http://schemas.openxmlformats.org/officeDocument/2006/relationships/slideLayout" Target="../slideLayouts/slideLayout2.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image" Target="../media/image-236-1.jpg"/><Relationship Id="rId2" Type="http://schemas.openxmlformats.org/officeDocument/2006/relationships/slideLayout" Target="../slideLayouts/slideLayout2.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image" Target="../media/image-237-1.jpg"/><Relationship Id="rId2" Type="http://schemas.openxmlformats.org/officeDocument/2006/relationships/slideLayout" Target="../slideLayouts/slideLayout2.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image" Target="../media/image-238-1.jpg"/><Relationship Id="rId2" Type="http://schemas.openxmlformats.org/officeDocument/2006/relationships/slideLayout" Target="../slideLayouts/slideLayout2.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image-239-1.jpg"/><Relationship Id="rId2" Type="http://schemas.openxmlformats.org/officeDocument/2006/relationships/slideLayout" Target="../slideLayouts/slideLayout2.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image" Target="../media/image-240-1.jpg"/><Relationship Id="rId2" Type="http://schemas.openxmlformats.org/officeDocument/2006/relationships/slideLayout" Target="../slideLayouts/slideLayout2.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image" Target="../media/image-241-1.jpg"/><Relationship Id="rId2" Type="http://schemas.openxmlformats.org/officeDocument/2006/relationships/slideLayout" Target="../slideLayouts/slideLayout2.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image" Target="../media/image-242-1.jpg"/><Relationship Id="rId2" Type="http://schemas.openxmlformats.org/officeDocument/2006/relationships/slideLayout" Target="../slideLayouts/slideLayout2.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image" Target="../media/image-244-1.jpg"/><Relationship Id="rId2" Type="http://schemas.openxmlformats.org/officeDocument/2006/relationships/slideLayout" Target="../slideLayouts/slideLayout2.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image" Target="../media/image-245-1.jpg"/><Relationship Id="rId2" Type="http://schemas.openxmlformats.org/officeDocument/2006/relationships/slideLayout" Target="../slideLayouts/slideLayout2.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image" Target="../media/image-246-1.jpg"/><Relationship Id="rId2" Type="http://schemas.openxmlformats.org/officeDocument/2006/relationships/slideLayout" Target="../slideLayouts/slideLayout2.xml"/><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image" Target="../media/image-247-1.jpg"/><Relationship Id="rId2" Type="http://schemas.openxmlformats.org/officeDocument/2006/relationships/slideLayout" Target="../slideLayouts/slideLayout2.xml"/><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image" Target="../media/image-248-1.jpg"/><Relationship Id="rId2" Type="http://schemas.openxmlformats.org/officeDocument/2006/relationships/slideLayout" Target="../slideLayouts/slideLayout2.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GOLD SEAL TRAINING</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Henry Roof Restoration &amp; Repair</a:t>
            </a:r>
            <a:endParaRPr lang="en-US" sz="4000" dirty="0"/>
          </a:p>
        </p:txBody>
      </p:sp>
      <p:sp>
        <p:nvSpPr>
          <p:cNvPr id="4" name="Subtitle"/>
          <p:cNvSpPr txBox="1"/>
          <p:nvPr/>
        </p:nvSpPr>
        <p:spPr>
          <a:xfrm>
            <a:off x="731520" y="3383280"/>
            <a:ext cx="5669280" cy="1097280"/>
          </a:xfrm>
          <a:prstGeom prst="rect">
            <a:avLst/>
          </a:prstGeom>
          <a:noFill/>
          <a:ln/>
        </p:spPr>
        <p:txBody>
          <a:bodyPr wrap="square" lIns="0" tIns="0" rIns="0" bIns="0" rtlCol="0" anchor="t"/>
          <a:lstStyle/>
          <a:p>
            <a:pPr indent="0" marL="0">
              <a:buNone/>
            </a:pPr>
            <a:r>
              <a:rPr lang="en-US" sz="2400" dirty="0">
                <a:solidFill>
                  <a:schemeClr val="accent6"/>
                </a:solidFill>
              </a:rPr>
              <a:t>Save the roof. Don't replace it.</a:t>
            </a:r>
            <a:endParaRPr lang="en-US" sz="2400" dirty="0"/>
          </a:p>
        </p:txBody>
      </p:sp>
      <p:pic>
        <p:nvPicPr>
          <p:cNvPr id="5" name="Before and after roof photo" descr="Before and after roof photo">    </p:cNvPr>
          <p:cNvPicPr>
            <a:picLocks noChangeAspect="1"/>
          </p:cNvPicPr>
          <p:nvPr/>
        </p:nvPicPr>
        <p:blipFill>
          <a:blip r:embed="rId1"/>
          <a:stretch>
            <a:fillRect/>
          </a:stretch>
        </p:blipFill>
        <p:spPr>
          <a:xfrm>
            <a:off x="6675120" y="3865900"/>
            <a:ext cx="4937760" cy="141219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What We'll Cover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Who Henry is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How roofs age</a:t>
            </a:r>
            <a:r>
              <a:rPr lang="en-US" sz="2400" dirty="0">
                <a:solidFill>
                  <a:schemeClr val="tx1"/>
                </a:solidFill>
                <a:latin typeface="Calibri" pitchFamily="34" charset="0"/>
                <a:ea typeface="Calibri" pitchFamily="34" charset="-122"/>
                <a:cs typeface="Calibri" pitchFamily="34" charset="-120"/>
              </a:rPr>
              <a:t> — and your options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Is this roof worth saving?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The restoration steps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Our four coating systems and repair products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Warranties, inspections, and support</a:t>
            </a:r>
            <a:endParaRPr lang="en-US" sz="2400" dirty="0"/>
          </a:p>
        </p:txBody>
      </p:sp>
      <p:pic>
        <p:nvPicPr>
          <p:cNvPr id="5" name="Photo" descr="Photo">    </p:cNvPr>
          <p:cNvPicPr>
            <a:picLocks noChangeAspect="1"/>
          </p:cNvPicPr>
          <p:nvPr/>
        </p:nvPicPr>
        <p:blipFill>
          <a:blip r:embed="rId1"/>
          <a:stretch>
            <a:fillRect/>
          </a:stretch>
        </p:blipFill>
        <p:spPr>
          <a:xfrm>
            <a:off x="6217920" y="3226280"/>
            <a:ext cx="5425135" cy="118267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Who Is Henry? — For Building Owners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90+ years helping commercial roofs last longer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Coatings that add years to an old roof</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Cooler roofs</a:t>
            </a:r>
            <a:r>
              <a:rPr lang="en-US" sz="2400" dirty="0">
                <a:solidFill>
                  <a:schemeClr val="tx1"/>
                </a:solidFill>
                <a:latin typeface="Calibri" pitchFamily="34" charset="0"/>
                <a:ea typeface="Calibri" pitchFamily="34" charset="-122"/>
                <a:cs typeface="Calibri" pitchFamily="34" charset="-120"/>
              </a:rPr>
              <a:t> — lower power bills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Check-up plans that catch problems early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Less old roofing in the landfill</a:t>
            </a:r>
            <a:endParaRPr lang="en-US" sz="2400" dirty="0"/>
          </a:p>
        </p:txBody>
      </p:sp>
      <p:pic>
        <p:nvPicPr>
          <p:cNvPr id="5" name="Photo" descr="Photo">    </p:cNvPr>
          <p:cNvPicPr>
            <a:picLocks noChangeAspect="1"/>
          </p:cNvPicPr>
          <p:nvPr/>
        </p:nvPicPr>
        <p:blipFill>
          <a:blip r:embed="rId1"/>
          <a:stretch>
            <a:fillRect/>
          </a:stretch>
        </p:blipFill>
        <p:spPr>
          <a:xfrm>
            <a:off x="6217920" y="2940556"/>
            <a:ext cx="5425135" cy="1754127"/>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Who Is Henry? — For You, the Contractor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One full system</a:t>
            </a:r>
            <a:r>
              <a:rPr lang="en-US" sz="2400" dirty="0">
                <a:solidFill>
                  <a:schemeClr val="tx1"/>
                </a:solidFill>
                <a:latin typeface="Calibri" pitchFamily="34" charset="0"/>
                <a:ea typeface="Calibri" pitchFamily="34" charset="-122"/>
                <a:cs typeface="Calibri" pitchFamily="34" charset="-120"/>
              </a:rPr>
              <a:t> — less time on the roof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 brand your customers trust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We send you leads</a:t>
            </a:r>
            <a:r>
              <a:rPr lang="en-US" sz="2400" dirty="0">
                <a:solidFill>
                  <a:schemeClr val="tx1"/>
                </a:solidFill>
                <a:latin typeface="Calibri" pitchFamily="34" charset="0"/>
                <a:ea typeface="Calibri" pitchFamily="34" charset="-122"/>
                <a:cs typeface="Calibri" pitchFamily="34" charset="-120"/>
              </a:rPr>
              <a:t> — more time working, less time hunting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Training that makes your crew faster</a:t>
            </a:r>
            <a:endParaRPr lang="en-US" sz="2400" dirty="0"/>
          </a:p>
        </p:txBody>
      </p:sp>
      <p:pic>
        <p:nvPicPr>
          <p:cNvPr id="5" name="Photo" descr="Photo">    </p:cNvPr>
          <p:cNvPicPr>
            <a:picLocks noChangeAspect="1"/>
          </p:cNvPicPr>
          <p:nvPr/>
        </p:nvPicPr>
        <p:blipFill>
          <a:blip r:embed="rId1"/>
          <a:stretch>
            <a:fillRect/>
          </a:stretch>
        </p:blipFill>
        <p:spPr>
          <a:xfrm>
            <a:off x="6217920" y="2940556"/>
            <a:ext cx="5425135" cy="1754127"/>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We Cover the Whole Building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Walls</a:t>
            </a:r>
            <a:r>
              <a:rPr lang="en-US" sz="2400" dirty="0">
                <a:solidFill>
                  <a:schemeClr val="tx1"/>
                </a:solidFill>
                <a:latin typeface="Calibri" pitchFamily="34" charset="0"/>
                <a:ea typeface="Calibri" pitchFamily="34" charset="-122"/>
                <a:cs typeface="Calibri" pitchFamily="34" charset="-120"/>
              </a:rPr>
              <a:t> — air barriers, flashings, sealants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Below ground</a:t>
            </a:r>
            <a:r>
              <a:rPr lang="en-US" sz="2400" dirty="0">
                <a:solidFill>
                  <a:schemeClr val="tx1"/>
                </a:solidFill>
                <a:latin typeface="Calibri" pitchFamily="34" charset="0"/>
                <a:ea typeface="Calibri" pitchFamily="34" charset="-122"/>
                <a:cs typeface="Calibri" pitchFamily="34" charset="-120"/>
              </a:rPr>
              <a:t> — waterproofing</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Roof</a:t>
            </a:r>
            <a:r>
              <a:rPr lang="en-US" sz="2400" dirty="0">
                <a:solidFill>
                  <a:schemeClr val="tx1"/>
                </a:solidFill>
                <a:latin typeface="Calibri" pitchFamily="34" charset="0"/>
                <a:ea typeface="Calibri" pitchFamily="34" charset="-122"/>
                <a:cs typeface="Calibri" pitchFamily="34" charset="-120"/>
              </a:rPr>
              <a:t> — coatings, underlayments, flashings, mod-bit, green roofs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Other</a:t>
            </a:r>
            <a:r>
              <a:rPr lang="en-US" sz="2400" dirty="0">
                <a:solidFill>
                  <a:schemeClr val="tx1"/>
                </a:solidFill>
                <a:latin typeface="Calibri" pitchFamily="34" charset="0"/>
                <a:ea typeface="Calibri" pitchFamily="34" charset="-122"/>
                <a:cs typeface="Calibri" pitchFamily="34" charset="-120"/>
              </a:rPr>
              <a:t> — paving care and specialty products</a:t>
            </a:r>
            <a:endParaRPr lang="en-US" sz="2400" dirty="0"/>
          </a:p>
        </p:txBody>
      </p:sp>
      <p:pic>
        <p:nvPicPr>
          <p:cNvPr id="5" name="Photo" descr="Photo">    </p:cNvPr>
          <p:cNvPicPr>
            <a:picLocks noChangeAspect="1"/>
          </p:cNvPicPr>
          <p:nvPr/>
        </p:nvPicPr>
        <p:blipFill>
          <a:blip r:embed="rId1"/>
          <a:stretch>
            <a:fillRect/>
          </a:stretch>
        </p:blipFill>
        <p:spPr>
          <a:xfrm>
            <a:off x="6217920" y="2575264"/>
            <a:ext cx="5425135" cy="248471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Our Story in Five Dates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1933</a:t>
            </a:r>
            <a:r>
              <a:rPr lang="en-US" sz="2400" dirty="0">
                <a:solidFill>
                  <a:schemeClr val="tx1"/>
                </a:solidFill>
                <a:latin typeface="Calibri" pitchFamily="34" charset="0"/>
                <a:ea typeface="Calibri" pitchFamily="34" charset="-122"/>
                <a:cs typeface="Calibri" pitchFamily="34" charset="-120"/>
              </a:rPr>
              <a:t> — Henry starts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1981</a:t>
            </a:r>
            <a:r>
              <a:rPr lang="en-US" sz="2400" dirty="0">
                <a:solidFill>
                  <a:schemeClr val="tx1"/>
                </a:solidFill>
                <a:latin typeface="Calibri" pitchFamily="34" charset="0"/>
                <a:ea typeface="Calibri" pitchFamily="34" charset="-122"/>
                <a:cs typeface="Calibri" pitchFamily="34" charset="-120"/>
              </a:rPr>
              <a:t> — Henry incorporates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2020</a:t>
            </a:r>
            <a:r>
              <a:rPr lang="en-US" sz="2400" dirty="0">
                <a:solidFill>
                  <a:schemeClr val="tx1"/>
                </a:solidFill>
                <a:latin typeface="Calibri" pitchFamily="34" charset="0"/>
                <a:ea typeface="Calibri" pitchFamily="34" charset="-122"/>
                <a:cs typeface="Calibri" pitchFamily="34" charset="-120"/>
              </a:rPr>
              <a:t> — Henry buys National Coatings, known for strong acrylics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2021</a:t>
            </a:r>
            <a:r>
              <a:rPr lang="en-US" sz="2400" dirty="0">
                <a:solidFill>
                  <a:schemeClr val="tx1"/>
                </a:solidFill>
                <a:latin typeface="Calibri" pitchFamily="34" charset="0"/>
                <a:ea typeface="Calibri" pitchFamily="34" charset="-122"/>
                <a:cs typeface="Calibri" pitchFamily="34" charset="-120"/>
              </a:rPr>
              <a:t> — Carlisle buys Henry. One company now covers the building from below ground to the roof.</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2023</a:t>
            </a:r>
            <a:r>
              <a:rPr lang="en-US" sz="2400" dirty="0">
                <a:solidFill>
                  <a:schemeClr val="tx1"/>
                </a:solidFill>
                <a:latin typeface="Calibri" pitchFamily="34" charset="0"/>
                <a:ea typeface="Calibri" pitchFamily="34" charset="-122"/>
                <a:cs typeface="Calibri" pitchFamily="34" charset="-120"/>
              </a:rPr>
              <a:t> — Henry, Carlisle coatings, and National Coatings join as one: Henry, a Carlisle Company</a:t>
            </a:r>
            <a:endParaRPr lang="en-US" sz="2400" dirty="0"/>
          </a:p>
        </p:txBody>
      </p:sp>
      <p:pic>
        <p:nvPicPr>
          <p:cNvPr id="5" name="Photo" descr="Photo">    </p:cNvPr>
          <p:cNvPicPr>
            <a:picLocks noChangeAspect="1"/>
          </p:cNvPicPr>
          <p:nvPr/>
        </p:nvPicPr>
        <p:blipFill>
          <a:blip r:embed="rId1"/>
          <a:stretch>
            <a:fillRect/>
          </a:stretch>
        </p:blipFill>
        <p:spPr>
          <a:xfrm>
            <a:off x="6937504" y="1463040"/>
            <a:ext cx="3985968"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One Team: Henry + Carlisle + National Coatings</a:t>
            </a:r>
            <a:endParaRPr lang="en-US" sz="3000" dirty="0"/>
          </a:p>
        </p:txBody>
      </p:sp>
      <p:pic>
        <p:nvPicPr>
          <p:cNvPr id="4" name="Photo" descr="Photo">    </p:cNvPr>
          <p:cNvPicPr>
            <a:picLocks noChangeAspect="1"/>
          </p:cNvPicPr>
          <p:nvPr/>
        </p:nvPicPr>
        <p:blipFill>
          <a:blip r:embed="rId1"/>
          <a:stretch>
            <a:fillRect/>
          </a:stretch>
        </p:blipFill>
        <p:spPr>
          <a:xfrm>
            <a:off x="1279542" y="1417320"/>
            <a:ext cx="9632611"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Three strong brands. One name: Henry.</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vs. the Competition</a:t>
            </a:r>
            <a:endParaRPr lang="en-US" sz="3000" dirty="0"/>
          </a:p>
        </p:txBody>
      </p:sp>
      <p:pic>
        <p:nvPicPr>
          <p:cNvPr id="4" name="Photo" descr="Photo">    </p:cNvPr>
          <p:cNvPicPr>
            <a:picLocks noChangeAspect="1"/>
          </p:cNvPicPr>
          <p:nvPr/>
        </p:nvPicPr>
        <p:blipFill>
          <a:blip r:embed="rId1"/>
          <a:stretch>
            <a:fillRect/>
          </a:stretch>
        </p:blipFill>
        <p:spPr>
          <a:xfrm>
            <a:off x="1470217" y="1417320"/>
            <a:ext cx="9251261"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Henry makes every type of coating on this chart. Most brands don't.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Five Choices for Any Roof</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New</a:t>
            </a:r>
            <a:r>
              <a:rPr lang="en-US" sz="2400" dirty="0">
                <a:solidFill>
                  <a:schemeClr val="tx1"/>
                </a:solidFill>
                <a:latin typeface="Calibri" pitchFamily="34" charset="0"/>
                <a:ea typeface="Calibri" pitchFamily="34" charset="-122"/>
                <a:cs typeface="Calibri" pitchFamily="34" charset="-120"/>
              </a:rPr>
              <a:t> — a brand-new roof on a new building</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Repair</a:t>
            </a:r>
            <a:r>
              <a:rPr lang="en-US" sz="2400" dirty="0">
                <a:solidFill>
                  <a:schemeClr val="tx1"/>
                </a:solidFill>
                <a:latin typeface="Calibri" pitchFamily="34" charset="0"/>
                <a:ea typeface="Calibri" pitchFamily="34" charset="-122"/>
                <a:cs typeface="Calibri" pitchFamily="34" charset="-120"/>
              </a:rPr>
              <a:t> — fix small problems to keep a roof going</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Restore</a:t>
            </a:r>
            <a:r>
              <a:rPr lang="en-US" sz="2400" dirty="0">
                <a:solidFill>
                  <a:schemeClr val="tx1"/>
                </a:solidFill>
                <a:latin typeface="Calibri" pitchFamily="34" charset="0"/>
                <a:ea typeface="Calibri" pitchFamily="34" charset="-122"/>
                <a:cs typeface="Calibri" pitchFamily="34" charset="-120"/>
              </a:rPr>
              <a:t> — coat the roof you have (today's focus)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Recover</a:t>
            </a:r>
            <a:r>
              <a:rPr lang="en-US" sz="2400" dirty="0">
                <a:solidFill>
                  <a:schemeClr val="tx1"/>
                </a:solidFill>
                <a:latin typeface="Calibri" pitchFamily="34" charset="0"/>
                <a:ea typeface="Calibri" pitchFamily="34" charset="-122"/>
                <a:cs typeface="Calibri" pitchFamily="34" charset="-120"/>
              </a:rPr>
              <a:t> — put a new roof over the old one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Replace</a:t>
            </a:r>
            <a:r>
              <a:rPr lang="en-US" sz="2400" dirty="0">
                <a:solidFill>
                  <a:schemeClr val="tx1"/>
                </a:solidFill>
                <a:latin typeface="Calibri" pitchFamily="34" charset="0"/>
                <a:ea typeface="Calibri" pitchFamily="34" charset="-122"/>
                <a:cs typeface="Calibri" pitchFamily="34" charset="-120"/>
              </a:rPr>
              <a:t> — tear it all off and start over</a:t>
            </a:r>
            <a:endParaRPr lang="en-US" sz="2400" dirty="0"/>
          </a:p>
        </p:txBody>
      </p:sp>
      <p:pic>
        <p:nvPicPr>
          <p:cNvPr id="5" name="Photo" descr="Photo">    </p:cNvPr>
          <p:cNvPicPr>
            <a:picLocks noChangeAspect="1"/>
          </p:cNvPicPr>
          <p:nvPr/>
        </p:nvPicPr>
        <p:blipFill>
          <a:blip r:embed="rId1"/>
          <a:stretch>
            <a:fillRect/>
          </a:stretch>
        </p:blipFill>
        <p:spPr>
          <a:xfrm>
            <a:off x="6217920" y="2864605"/>
            <a:ext cx="5425135" cy="190603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Every Roof Wears Out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Sun and heat break roofs down over the years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Old roofs start to leak</a:t>
            </a:r>
            <a:r>
              <a:rPr lang="en-US" sz="2400" dirty="0">
                <a:solidFill>
                  <a:schemeClr val="tx1"/>
                </a:solidFill>
                <a:latin typeface="Calibri" pitchFamily="34" charset="0"/>
                <a:ea typeface="Calibri" pitchFamily="34" charset="-122"/>
                <a:cs typeface="Calibri" pitchFamily="34" charset="-120"/>
              </a:rPr>
              <a:t> — and owners think "replace it"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Often only 5–10% needs repair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The rest can be restored</a:t>
            </a:r>
            <a:endParaRPr lang="en-US" sz="2400" dirty="0"/>
          </a:p>
        </p:txBody>
      </p:sp>
      <p:pic>
        <p:nvPicPr>
          <p:cNvPr id="5" name="Photo" descr="Photo">    </p:cNvPr>
          <p:cNvPicPr>
            <a:picLocks noChangeAspect="1"/>
          </p:cNvPicPr>
          <p:nvPr/>
        </p:nvPicPr>
        <p:blipFill>
          <a:blip r:embed="rId1"/>
          <a:stretch>
            <a:fillRect/>
          </a:stretch>
        </p:blipFill>
        <p:spPr>
          <a:xfrm>
            <a:off x="6217920" y="3041826"/>
            <a:ext cx="5425135" cy="155158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Restore or Replace?</a:t>
            </a:r>
            <a:endParaRPr lang="en-US" sz="3000" dirty="0"/>
          </a:p>
        </p:txBody>
      </p:sp>
      <p:sp>
        <p:nvSpPr>
          <p:cNvPr id="4" name="Replace card"/>
          <p:cNvSpPr/>
          <p:nvPr/>
        </p:nvSpPr>
        <p:spPr>
          <a:xfrm>
            <a:off x="548640" y="1554480"/>
            <a:ext cx="5364328" cy="4480560"/>
          </a:xfrm>
          <a:prstGeom prst="roundRect">
            <a:avLst>
              <a:gd name="adj" fmla="val 2041"/>
            </a:avLst>
          </a:prstGeom>
          <a:solidFill>
            <a:schemeClr val="bg1"/>
          </a:solidFill>
          <a:ln w="19050">
            <a:solidFill>
              <a:schemeClr val="accent5"/>
            </a:solidFill>
            <a:prstDash val="solid"/>
          </a:ln>
        </p:spPr>
      </p:sp>
      <p:sp>
        <p:nvSpPr>
          <p:cNvPr id="5" name="Shape 3"/>
          <p:cNvSpPr/>
          <p:nvPr/>
        </p:nvSpPr>
        <p:spPr>
          <a:xfrm>
            <a:off x="868680" y="1828800"/>
            <a:ext cx="2377440" cy="640080"/>
          </a:xfrm>
          <a:prstGeom prst="roundRect">
            <a:avLst>
              <a:gd name="adj" fmla="val 50000"/>
            </a:avLst>
          </a:prstGeom>
          <a:solidFill>
            <a:schemeClr val="accent5"/>
          </a:solidFill>
          <a:ln/>
        </p:spPr>
      </p:sp>
      <p:sp>
        <p:nvSpPr>
          <p:cNvPr id="6" name="Text 4"/>
          <p:cNvSpPr txBox="1"/>
          <p:nvPr/>
        </p:nvSpPr>
        <p:spPr>
          <a:xfrm>
            <a:off x="868680" y="1828800"/>
            <a:ext cx="2377440" cy="640080"/>
          </a:xfrm>
          <a:prstGeom prst="rect">
            <a:avLst/>
          </a:prstGeom>
          <a:noFill/>
          <a:ln/>
        </p:spPr>
        <p:txBody>
          <a:bodyPr wrap="square" lIns="0" tIns="0" rIns="0" bIns="0" rtlCol="0" anchor="ctr"/>
          <a:lstStyle/>
          <a:p>
            <a:pPr algn="ctr" indent="0" marL="0">
              <a:buNone/>
            </a:pPr>
            <a:r>
              <a:rPr lang="en-US" sz="2400" b="1" dirty="0">
                <a:solidFill>
                  <a:schemeClr val="bg1"/>
                </a:solidFill>
              </a:rPr>
              <a:t>Replace</a:t>
            </a:r>
            <a:endParaRPr lang="en-US" sz="2400" dirty="0"/>
          </a:p>
        </p:txBody>
      </p:sp>
      <p:sp>
        <p:nvSpPr>
          <p:cNvPr id="7" name="Body text"/>
          <p:cNvSpPr txBox="1"/>
          <p:nvPr/>
        </p:nvSpPr>
        <p:spPr>
          <a:xfrm>
            <a:off x="914400" y="2788920"/>
            <a:ext cx="4632808" cy="301752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Big up-front cost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Business gets disrupted</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Tons of waste</a:t>
            </a:r>
            <a:endParaRPr lang="en-US" sz="2400" dirty="0"/>
          </a:p>
        </p:txBody>
      </p:sp>
      <p:sp>
        <p:nvSpPr>
          <p:cNvPr id="8" name="Restore card"/>
          <p:cNvSpPr/>
          <p:nvPr/>
        </p:nvSpPr>
        <p:spPr>
          <a:xfrm>
            <a:off x="6278728" y="1554480"/>
            <a:ext cx="5364328" cy="4480560"/>
          </a:xfrm>
          <a:prstGeom prst="roundRect">
            <a:avLst>
              <a:gd name="adj" fmla="val 2041"/>
            </a:avLst>
          </a:prstGeom>
          <a:solidFill>
            <a:schemeClr val="bg2"/>
          </a:solidFill>
          <a:ln w="19050">
            <a:solidFill>
              <a:schemeClr val="accent1"/>
            </a:solidFill>
            <a:prstDash val="solid"/>
          </a:ln>
        </p:spPr>
      </p:sp>
      <p:sp>
        <p:nvSpPr>
          <p:cNvPr id="9" name="Shape 7"/>
          <p:cNvSpPr/>
          <p:nvPr/>
        </p:nvSpPr>
        <p:spPr>
          <a:xfrm>
            <a:off x="6598768" y="1828800"/>
            <a:ext cx="2377440" cy="640080"/>
          </a:xfrm>
          <a:prstGeom prst="roundRect">
            <a:avLst>
              <a:gd name="adj" fmla="val 50000"/>
            </a:avLst>
          </a:prstGeom>
          <a:solidFill>
            <a:schemeClr val="accent1"/>
          </a:solidFill>
          <a:ln/>
        </p:spPr>
      </p:sp>
      <p:sp>
        <p:nvSpPr>
          <p:cNvPr id="10" name="Text 8"/>
          <p:cNvSpPr txBox="1"/>
          <p:nvPr/>
        </p:nvSpPr>
        <p:spPr>
          <a:xfrm>
            <a:off x="6598768" y="1828800"/>
            <a:ext cx="2377440" cy="640080"/>
          </a:xfrm>
          <a:prstGeom prst="rect">
            <a:avLst/>
          </a:prstGeom>
          <a:noFill/>
          <a:ln/>
        </p:spPr>
        <p:txBody>
          <a:bodyPr wrap="square" lIns="0" tIns="0" rIns="0" bIns="0" rtlCol="0" anchor="ctr"/>
          <a:lstStyle/>
          <a:p>
            <a:pPr algn="ctr" indent="0" marL="0">
              <a:buNone/>
            </a:pPr>
            <a:r>
              <a:rPr lang="en-US" sz="2400" b="1" dirty="0">
                <a:solidFill>
                  <a:schemeClr val="bg1"/>
                </a:solidFill>
              </a:rPr>
              <a:t>Restore</a:t>
            </a:r>
            <a:endParaRPr lang="en-US" sz="2400" dirty="0"/>
          </a:p>
        </p:txBody>
      </p:sp>
      <p:sp>
        <p:nvSpPr>
          <p:cNvPr id="11" name="Body text"/>
          <p:cNvSpPr txBox="1"/>
          <p:nvPr/>
        </p:nvSpPr>
        <p:spPr>
          <a:xfrm>
            <a:off x="6644488" y="2788920"/>
            <a:ext cx="4632808" cy="301752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Coat the roof you have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 fraction of the cost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Adds years of life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Works if less than 25% needs replacing</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Why Building Owners Like It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Lowest up-front cost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Little waste to haul away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Possible tax breaks and rebates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Lower energy bills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Fewer repairs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Shields the roof from sun, hail, foot traffic, chemicals, and heat swings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Can be recoated again later</a:t>
            </a:r>
            <a:endParaRPr lang="en-US" sz="2400" dirty="0"/>
          </a:p>
        </p:txBody>
      </p:sp>
      <p:pic>
        <p:nvPicPr>
          <p:cNvPr id="5" name="Photo" descr="Photo">    </p:cNvPr>
          <p:cNvPicPr>
            <a:picLocks noChangeAspect="1"/>
          </p:cNvPicPr>
          <p:nvPr/>
        </p:nvPicPr>
        <p:blipFill>
          <a:blip r:embed="rId1"/>
          <a:stretch>
            <a:fillRect/>
          </a:stretch>
        </p:blipFill>
        <p:spPr>
          <a:xfrm>
            <a:off x="6575908" y="1463040"/>
            <a:ext cx="4709160"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Why Contractors Like It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Spray or roll</a:t>
            </a:r>
            <a:r>
              <a:rPr lang="en-US" sz="2400" dirty="0">
                <a:solidFill>
                  <a:schemeClr val="tx1"/>
                </a:solidFill>
                <a:latin typeface="Calibri" pitchFamily="34" charset="0"/>
                <a:ea typeface="Calibri" pitchFamily="34" charset="-122"/>
                <a:cs typeface="Calibri" pitchFamily="34" charset="-120"/>
              </a:rPr>
              <a:t> — less labor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Low equipment cost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Safer</a:t>
            </a:r>
            <a:r>
              <a:rPr lang="en-US" sz="2400" dirty="0">
                <a:solidFill>
                  <a:schemeClr val="tx1"/>
                </a:solidFill>
                <a:latin typeface="Calibri" pitchFamily="34" charset="0"/>
                <a:ea typeface="Calibri" pitchFamily="34" charset="-122"/>
                <a:cs typeface="Calibri" pitchFamily="34" charset="-120"/>
              </a:rPr>
              <a:t> — no hot tar, no torches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New workers learn it fast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Easy to set up and move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Repeat work</a:t>
            </a:r>
            <a:r>
              <a:rPr lang="en-US" sz="2400" dirty="0">
                <a:solidFill>
                  <a:schemeClr val="tx1"/>
                </a:solidFill>
                <a:latin typeface="Calibri" pitchFamily="34" charset="0"/>
                <a:ea typeface="Calibri" pitchFamily="34" charset="-122"/>
                <a:cs typeface="Calibri" pitchFamily="34" charset="-120"/>
              </a:rPr>
              <a:t> — maintenance for the life of the building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Henry helps you sell it</a:t>
            </a:r>
            <a:endParaRPr lang="en-US" sz="2400" dirty="0"/>
          </a:p>
        </p:txBody>
      </p:sp>
      <p:pic>
        <p:nvPicPr>
          <p:cNvPr id="5" name="Photo" descr="Photo">    </p:cNvPr>
          <p:cNvPicPr>
            <a:picLocks noChangeAspect="1"/>
          </p:cNvPicPr>
          <p:nvPr/>
        </p:nvPicPr>
        <p:blipFill>
          <a:blip r:embed="rId1"/>
          <a:stretch>
            <a:fillRect/>
          </a:stretch>
        </p:blipFill>
        <p:spPr>
          <a:xfrm>
            <a:off x="6217920" y="2653024"/>
            <a:ext cx="5425135" cy="232919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Make the Old New Again</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Restoring makes a roof watertight again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It also makes the roof save energy again</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Same roof</a:t>
            </a:r>
            <a:r>
              <a:rPr lang="en-US" sz="2400" dirty="0">
                <a:solidFill>
                  <a:schemeClr val="tx1"/>
                </a:solidFill>
                <a:latin typeface="Calibri" pitchFamily="34" charset="0"/>
                <a:ea typeface="Calibri" pitchFamily="34" charset="-122"/>
                <a:cs typeface="Calibri" pitchFamily="34" charset="-120"/>
              </a:rPr>
              <a:t> — works and looks like new</a:t>
            </a:r>
            <a:endParaRPr lang="en-US" sz="2400" dirty="0"/>
          </a:p>
        </p:txBody>
      </p:sp>
      <p:pic>
        <p:nvPicPr>
          <p:cNvPr id="5" name="Photo" descr="Photo">    </p:cNvPr>
          <p:cNvPicPr>
            <a:picLocks noChangeAspect="1"/>
          </p:cNvPicPr>
          <p:nvPr/>
        </p:nvPicPr>
        <p:blipFill>
          <a:blip r:embed="rId1"/>
          <a:stretch>
            <a:fillRect/>
          </a:stretch>
        </p:blipFill>
        <p:spPr>
          <a:xfrm>
            <a:off x="6217920" y="3025550"/>
            <a:ext cx="5425135" cy="158413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Is the Roof a Good Fit? Three Rules</a:t>
            </a:r>
            <a:endParaRPr lang="en-US" sz="3000" dirty="0"/>
          </a:p>
        </p:txBody>
      </p:sp>
      <p:sp>
        <p:nvSpPr>
          <p:cNvPr id="4" name="Clean card"/>
          <p:cNvSpPr/>
          <p:nvPr/>
        </p:nvSpPr>
        <p:spPr>
          <a:xfrm>
            <a:off x="548640" y="1600200"/>
            <a:ext cx="3454298" cy="4389120"/>
          </a:xfrm>
          <a:prstGeom prst="roundRect">
            <a:avLst>
              <a:gd name="adj" fmla="val 3177"/>
            </a:avLst>
          </a:prstGeom>
          <a:solidFill>
            <a:schemeClr val="bg2"/>
          </a:solidFill>
          <a:ln/>
        </p:spPr>
      </p:sp>
      <p:sp>
        <p:nvSpPr>
          <p:cNvPr id="5" name="Shape 3"/>
          <p:cNvSpPr/>
          <p:nvPr/>
        </p:nvSpPr>
        <p:spPr>
          <a:xfrm>
            <a:off x="1589989" y="1965960"/>
            <a:ext cx="1371600" cy="1371600"/>
          </a:xfrm>
          <a:prstGeom prst="ellipse">
            <a:avLst/>
          </a:prstGeom>
          <a:solidFill>
            <a:schemeClr val="accent1"/>
          </a:solidFill>
          <a:ln/>
        </p:spPr>
      </p:sp>
      <p:pic>
        <p:nvPicPr>
          <p:cNvPr id="6" name="Image 0" descr="Clean">    </p:cNvPr>
          <p:cNvPicPr>
            <a:picLocks noChangeAspect="1"/>
          </p:cNvPicPr>
          <p:nvPr/>
        </p:nvPicPr>
        <p:blipFill>
          <a:blip r:embed="rId1"/>
          <a:stretch>
            <a:fillRect/>
          </a:stretch>
        </p:blipFill>
        <p:spPr>
          <a:xfrm>
            <a:off x="1891741" y="2267712"/>
            <a:ext cx="768096" cy="768096"/>
          </a:xfrm>
          <a:prstGeom prst="rect">
            <a:avLst/>
          </a:prstGeom>
        </p:spPr>
      </p:pic>
      <p:sp>
        <p:nvSpPr>
          <p:cNvPr id="7" name="Text 4"/>
          <p:cNvSpPr txBox="1"/>
          <p:nvPr/>
        </p:nvSpPr>
        <p:spPr>
          <a:xfrm>
            <a:off x="548640" y="3657600"/>
            <a:ext cx="3454298" cy="822960"/>
          </a:xfrm>
          <a:prstGeom prst="rect">
            <a:avLst/>
          </a:prstGeom>
          <a:noFill/>
          <a:ln/>
        </p:spPr>
        <p:txBody>
          <a:bodyPr wrap="square" lIns="0" tIns="0" rIns="0" bIns="0" rtlCol="0" anchor="ctr"/>
          <a:lstStyle/>
          <a:p>
            <a:pPr algn="ctr" indent="0" marL="0">
              <a:buNone/>
            </a:pPr>
            <a:r>
              <a:rPr lang="en-US" sz="4400" b="1" dirty="0">
                <a:solidFill>
                  <a:schemeClr val="tx2"/>
                </a:solidFill>
                <a:latin typeface="Arial" pitchFamily="34" charset="0"/>
                <a:ea typeface="Arial" pitchFamily="34" charset="-122"/>
                <a:cs typeface="Arial" pitchFamily="34" charset="-120"/>
              </a:rPr>
              <a:t>1. Clean</a:t>
            </a:r>
            <a:endParaRPr lang="en-US" sz="4400" dirty="0"/>
          </a:p>
        </p:txBody>
      </p:sp>
      <p:sp>
        <p:nvSpPr>
          <p:cNvPr id="8" name="Text 5"/>
          <p:cNvSpPr txBox="1"/>
          <p:nvPr/>
        </p:nvSpPr>
        <p:spPr>
          <a:xfrm>
            <a:off x="822960" y="4572000"/>
            <a:ext cx="2905658" cy="1005840"/>
          </a:xfrm>
          <a:prstGeom prst="rect">
            <a:avLst/>
          </a:prstGeom>
          <a:noFill/>
          <a:ln/>
        </p:spPr>
        <p:txBody>
          <a:bodyPr wrap="square" lIns="0" tIns="0" rIns="0" bIns="0" rtlCol="0" anchor="t"/>
          <a:lstStyle/>
          <a:p>
            <a:pPr algn="ctr" indent="0" marL="0">
              <a:buNone/>
            </a:pPr>
            <a:r>
              <a:rPr lang="en-US" sz="2000" dirty="0">
                <a:solidFill>
                  <a:schemeClr val="tx1"/>
                </a:solidFill>
              </a:rPr>
              <a:t>Dirt, oil, and loose stuff removed</a:t>
            </a:r>
            <a:endParaRPr lang="en-US" sz="2000" dirty="0"/>
          </a:p>
        </p:txBody>
      </p:sp>
      <p:sp>
        <p:nvSpPr>
          <p:cNvPr id="9" name="Dry card"/>
          <p:cNvSpPr/>
          <p:nvPr/>
        </p:nvSpPr>
        <p:spPr>
          <a:xfrm>
            <a:off x="4368698" y="1600200"/>
            <a:ext cx="3454298" cy="4389120"/>
          </a:xfrm>
          <a:prstGeom prst="roundRect">
            <a:avLst>
              <a:gd name="adj" fmla="val 3177"/>
            </a:avLst>
          </a:prstGeom>
          <a:solidFill>
            <a:schemeClr val="bg2"/>
          </a:solidFill>
          <a:ln/>
        </p:spPr>
      </p:sp>
      <p:sp>
        <p:nvSpPr>
          <p:cNvPr id="10" name="Shape 7"/>
          <p:cNvSpPr/>
          <p:nvPr/>
        </p:nvSpPr>
        <p:spPr>
          <a:xfrm>
            <a:off x="5410048" y="1965960"/>
            <a:ext cx="1371600" cy="1371600"/>
          </a:xfrm>
          <a:prstGeom prst="ellipse">
            <a:avLst/>
          </a:prstGeom>
          <a:solidFill>
            <a:schemeClr val="accent1"/>
          </a:solidFill>
          <a:ln/>
        </p:spPr>
      </p:sp>
      <p:pic>
        <p:nvPicPr>
          <p:cNvPr id="11" name="Image 1" descr="Dry">    </p:cNvPr>
          <p:cNvPicPr>
            <a:picLocks noChangeAspect="1"/>
          </p:cNvPicPr>
          <p:nvPr/>
        </p:nvPicPr>
        <p:blipFill>
          <a:blip r:embed="rId2"/>
          <a:stretch>
            <a:fillRect/>
          </a:stretch>
        </p:blipFill>
        <p:spPr>
          <a:xfrm>
            <a:off x="5711800" y="2267712"/>
            <a:ext cx="768096" cy="768096"/>
          </a:xfrm>
          <a:prstGeom prst="rect">
            <a:avLst/>
          </a:prstGeom>
        </p:spPr>
      </p:pic>
      <p:sp>
        <p:nvSpPr>
          <p:cNvPr id="12" name="Text 8"/>
          <p:cNvSpPr txBox="1"/>
          <p:nvPr/>
        </p:nvSpPr>
        <p:spPr>
          <a:xfrm>
            <a:off x="4368698" y="3657600"/>
            <a:ext cx="3454298" cy="822960"/>
          </a:xfrm>
          <a:prstGeom prst="rect">
            <a:avLst/>
          </a:prstGeom>
          <a:noFill/>
          <a:ln/>
        </p:spPr>
        <p:txBody>
          <a:bodyPr wrap="square" lIns="0" tIns="0" rIns="0" bIns="0" rtlCol="0" anchor="ctr"/>
          <a:lstStyle/>
          <a:p>
            <a:pPr algn="ctr" indent="0" marL="0">
              <a:buNone/>
            </a:pPr>
            <a:r>
              <a:rPr lang="en-US" sz="4400" b="1" dirty="0">
                <a:solidFill>
                  <a:schemeClr val="tx2"/>
                </a:solidFill>
                <a:latin typeface="Arial" pitchFamily="34" charset="0"/>
                <a:ea typeface="Arial" pitchFamily="34" charset="-122"/>
                <a:cs typeface="Arial" pitchFamily="34" charset="-120"/>
              </a:rPr>
              <a:t>2. Dry</a:t>
            </a:r>
            <a:endParaRPr lang="en-US" sz="4400" dirty="0"/>
          </a:p>
        </p:txBody>
      </p:sp>
      <p:sp>
        <p:nvSpPr>
          <p:cNvPr id="13" name="Text 9"/>
          <p:cNvSpPr txBox="1"/>
          <p:nvPr/>
        </p:nvSpPr>
        <p:spPr>
          <a:xfrm>
            <a:off x="4643018" y="4572000"/>
            <a:ext cx="2905658" cy="1005840"/>
          </a:xfrm>
          <a:prstGeom prst="rect">
            <a:avLst/>
          </a:prstGeom>
          <a:noFill/>
          <a:ln/>
        </p:spPr>
        <p:txBody>
          <a:bodyPr wrap="square" lIns="0" tIns="0" rIns="0" bIns="0" rtlCol="0" anchor="t"/>
          <a:lstStyle/>
          <a:p>
            <a:pPr algn="ctr" indent="0" marL="0">
              <a:buNone/>
            </a:pPr>
            <a:r>
              <a:rPr lang="en-US" sz="2000" dirty="0">
                <a:solidFill>
                  <a:schemeClr val="tx1"/>
                </a:solidFill>
              </a:rPr>
              <a:t>No water trapped inside</a:t>
            </a:r>
            <a:endParaRPr lang="en-US" sz="2000" dirty="0"/>
          </a:p>
        </p:txBody>
      </p:sp>
      <p:sp>
        <p:nvSpPr>
          <p:cNvPr id="14" name="Sound card"/>
          <p:cNvSpPr/>
          <p:nvPr/>
        </p:nvSpPr>
        <p:spPr>
          <a:xfrm>
            <a:off x="8188757" y="1600200"/>
            <a:ext cx="3454298" cy="4389120"/>
          </a:xfrm>
          <a:prstGeom prst="roundRect">
            <a:avLst>
              <a:gd name="adj" fmla="val 3177"/>
            </a:avLst>
          </a:prstGeom>
          <a:solidFill>
            <a:schemeClr val="bg2"/>
          </a:solidFill>
          <a:ln/>
        </p:spPr>
      </p:sp>
      <p:sp>
        <p:nvSpPr>
          <p:cNvPr id="15" name="Shape 11"/>
          <p:cNvSpPr/>
          <p:nvPr/>
        </p:nvSpPr>
        <p:spPr>
          <a:xfrm>
            <a:off x="9230106" y="1965960"/>
            <a:ext cx="1371600" cy="1371600"/>
          </a:xfrm>
          <a:prstGeom prst="ellipse">
            <a:avLst/>
          </a:prstGeom>
          <a:solidFill>
            <a:schemeClr val="accent1"/>
          </a:solidFill>
          <a:ln/>
        </p:spPr>
      </p:sp>
      <p:pic>
        <p:nvPicPr>
          <p:cNvPr id="16" name="Image 2" descr="Sound">    </p:cNvPr>
          <p:cNvPicPr>
            <a:picLocks noChangeAspect="1"/>
          </p:cNvPicPr>
          <p:nvPr/>
        </p:nvPicPr>
        <p:blipFill>
          <a:blip r:embed="rId3"/>
          <a:stretch>
            <a:fillRect/>
          </a:stretch>
        </p:blipFill>
        <p:spPr>
          <a:xfrm>
            <a:off x="9531858" y="2267712"/>
            <a:ext cx="768096" cy="768096"/>
          </a:xfrm>
          <a:prstGeom prst="rect">
            <a:avLst/>
          </a:prstGeom>
        </p:spPr>
      </p:pic>
      <p:sp>
        <p:nvSpPr>
          <p:cNvPr id="17" name="Text 12"/>
          <p:cNvSpPr txBox="1"/>
          <p:nvPr/>
        </p:nvSpPr>
        <p:spPr>
          <a:xfrm>
            <a:off x="8188757" y="3657600"/>
            <a:ext cx="3454298" cy="822960"/>
          </a:xfrm>
          <a:prstGeom prst="rect">
            <a:avLst/>
          </a:prstGeom>
          <a:noFill/>
          <a:ln/>
        </p:spPr>
        <p:txBody>
          <a:bodyPr wrap="square" lIns="0" tIns="0" rIns="0" bIns="0" rtlCol="0" anchor="ctr"/>
          <a:lstStyle/>
          <a:p>
            <a:pPr algn="ctr" indent="0" marL="0">
              <a:buNone/>
            </a:pPr>
            <a:r>
              <a:rPr lang="en-US" sz="4400" b="1" dirty="0">
                <a:solidFill>
                  <a:schemeClr val="tx2"/>
                </a:solidFill>
                <a:latin typeface="Arial" pitchFamily="34" charset="0"/>
                <a:ea typeface="Arial" pitchFamily="34" charset="-122"/>
                <a:cs typeface="Arial" pitchFamily="34" charset="-120"/>
              </a:rPr>
              <a:t>3. Sound</a:t>
            </a:r>
            <a:endParaRPr lang="en-US" sz="4400" dirty="0"/>
          </a:p>
        </p:txBody>
      </p:sp>
      <p:sp>
        <p:nvSpPr>
          <p:cNvPr id="18" name="Text 13"/>
          <p:cNvSpPr txBox="1"/>
          <p:nvPr/>
        </p:nvSpPr>
        <p:spPr>
          <a:xfrm>
            <a:off x="8463077" y="4572000"/>
            <a:ext cx="2905658" cy="1005840"/>
          </a:xfrm>
          <a:prstGeom prst="rect">
            <a:avLst/>
          </a:prstGeom>
          <a:noFill/>
          <a:ln/>
        </p:spPr>
        <p:txBody>
          <a:bodyPr wrap="square" lIns="0" tIns="0" rIns="0" bIns="0" rtlCol="0" anchor="t"/>
          <a:lstStyle/>
          <a:p>
            <a:pPr algn="ctr" indent="0" marL="0">
              <a:buNone/>
            </a:pPr>
            <a:r>
              <a:rPr lang="en-US" sz="2000" dirty="0">
                <a:solidFill>
                  <a:schemeClr val="tx1"/>
                </a:solidFill>
              </a:rPr>
              <a:t>Solid deck, no big damage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Good Fit or Not? (1)</a:t>
            </a:r>
            <a:endParaRPr lang="en-US" sz="3000" dirty="0"/>
          </a:p>
        </p:txBody>
      </p:sp>
      <p:pic>
        <p:nvPicPr>
          <p:cNvPr id="4" name="Photo" descr="Photo">    </p:cNvPr>
          <p:cNvPicPr>
            <a:picLocks noChangeAspect="1"/>
          </p:cNvPicPr>
          <p:nvPr/>
        </p:nvPicPr>
        <p:blipFill>
          <a:blip r:embed="rId1"/>
          <a:stretch>
            <a:fillRect/>
          </a:stretch>
        </p:blipFill>
        <p:spPr>
          <a:xfrm>
            <a:off x="1316029" y="1417320"/>
            <a:ext cx="9559636"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Green check = good candidate. Red X = not ready.</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WELCOME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Good Fit or Not? (2)</a:t>
            </a:r>
            <a:endParaRPr lang="en-US" sz="3000" dirty="0"/>
          </a:p>
        </p:txBody>
      </p:sp>
      <p:pic>
        <p:nvPicPr>
          <p:cNvPr id="4" name="Photo" descr="Photo">    </p:cNvPr>
          <p:cNvPicPr>
            <a:picLocks noChangeAspect="1"/>
          </p:cNvPicPr>
          <p:nvPr/>
        </p:nvPicPr>
        <p:blipFill>
          <a:blip r:embed="rId1"/>
          <a:stretch>
            <a:fillRect/>
          </a:stretch>
        </p:blipFill>
        <p:spPr>
          <a:xfrm>
            <a:off x="1323261" y="1417320"/>
            <a:ext cx="9545174"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Practice: which rule does each red X break?</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988 Silicone System</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Silicone: the best choice where water sits.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Silicone: The Strengths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990"/>
              </a:spcAft>
              <a:buSzPct val="100000"/>
              <a:buChar char="•"/>
            </a:pPr>
            <a:r>
              <a:rPr lang="en-US" sz="1800" dirty="0">
                <a:solidFill>
                  <a:schemeClr val="tx1"/>
                </a:solidFill>
                <a:latin typeface="Calibri" pitchFamily="34" charset="0"/>
                <a:ea typeface="Calibri" pitchFamily="34" charset="-122"/>
                <a:cs typeface="Calibri" pitchFamily="34" charset="-120"/>
              </a:rPr>
              <a:t>Stays flexible from -15°F to 180°F</a:t>
            </a:r>
            <a:endParaRPr lang="en-US" sz="1800" dirty="0"/>
          </a:p>
          <a:p>
            <a:pPr marL="228600" indent="-228600">
              <a:spcAft>
                <a:spcPts val="990"/>
              </a:spcAft>
              <a:buSzPct val="100000"/>
              <a:buChar char="•"/>
            </a:pPr>
            <a:r>
              <a:rPr lang="en-US" sz="1800" dirty="0">
                <a:solidFill>
                  <a:schemeClr val="tx1"/>
                </a:solidFill>
                <a:latin typeface="Calibri" pitchFamily="34" charset="0"/>
                <a:ea typeface="Calibri" pitchFamily="34" charset="-122"/>
                <a:cs typeface="Calibri" pitchFamily="34" charset="-120"/>
              </a:rPr>
              <a:t>Stretches without cracking. Sticks very well.</a:t>
            </a:r>
            <a:endParaRPr lang="en-US" sz="1800" dirty="0"/>
          </a:p>
          <a:p>
            <a:pPr marL="228600" indent="-228600">
              <a:spcAft>
                <a:spcPts val="990"/>
              </a:spcAft>
              <a:buSzPct val="100000"/>
              <a:buChar char="•"/>
            </a:pPr>
            <a:r>
              <a:rPr lang="en-US" sz="1800" dirty="0">
                <a:solidFill>
                  <a:schemeClr val="tx1"/>
                </a:solidFill>
                <a:latin typeface="Calibri" pitchFamily="34" charset="0"/>
                <a:ea typeface="Calibri" pitchFamily="34" charset="-122"/>
                <a:cs typeface="Calibri" pitchFamily="34" charset="-120"/>
              </a:rPr>
              <a:t>Water can't soak through it</a:t>
            </a:r>
            <a:endParaRPr lang="en-US" sz="1800" dirty="0"/>
          </a:p>
          <a:p>
            <a:pPr marL="228600" indent="-228600">
              <a:spcAft>
                <a:spcPts val="990"/>
              </a:spcAft>
              <a:buSzPct val="100000"/>
              <a:buChar char="•"/>
            </a:pPr>
            <a:r>
              <a:rPr lang="en-US" sz="1800" b="1" dirty="0">
                <a:solidFill>
                  <a:schemeClr val="tx2"/>
                </a:solidFill>
                <a:latin typeface="Calibri" pitchFamily="34" charset="0"/>
                <a:ea typeface="Calibri" pitchFamily="34" charset="-122"/>
                <a:cs typeface="Calibri" pitchFamily="34" charset="-120"/>
              </a:rPr>
              <a:t>Cures from moisture in the air</a:t>
            </a:r>
            <a:r>
              <a:rPr lang="en-US" sz="1800" dirty="0">
                <a:solidFill>
                  <a:schemeClr val="tx1"/>
                </a:solidFill>
                <a:latin typeface="Calibri" pitchFamily="34" charset="0"/>
                <a:ea typeface="Calibri" pitchFamily="34" charset="-122"/>
                <a:cs typeface="Calibri" pitchFamily="34" charset="-120"/>
              </a:rPr>
              <a:t> — standing water won't soften it</a:t>
            </a:r>
            <a:endParaRPr lang="en-US" sz="1800" dirty="0"/>
          </a:p>
          <a:p>
            <a:pPr marL="228600" indent="-228600">
              <a:spcAft>
                <a:spcPts val="990"/>
              </a:spcAft>
              <a:buSzPct val="100000"/>
              <a:buChar char="•"/>
            </a:pPr>
            <a:r>
              <a:rPr lang="en-US" sz="1800" b="1" dirty="0">
                <a:solidFill>
                  <a:schemeClr val="tx2"/>
                </a:solidFill>
                <a:latin typeface="Calibri" pitchFamily="34" charset="0"/>
                <a:ea typeface="Calibri" pitchFamily="34" charset="-122"/>
                <a:cs typeface="Calibri" pitchFamily="34" charset="-120"/>
              </a:rPr>
              <a:t>Holds up to sun</a:t>
            </a:r>
            <a:r>
              <a:rPr lang="en-US" sz="1800" dirty="0">
                <a:solidFill>
                  <a:schemeClr val="tx1"/>
                </a:solidFill>
                <a:latin typeface="Calibri" pitchFamily="34" charset="0"/>
                <a:ea typeface="Calibri" pitchFamily="34" charset="-122"/>
                <a:cs typeface="Calibri" pitchFamily="34" charset="-120"/>
              </a:rPr>
              <a:t> — loses only about 0.1 mil a year</a:t>
            </a:r>
            <a:endParaRPr lang="en-US" sz="1800" dirty="0"/>
          </a:p>
          <a:p>
            <a:pPr marL="228600" indent="-228600">
              <a:spcAft>
                <a:spcPts val="990"/>
              </a:spcAft>
              <a:buSzPct val="100000"/>
              <a:buChar char="•"/>
            </a:pPr>
            <a:r>
              <a:rPr lang="en-US" sz="1800" b="1" dirty="0">
                <a:solidFill>
                  <a:schemeClr val="tx2"/>
                </a:solidFill>
                <a:latin typeface="Calibri" pitchFamily="34" charset="0"/>
                <a:ea typeface="Calibri" pitchFamily="34" charset="-122"/>
                <a:cs typeface="Calibri" pitchFamily="34" charset="-120"/>
              </a:rPr>
              <a:t>90%+ solids</a:t>
            </a:r>
            <a:r>
              <a:rPr lang="en-US" sz="1800" dirty="0">
                <a:solidFill>
                  <a:schemeClr val="tx1"/>
                </a:solidFill>
                <a:latin typeface="Calibri" pitchFamily="34" charset="0"/>
                <a:ea typeface="Calibri" pitchFamily="34" charset="-122"/>
                <a:cs typeface="Calibri" pitchFamily="34" charset="-120"/>
              </a:rPr>
              <a:t> — more of what you spray stays on the roof</a:t>
            </a:r>
            <a:endParaRPr lang="en-US" sz="1800" dirty="0"/>
          </a:p>
          <a:p>
            <a:pPr marL="228600" indent="-228600">
              <a:spcAft>
                <a:spcPts val="990"/>
              </a:spcAft>
              <a:buSzPct val="100000"/>
              <a:buChar char="•"/>
            </a:pPr>
            <a:r>
              <a:rPr lang="en-US" sz="1800" dirty="0">
                <a:solidFill>
                  <a:schemeClr val="tx1"/>
                </a:solidFill>
                <a:latin typeface="Calibri" pitchFamily="34" charset="0"/>
                <a:ea typeface="Calibri" pitchFamily="34" charset="-122"/>
                <a:cs typeface="Calibri" pitchFamily="34" charset="-120"/>
              </a:rPr>
              <a:t>Apply at 35°F and rising. Low fumes. Won't chalk.</a:t>
            </a:r>
            <a:endParaRPr lang="en-US" sz="1800" dirty="0"/>
          </a:p>
        </p:txBody>
      </p:sp>
      <p:pic>
        <p:nvPicPr>
          <p:cNvPr id="5" name="Photo" descr="Photo">    </p:cNvPr>
          <p:cNvPicPr>
            <a:picLocks noChangeAspect="1"/>
          </p:cNvPicPr>
          <p:nvPr/>
        </p:nvPicPr>
        <p:blipFill>
          <a:blip r:embed="rId1"/>
          <a:stretch>
            <a:fillRect/>
          </a:stretch>
        </p:blipFill>
        <p:spPr>
          <a:xfrm>
            <a:off x="6217920" y="2658449"/>
            <a:ext cx="5425135" cy="231834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Silicone: The Downsides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Picks up dirt more easily</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Only silicone sticks to silicone later</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Asphalt can stain through</a:t>
            </a:r>
            <a:r>
              <a:rPr lang="en-US" sz="2200" dirty="0">
                <a:solidFill>
                  <a:schemeClr val="tx1"/>
                </a:solidFill>
                <a:latin typeface="Calibri" pitchFamily="34" charset="0"/>
                <a:ea typeface="Calibri" pitchFamily="34" charset="-122"/>
                <a:cs typeface="Calibri" pitchFamily="34" charset="-120"/>
              </a:rPr>
              <a:t> — needs a basecoat</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Harder to clean tools and spray rigs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Needs commercial spray equipment</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Many crews haven't used it yet</a:t>
            </a:r>
            <a:r>
              <a:rPr lang="en-US" sz="2200" dirty="0">
                <a:solidFill>
                  <a:schemeClr val="tx1"/>
                </a:solidFill>
                <a:latin typeface="Calibri" pitchFamily="34" charset="0"/>
                <a:ea typeface="Calibri" pitchFamily="34" charset="-122"/>
                <a:cs typeface="Calibri" pitchFamily="34" charset="-120"/>
              </a:rPr>
              <a:t> — newer tech (about 20 years)</a:t>
            </a:r>
            <a:endParaRPr lang="en-US" sz="2200" dirty="0"/>
          </a:p>
        </p:txBody>
      </p:sp>
      <p:pic>
        <p:nvPicPr>
          <p:cNvPr id="5" name="Photo" descr="Photo">    </p:cNvPr>
          <p:cNvPicPr>
            <a:picLocks noChangeAspect="1"/>
          </p:cNvPicPr>
          <p:nvPr/>
        </p:nvPicPr>
        <p:blipFill>
          <a:blip r:embed="rId1"/>
          <a:stretch>
            <a:fillRect/>
          </a:stretch>
        </p:blipFill>
        <p:spPr>
          <a:xfrm>
            <a:off x="6217920" y="2613240"/>
            <a:ext cx="5425135" cy="24087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When Silicone Is a Good Fit</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Flat roofs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Low slopes</a:t>
            </a:r>
            <a:r>
              <a:rPr lang="en-US" sz="2400" dirty="0">
                <a:solidFill>
                  <a:schemeClr val="tx1"/>
                </a:solidFill>
                <a:latin typeface="Calibri" pitchFamily="34" charset="0"/>
                <a:ea typeface="Calibri" pitchFamily="34" charset="-122"/>
                <a:cs typeface="Calibri" pitchFamily="34" charset="-120"/>
              </a:rPr>
              <a:t> — 3:12 or less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Very hot or very cold places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Max sun protection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Areas where water sits*</a:t>
            </a:r>
            <a:endParaRPr lang="en-US" sz="2400" dirty="0"/>
          </a:p>
        </p:txBody>
      </p:sp>
      <p:pic>
        <p:nvPicPr>
          <p:cNvPr id="5" name="Photo" descr="Photo">    </p:cNvPr>
          <p:cNvPicPr>
            <a:picLocks noChangeAspect="1"/>
          </p:cNvPicPr>
          <p:nvPr/>
        </p:nvPicPr>
        <p:blipFill>
          <a:blip r:embed="rId1"/>
          <a:stretch>
            <a:fillRect/>
          </a:stretch>
        </p:blipFill>
        <p:spPr>
          <a:xfrm>
            <a:off x="6217920" y="2508120"/>
            <a:ext cx="5425135" cy="2253239"/>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*Puddles, not lakes. The roof must still drain.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When Silicone Is NOT a Good Fit</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Deep standing water*</a:t>
            </a:r>
            <a:r>
              <a:rPr lang="en-US" sz="2400" dirty="0">
                <a:solidFill>
                  <a:schemeClr val="tx1"/>
                </a:solidFill>
                <a:latin typeface="Calibri" pitchFamily="34" charset="0"/>
                <a:ea typeface="Calibri" pitchFamily="34" charset="-122"/>
                <a:cs typeface="Calibri" pitchFamily="34" charset="-120"/>
              </a:rPr>
              <a:t> — lakes on the roof</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Steep roofs</a:t>
            </a:r>
            <a:r>
              <a:rPr lang="en-US" sz="2400" dirty="0">
                <a:solidFill>
                  <a:schemeClr val="tx1"/>
                </a:solidFill>
                <a:latin typeface="Calibri" pitchFamily="34" charset="0"/>
                <a:ea typeface="Calibri" pitchFamily="34" charset="-122"/>
                <a:cs typeface="Calibri" pitchFamily="34" charset="-120"/>
              </a:rPr>
              <a:t> — more than 3:12</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Barrel (curved)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Heavy foot traffic areas</a:t>
            </a:r>
            <a:endParaRPr lang="en-US" sz="2400" dirty="0"/>
          </a:p>
        </p:txBody>
      </p:sp>
      <p:pic>
        <p:nvPicPr>
          <p:cNvPr id="5" name="Photo" descr="Photo">    </p:cNvPr>
          <p:cNvPicPr>
            <a:picLocks noChangeAspect="1"/>
          </p:cNvPicPr>
          <p:nvPr/>
        </p:nvPicPr>
        <p:blipFill>
          <a:blip r:embed="rId1"/>
          <a:stretch>
            <a:fillRect/>
          </a:stretch>
        </p:blipFill>
        <p:spPr>
          <a:xfrm>
            <a:off x="6217920" y="2473761"/>
            <a:ext cx="5425135" cy="2321958"/>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*Silicone handles puddles — not swimming pools.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What Roofs Can Silicone Restore?</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Silicone works on almost every roof type.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Asphalt Roofs</a:t>
            </a:r>
            <a:endParaRPr lang="en-US" sz="3000" dirty="0"/>
          </a:p>
        </p:txBody>
      </p:sp>
      <p:pic>
        <p:nvPicPr>
          <p:cNvPr id="4" name="Photo" descr="Photo">    </p:cNvPr>
          <p:cNvPicPr>
            <a:picLocks noChangeAspect="1"/>
          </p:cNvPicPr>
          <p:nvPr/>
        </p:nvPicPr>
        <p:blipFill>
          <a:blip r:embed="rId1"/>
          <a:stretch>
            <a:fillRect/>
          </a:stretch>
        </p:blipFill>
        <p:spPr>
          <a:xfrm>
            <a:off x="548640" y="1671371"/>
            <a:ext cx="11094415" cy="369813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Granulated or smooth mod-bit, and BUR (built-up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Single-Ply Roofs</a:t>
            </a:r>
            <a:endParaRPr lang="en-US" sz="3000" dirty="0"/>
          </a:p>
        </p:txBody>
      </p:sp>
      <p:pic>
        <p:nvPicPr>
          <p:cNvPr id="4" name="Photo" descr="Photo">    </p:cNvPr>
          <p:cNvPicPr>
            <a:picLocks noChangeAspect="1"/>
          </p:cNvPicPr>
          <p:nvPr/>
        </p:nvPicPr>
        <p:blipFill>
          <a:blip r:embed="rId1"/>
          <a:stretch>
            <a:fillRect/>
          </a:stretch>
        </p:blipFill>
        <p:spPr>
          <a:xfrm>
            <a:off x="548640" y="1786013"/>
            <a:ext cx="11094415" cy="346885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TPO, PVC, and EPDM.</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Metal Roofs</a:t>
            </a:r>
            <a:endParaRPr lang="en-US" sz="3000" dirty="0"/>
          </a:p>
        </p:txBody>
      </p:sp>
      <p:pic>
        <p:nvPicPr>
          <p:cNvPr id="4" name="Photo" descr="Photo">    </p:cNvPr>
          <p:cNvPicPr>
            <a:picLocks noChangeAspect="1"/>
          </p:cNvPicPr>
          <p:nvPr/>
        </p:nvPicPr>
        <p:blipFill>
          <a:blip r:embed="rId1"/>
          <a:stretch>
            <a:fillRect/>
          </a:stretch>
        </p:blipFill>
        <p:spPr>
          <a:xfrm>
            <a:off x="548640" y="1586314"/>
            <a:ext cx="11094415" cy="3868253"/>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Standing seam and screw-down metal.</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Roofs Coated Before</a:t>
            </a:r>
            <a:endParaRPr lang="en-US" sz="3000" dirty="0"/>
          </a:p>
        </p:txBody>
      </p:sp>
      <p:pic>
        <p:nvPicPr>
          <p:cNvPr id="4" name="Photo" descr="Photo">    </p:cNvPr>
          <p:cNvPicPr>
            <a:picLocks noChangeAspect="1"/>
          </p:cNvPicPr>
          <p:nvPr/>
        </p:nvPicPr>
        <p:blipFill>
          <a:blip r:embed="rId1"/>
          <a:stretch>
            <a:fillRect/>
          </a:stretch>
        </p:blipFill>
        <p:spPr>
          <a:xfrm>
            <a:off x="932705" y="1417320"/>
            <a:ext cx="10326285"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Old coatings can be restored — after an adhesion test.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Spray Foam (SPF) Roofs</a:t>
            </a:r>
            <a:endParaRPr lang="en-US" sz="3000" dirty="0"/>
          </a:p>
        </p:txBody>
      </p:sp>
      <p:pic>
        <p:nvPicPr>
          <p:cNvPr id="4" name="Photo" descr="Photo">    </p:cNvPr>
          <p:cNvPicPr>
            <a:picLocks noChangeAspect="1"/>
          </p:cNvPicPr>
          <p:nvPr/>
        </p:nvPicPr>
        <p:blipFill>
          <a:blip r:embed="rId1"/>
          <a:stretch>
            <a:fillRect/>
          </a:stretch>
        </p:blipFill>
        <p:spPr>
          <a:xfrm>
            <a:off x="548640" y="1482766"/>
            <a:ext cx="11094415" cy="4075349"/>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Silicone protects foam from the sun.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Tar &amp; Gravel Roofs</a:t>
            </a:r>
            <a:endParaRPr lang="en-US" sz="3000" dirty="0"/>
          </a:p>
        </p:txBody>
      </p:sp>
      <p:pic>
        <p:nvPicPr>
          <p:cNvPr id="4" name="Photo" descr="Photo">    </p:cNvPr>
          <p:cNvPicPr>
            <a:picLocks noChangeAspect="1"/>
          </p:cNvPicPr>
          <p:nvPr/>
        </p:nvPicPr>
        <p:blipFill>
          <a:blip r:embed="rId1"/>
          <a:stretch>
            <a:fillRect/>
          </a:stretch>
        </p:blipFill>
        <p:spPr>
          <a:xfrm>
            <a:off x="1015848" y="1417320"/>
            <a:ext cx="1016000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Not ready as-is (red X). The gravel has to be dealt with first.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Tar &amp; Gravel + Spray Foam</a:t>
            </a:r>
            <a:endParaRPr lang="en-US" sz="3000" dirty="0"/>
          </a:p>
        </p:txBody>
      </p:sp>
      <p:pic>
        <p:nvPicPr>
          <p:cNvPr id="4" name="Photo" descr="Photo">    </p:cNvPr>
          <p:cNvPicPr>
            <a:picLocks noChangeAspect="1"/>
          </p:cNvPicPr>
          <p:nvPr/>
        </p:nvPicPr>
        <p:blipFill>
          <a:blip r:embed="rId1"/>
          <a:stretch>
            <a:fillRect/>
          </a:stretch>
        </p:blipFill>
        <p:spPr>
          <a:xfrm>
            <a:off x="548640" y="1586314"/>
            <a:ext cx="11094415" cy="3868253"/>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Spray foam over the old gravel roof, then coat it.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Silicone Restoration Steps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Repair first, then restore.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The Steps for a Warranted Job</a:t>
            </a:r>
            <a:endParaRPr lang="en-US" sz="3000" dirty="0"/>
          </a:p>
        </p:txBody>
      </p:sp>
      <p:sp>
        <p:nvSpPr>
          <p:cNvPr id="4" name="Step 1 card"/>
          <p:cNvSpPr/>
          <p:nvPr/>
        </p:nvSpPr>
        <p:spPr>
          <a:xfrm>
            <a:off x="548640" y="1554480"/>
            <a:ext cx="3515258" cy="2057400"/>
          </a:xfrm>
          <a:prstGeom prst="roundRect">
            <a:avLst>
              <a:gd name="adj" fmla="val 4444"/>
            </a:avLst>
          </a:prstGeom>
          <a:solidFill>
            <a:schemeClr val="bg2"/>
          </a:solidFill>
          <a:ln/>
        </p:spPr>
      </p:sp>
      <p:sp>
        <p:nvSpPr>
          <p:cNvPr id="5" name="Step 1 number"/>
          <p:cNvSpPr/>
          <p:nvPr/>
        </p:nvSpPr>
        <p:spPr>
          <a:xfrm>
            <a:off x="822960" y="1828800"/>
            <a:ext cx="685800" cy="685800"/>
          </a:xfrm>
          <a:prstGeom prst="ellipse">
            <a:avLst/>
          </a:prstGeom>
          <a:solidFill>
            <a:schemeClr val="accent1"/>
          </a:solidFill>
          <a:ln/>
        </p:spPr>
      </p:sp>
      <p:sp>
        <p:nvSpPr>
          <p:cNvPr id="6" name="Text 4"/>
          <p:cNvSpPr txBox="1"/>
          <p:nvPr/>
        </p:nvSpPr>
        <p:spPr>
          <a:xfrm>
            <a:off x="822960"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5"/>
          <p:cNvSpPr txBox="1"/>
          <p:nvPr/>
        </p:nvSpPr>
        <p:spPr>
          <a:xfrm>
            <a:off x="822960"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Walk the roof</a:t>
            </a:r>
            <a:endParaRPr lang="en-US" sz="2100" dirty="0"/>
          </a:p>
        </p:txBody>
      </p:sp>
      <p:sp>
        <p:nvSpPr>
          <p:cNvPr id="8" name="Text 6"/>
          <p:cNvSpPr txBox="1"/>
          <p:nvPr/>
        </p:nvSpPr>
        <p:spPr>
          <a:xfrm>
            <a:off x="822960"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Look it over. (If needed)</a:t>
            </a:r>
            <a:endParaRPr lang="en-US" sz="1600" dirty="0"/>
          </a:p>
        </p:txBody>
      </p:sp>
      <p:sp>
        <p:nvSpPr>
          <p:cNvPr id="9" name="Step 2 card"/>
          <p:cNvSpPr/>
          <p:nvPr/>
        </p:nvSpPr>
        <p:spPr>
          <a:xfrm>
            <a:off x="4338218" y="1554480"/>
            <a:ext cx="3515258" cy="2057400"/>
          </a:xfrm>
          <a:prstGeom prst="roundRect">
            <a:avLst>
              <a:gd name="adj" fmla="val 4444"/>
            </a:avLst>
          </a:prstGeom>
          <a:solidFill>
            <a:schemeClr val="bg2"/>
          </a:solidFill>
          <a:ln/>
        </p:spPr>
      </p:sp>
      <p:sp>
        <p:nvSpPr>
          <p:cNvPr id="10" name="Step 2 number"/>
          <p:cNvSpPr/>
          <p:nvPr/>
        </p:nvSpPr>
        <p:spPr>
          <a:xfrm>
            <a:off x="4612538" y="1828800"/>
            <a:ext cx="685800" cy="685800"/>
          </a:xfrm>
          <a:prstGeom prst="ellipse">
            <a:avLst/>
          </a:prstGeom>
          <a:solidFill>
            <a:schemeClr val="accent1"/>
          </a:solidFill>
          <a:ln/>
        </p:spPr>
      </p:sp>
      <p:sp>
        <p:nvSpPr>
          <p:cNvPr id="11" name="Text 9"/>
          <p:cNvSpPr txBox="1"/>
          <p:nvPr/>
        </p:nvSpPr>
        <p:spPr>
          <a:xfrm>
            <a:off x="4612538"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2" name="Text 10"/>
          <p:cNvSpPr txBox="1"/>
          <p:nvPr/>
        </p:nvSpPr>
        <p:spPr>
          <a:xfrm>
            <a:off x="4612538"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Adhesion test</a:t>
            </a:r>
            <a:endParaRPr lang="en-US" sz="2100" dirty="0"/>
          </a:p>
        </p:txBody>
      </p:sp>
      <p:sp>
        <p:nvSpPr>
          <p:cNvPr id="13" name="Text 11"/>
          <p:cNvSpPr txBox="1"/>
          <p:nvPr/>
        </p:nvSpPr>
        <p:spPr>
          <a:xfrm>
            <a:off x="4612538"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Will the coating stick? (If needed)</a:t>
            </a:r>
            <a:endParaRPr lang="en-US" sz="1600" dirty="0"/>
          </a:p>
        </p:txBody>
      </p:sp>
      <p:sp>
        <p:nvSpPr>
          <p:cNvPr id="14" name="Step 3 card"/>
          <p:cNvSpPr/>
          <p:nvPr/>
        </p:nvSpPr>
        <p:spPr>
          <a:xfrm>
            <a:off x="8127797" y="1554480"/>
            <a:ext cx="3515258" cy="2057400"/>
          </a:xfrm>
          <a:prstGeom prst="roundRect">
            <a:avLst>
              <a:gd name="adj" fmla="val 4444"/>
            </a:avLst>
          </a:prstGeom>
          <a:solidFill>
            <a:schemeClr val="bg2"/>
          </a:solidFill>
          <a:ln/>
        </p:spPr>
      </p:sp>
      <p:sp>
        <p:nvSpPr>
          <p:cNvPr id="15" name="Step 3 number"/>
          <p:cNvSpPr/>
          <p:nvPr/>
        </p:nvSpPr>
        <p:spPr>
          <a:xfrm>
            <a:off x="8402117" y="1828800"/>
            <a:ext cx="685800" cy="685800"/>
          </a:xfrm>
          <a:prstGeom prst="ellipse">
            <a:avLst/>
          </a:prstGeom>
          <a:solidFill>
            <a:schemeClr val="accent1"/>
          </a:solidFill>
          <a:ln/>
        </p:spPr>
      </p:sp>
      <p:sp>
        <p:nvSpPr>
          <p:cNvPr id="16" name="Text 14"/>
          <p:cNvSpPr txBox="1"/>
          <p:nvPr/>
        </p:nvSpPr>
        <p:spPr>
          <a:xfrm>
            <a:off x="8402117"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7" name="Text 15"/>
          <p:cNvSpPr txBox="1"/>
          <p:nvPr/>
        </p:nvSpPr>
        <p:spPr>
          <a:xfrm>
            <a:off x="8402117"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Moisture survey</a:t>
            </a:r>
            <a:endParaRPr lang="en-US" sz="2100" dirty="0"/>
          </a:p>
        </p:txBody>
      </p:sp>
      <p:sp>
        <p:nvSpPr>
          <p:cNvPr id="18" name="Text 16"/>
          <p:cNvSpPr txBox="1"/>
          <p:nvPr/>
        </p:nvSpPr>
        <p:spPr>
          <a:xfrm>
            <a:off x="8402117"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Is it wet inside? (If needed)</a:t>
            </a:r>
            <a:endParaRPr lang="en-US" sz="1600" dirty="0"/>
          </a:p>
        </p:txBody>
      </p:sp>
      <p:sp>
        <p:nvSpPr>
          <p:cNvPr id="19" name="Step 4 card"/>
          <p:cNvSpPr/>
          <p:nvPr/>
        </p:nvSpPr>
        <p:spPr>
          <a:xfrm>
            <a:off x="548640" y="3886200"/>
            <a:ext cx="3515258" cy="2057400"/>
          </a:xfrm>
          <a:prstGeom prst="roundRect">
            <a:avLst>
              <a:gd name="adj" fmla="val 4444"/>
            </a:avLst>
          </a:prstGeom>
          <a:solidFill>
            <a:schemeClr val="bg2"/>
          </a:solidFill>
          <a:ln/>
        </p:spPr>
      </p:sp>
      <p:sp>
        <p:nvSpPr>
          <p:cNvPr id="20" name="Step 4 number"/>
          <p:cNvSpPr/>
          <p:nvPr/>
        </p:nvSpPr>
        <p:spPr>
          <a:xfrm>
            <a:off x="822960" y="4160520"/>
            <a:ext cx="685800" cy="685800"/>
          </a:xfrm>
          <a:prstGeom prst="ellipse">
            <a:avLst/>
          </a:prstGeom>
          <a:solidFill>
            <a:schemeClr val="accent1"/>
          </a:solidFill>
          <a:ln/>
        </p:spPr>
      </p:sp>
      <p:sp>
        <p:nvSpPr>
          <p:cNvPr id="21" name="Text 19"/>
          <p:cNvSpPr txBox="1"/>
          <p:nvPr/>
        </p:nvSpPr>
        <p:spPr>
          <a:xfrm>
            <a:off x="822960"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2" name="Text 20"/>
          <p:cNvSpPr txBox="1"/>
          <p:nvPr/>
        </p:nvSpPr>
        <p:spPr>
          <a:xfrm>
            <a:off x="822960"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Fix the roof</a:t>
            </a:r>
            <a:endParaRPr lang="en-US" sz="2100" dirty="0"/>
          </a:p>
        </p:txBody>
      </p:sp>
      <p:sp>
        <p:nvSpPr>
          <p:cNvPr id="23" name="Text 21"/>
          <p:cNvSpPr txBox="1"/>
          <p:nvPr/>
        </p:nvSpPr>
        <p:spPr>
          <a:xfrm>
            <a:off x="822960"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Repair what's broken</a:t>
            </a:r>
            <a:endParaRPr lang="en-US" sz="1600" dirty="0"/>
          </a:p>
        </p:txBody>
      </p:sp>
      <p:sp>
        <p:nvSpPr>
          <p:cNvPr id="24" name="Step 5 card"/>
          <p:cNvSpPr/>
          <p:nvPr/>
        </p:nvSpPr>
        <p:spPr>
          <a:xfrm>
            <a:off x="4338218" y="3886200"/>
            <a:ext cx="3515258" cy="2057400"/>
          </a:xfrm>
          <a:prstGeom prst="roundRect">
            <a:avLst>
              <a:gd name="adj" fmla="val 4444"/>
            </a:avLst>
          </a:prstGeom>
          <a:solidFill>
            <a:schemeClr val="bg2"/>
          </a:solidFill>
          <a:ln/>
        </p:spPr>
      </p:sp>
      <p:sp>
        <p:nvSpPr>
          <p:cNvPr id="25" name="Step 5 number"/>
          <p:cNvSpPr/>
          <p:nvPr/>
        </p:nvSpPr>
        <p:spPr>
          <a:xfrm>
            <a:off x="4612538" y="4160520"/>
            <a:ext cx="685800" cy="685800"/>
          </a:xfrm>
          <a:prstGeom prst="ellipse">
            <a:avLst/>
          </a:prstGeom>
          <a:solidFill>
            <a:schemeClr val="accent1"/>
          </a:solidFill>
          <a:ln/>
        </p:spPr>
      </p:sp>
      <p:sp>
        <p:nvSpPr>
          <p:cNvPr id="26" name="Text 24"/>
          <p:cNvSpPr txBox="1"/>
          <p:nvPr/>
        </p:nvSpPr>
        <p:spPr>
          <a:xfrm>
            <a:off x="4612538"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7" name="Text 25"/>
          <p:cNvSpPr txBox="1"/>
          <p:nvPr/>
        </p:nvSpPr>
        <p:spPr>
          <a:xfrm>
            <a:off x="4612538"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Restore</a:t>
            </a:r>
            <a:endParaRPr lang="en-US" sz="2100" dirty="0"/>
          </a:p>
        </p:txBody>
      </p:sp>
      <p:sp>
        <p:nvSpPr>
          <p:cNvPr id="28" name="Text 26"/>
          <p:cNvSpPr txBox="1"/>
          <p:nvPr/>
        </p:nvSpPr>
        <p:spPr>
          <a:xfrm>
            <a:off x="4612538"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Apply the coating system</a:t>
            </a:r>
            <a:endParaRPr lang="en-US" sz="1600" dirty="0"/>
          </a:p>
        </p:txBody>
      </p:sp>
      <p:sp>
        <p:nvSpPr>
          <p:cNvPr id="29" name="Step 6 card"/>
          <p:cNvSpPr/>
          <p:nvPr/>
        </p:nvSpPr>
        <p:spPr>
          <a:xfrm>
            <a:off x="8127797" y="3886200"/>
            <a:ext cx="3515258" cy="2057400"/>
          </a:xfrm>
          <a:prstGeom prst="roundRect">
            <a:avLst>
              <a:gd name="adj" fmla="val 4444"/>
            </a:avLst>
          </a:prstGeom>
          <a:solidFill>
            <a:schemeClr val="bg2"/>
          </a:solidFill>
          <a:ln/>
        </p:spPr>
      </p:sp>
      <p:sp>
        <p:nvSpPr>
          <p:cNvPr id="30" name="Step 6 number"/>
          <p:cNvSpPr/>
          <p:nvPr/>
        </p:nvSpPr>
        <p:spPr>
          <a:xfrm>
            <a:off x="8402117" y="4160520"/>
            <a:ext cx="685800" cy="685800"/>
          </a:xfrm>
          <a:prstGeom prst="ellipse">
            <a:avLst/>
          </a:prstGeom>
          <a:solidFill>
            <a:schemeClr val="accent1"/>
          </a:solidFill>
          <a:ln/>
        </p:spPr>
      </p:sp>
      <p:sp>
        <p:nvSpPr>
          <p:cNvPr id="31" name="Text 29"/>
          <p:cNvSpPr txBox="1"/>
          <p:nvPr/>
        </p:nvSpPr>
        <p:spPr>
          <a:xfrm>
            <a:off x="8402117"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6</a:t>
            </a:r>
            <a:endParaRPr lang="en-US" sz="2600" dirty="0"/>
          </a:p>
        </p:txBody>
      </p:sp>
      <p:sp>
        <p:nvSpPr>
          <p:cNvPr id="32" name="Text 30"/>
          <p:cNvSpPr txBox="1"/>
          <p:nvPr/>
        </p:nvSpPr>
        <p:spPr>
          <a:xfrm>
            <a:off x="8402117"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Final inspection</a:t>
            </a:r>
            <a:endParaRPr lang="en-US" sz="2100" dirty="0"/>
          </a:p>
        </p:txBody>
      </p:sp>
      <p:sp>
        <p:nvSpPr>
          <p:cNvPr id="33" name="Text 31"/>
          <p:cNvSpPr txBox="1"/>
          <p:nvPr/>
        </p:nvSpPr>
        <p:spPr>
          <a:xfrm>
            <a:off x="8402117"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Check the work. (If needed)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1: Walk the Roof</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Gold Seal jobs</a:t>
            </a:r>
            <a:r>
              <a:rPr lang="en-US" sz="2400" dirty="0">
                <a:solidFill>
                  <a:schemeClr val="tx1"/>
                </a:solidFill>
                <a:latin typeface="Calibri" pitchFamily="34" charset="0"/>
                <a:ea typeface="Calibri" pitchFamily="34" charset="-122"/>
                <a:cs typeface="Calibri" pitchFamily="34" charset="-120"/>
              </a:rPr>
              <a:t> — best done with a Henry rep</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It's free</a:t>
            </a:r>
            <a:r>
              <a:rPr lang="en-US" sz="2400" dirty="0">
                <a:solidFill>
                  <a:schemeClr val="tx1"/>
                </a:solidFill>
                <a:latin typeface="Calibri" pitchFamily="34" charset="0"/>
                <a:ea typeface="Calibri" pitchFamily="34" charset="-122"/>
                <a:cs typeface="Calibri" pitchFamily="34" charset="-120"/>
              </a:rPr>
              <a:t> — no charge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We just need a way onto the roof</a:t>
            </a:r>
            <a:endParaRPr lang="en-US" sz="2400" dirty="0"/>
          </a:p>
        </p:txBody>
      </p:sp>
      <p:pic>
        <p:nvPicPr>
          <p:cNvPr id="5" name="Photo" descr="Photo">    </p:cNvPr>
          <p:cNvPicPr>
            <a:picLocks noChangeAspect="1"/>
          </p:cNvPicPr>
          <p:nvPr/>
        </p:nvPicPr>
        <p:blipFill>
          <a:blip r:embed="rId1"/>
          <a:stretch>
            <a:fillRect/>
          </a:stretch>
        </p:blipFill>
        <p:spPr>
          <a:xfrm>
            <a:off x="6217920" y="2613240"/>
            <a:ext cx="5425135" cy="24087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2: Adhesion Test — Will It Stick?</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Checks that the coating will stick to this roof</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Required on</a:t>
            </a:r>
            <a:r>
              <a:rPr lang="en-US" sz="2400" dirty="0">
                <a:solidFill>
                  <a:schemeClr val="tx1"/>
                </a:solidFill>
                <a:latin typeface="Calibri" pitchFamily="34" charset="0"/>
                <a:ea typeface="Calibri" pitchFamily="34" charset="-122"/>
                <a:cs typeface="Calibri" pitchFamily="34" charset="-120"/>
              </a:rPr>
              <a:t> — single-ply, metal, smooth asphalt, and roofs coated before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Best result</a:t>
            </a:r>
            <a:r>
              <a:rPr lang="en-US" sz="2400" dirty="0">
                <a:solidFill>
                  <a:schemeClr val="tx1"/>
                </a:solidFill>
                <a:latin typeface="Calibri" pitchFamily="34" charset="0"/>
                <a:ea typeface="Calibri" pitchFamily="34" charset="-122"/>
                <a:cs typeface="Calibri" pitchFamily="34" charset="-120"/>
              </a:rPr>
              <a:t> — the coating tears before it lets go (called "cohesive failure")</a:t>
            </a:r>
            <a:endParaRPr lang="en-US" sz="2400" dirty="0"/>
          </a:p>
        </p:txBody>
      </p:sp>
      <p:pic>
        <p:nvPicPr>
          <p:cNvPr id="5" name="Photo" descr="Photo">    </p:cNvPr>
          <p:cNvPicPr>
            <a:picLocks noChangeAspect="1"/>
          </p:cNvPicPr>
          <p:nvPr/>
        </p:nvPicPr>
        <p:blipFill>
          <a:blip r:embed="rId1"/>
          <a:stretch>
            <a:fillRect/>
          </a:stretch>
        </p:blipFill>
        <p:spPr>
          <a:xfrm>
            <a:off x="6217920" y="2768761"/>
            <a:ext cx="5425135" cy="209771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How to Do the Pull Test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Cut</a:t>
            </a:r>
            <a:r>
              <a:rPr lang="en-US" sz="2400" dirty="0">
                <a:solidFill>
                  <a:schemeClr val="tx1"/>
                </a:solidFill>
                <a:latin typeface="Calibri" pitchFamily="34" charset="0"/>
                <a:ea typeface="Calibri" pitchFamily="34" charset="-122"/>
                <a:cs typeface="Calibri" pitchFamily="34" charset="-120"/>
              </a:rPr>
              <a:t> — slice along both sides of the test strip</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Pull</a:t>
            </a:r>
            <a:r>
              <a:rPr lang="en-US" sz="2400" dirty="0">
                <a:solidFill>
                  <a:schemeClr val="tx1"/>
                </a:solidFill>
                <a:latin typeface="Calibri" pitchFamily="34" charset="0"/>
                <a:ea typeface="Calibri" pitchFamily="34" charset="-122"/>
                <a:cs typeface="Calibri" pitchFamily="34" charset="-120"/>
              </a:rPr>
              <a:t> — lift it up and back, at 90° to 135°</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Measure</a:t>
            </a:r>
            <a:r>
              <a:rPr lang="en-US" sz="2400" dirty="0">
                <a:solidFill>
                  <a:schemeClr val="tx1"/>
                </a:solidFill>
                <a:latin typeface="Calibri" pitchFamily="34" charset="0"/>
                <a:ea typeface="Calibri" pitchFamily="34" charset="-122"/>
                <a:cs typeface="Calibri" pitchFamily="34" charset="-120"/>
              </a:rPr>
              <a:t> — it must hold at least 2.0 lbs per inch</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Pass</a:t>
            </a:r>
            <a:r>
              <a:rPr lang="en-US" sz="2400" dirty="0">
                <a:solidFill>
                  <a:schemeClr val="tx1"/>
                </a:solidFill>
                <a:latin typeface="Calibri" pitchFamily="34" charset="0"/>
                <a:ea typeface="Calibri" pitchFamily="34" charset="-122"/>
                <a:cs typeface="Calibri" pitchFamily="34" charset="-120"/>
              </a:rPr>
              <a:t> — the coating tears apart (cohesive)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Fail</a:t>
            </a:r>
            <a:r>
              <a:rPr lang="en-US" sz="2400" dirty="0">
                <a:solidFill>
                  <a:schemeClr val="tx1"/>
                </a:solidFill>
                <a:latin typeface="Calibri" pitchFamily="34" charset="0"/>
                <a:ea typeface="Calibri" pitchFamily="34" charset="-122"/>
                <a:cs typeface="Calibri" pitchFamily="34" charset="-120"/>
              </a:rPr>
              <a:t> — the coating peels off clean (adhesive)</a:t>
            </a:r>
            <a:endParaRPr lang="en-US" sz="2400" dirty="0"/>
          </a:p>
        </p:txBody>
      </p:sp>
      <p:pic>
        <p:nvPicPr>
          <p:cNvPr id="5" name="Photo" descr="Photo">    </p:cNvPr>
          <p:cNvPicPr>
            <a:picLocks noChangeAspect="1"/>
          </p:cNvPicPr>
          <p:nvPr/>
        </p:nvPicPr>
        <p:blipFill>
          <a:blip r:embed="rId1"/>
          <a:stretch>
            <a:fillRect/>
          </a:stretch>
        </p:blipFill>
        <p:spPr>
          <a:xfrm>
            <a:off x="6217920" y="2714509"/>
            <a:ext cx="5425135" cy="220622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3: Moisture Survey — Is It Wet Inside?</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Find wet insulation</a:t>
            </a:r>
            <a:r>
              <a:rPr lang="en-US" sz="2000" dirty="0">
                <a:solidFill>
                  <a:schemeClr val="tx1"/>
                </a:solidFill>
                <a:latin typeface="Calibri" pitchFamily="34" charset="0"/>
                <a:ea typeface="Calibri" pitchFamily="34" charset="-122"/>
                <a:cs typeface="Calibri" pitchFamily="34" charset="-120"/>
              </a:rPr>
              <a:t> — infrared scans and core cuts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More than 25% wet</a:t>
            </a:r>
            <a:r>
              <a:rPr lang="en-US" sz="2000" dirty="0">
                <a:solidFill>
                  <a:schemeClr val="tx1"/>
                </a:solidFill>
                <a:latin typeface="Calibri" pitchFamily="34" charset="0"/>
                <a:ea typeface="Calibri" pitchFamily="34" charset="-122"/>
                <a:cs typeface="Calibri" pitchFamily="34" charset="-120"/>
              </a:rPr>
              <a:t> — not a candidate. Replace the roof.</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Less than 25% wet</a:t>
            </a:r>
            <a:r>
              <a:rPr lang="en-US" sz="2000" dirty="0">
                <a:solidFill>
                  <a:schemeClr val="tx1"/>
                </a:solidFill>
                <a:latin typeface="Calibri" pitchFamily="34" charset="0"/>
                <a:ea typeface="Calibri" pitchFamily="34" charset="-122"/>
                <a:cs typeface="Calibri" pitchFamily="34" charset="-120"/>
              </a:rPr>
              <a:t> — cut out the wet areas and replace them</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Test methods</a:t>
            </a:r>
            <a:r>
              <a:rPr lang="en-US" sz="2000" dirty="0">
                <a:solidFill>
                  <a:schemeClr val="tx1"/>
                </a:solidFill>
                <a:latin typeface="Calibri" pitchFamily="34" charset="0"/>
                <a:ea typeface="Calibri" pitchFamily="34" charset="-122"/>
                <a:cs typeface="Calibri" pitchFamily="34" charset="-120"/>
              </a:rPr>
              <a:t> — nuclear, infrared, impedance, or cores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You need</a:t>
            </a:r>
            <a:r>
              <a:rPr lang="en-US" sz="2000" dirty="0">
                <a:solidFill>
                  <a:schemeClr val="tx1"/>
                </a:solidFill>
                <a:latin typeface="Calibri" pitchFamily="34" charset="0"/>
                <a:ea typeface="Calibri" pitchFamily="34" charset="-122"/>
                <a:cs typeface="Calibri" pitchFamily="34" charset="-120"/>
              </a:rPr>
              <a:t> — a roof map and NRCA guidelines</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Not needed on metal roofs</a:t>
            </a:r>
            <a:endParaRPr lang="en-US" sz="2000" dirty="0"/>
          </a:p>
        </p:txBody>
      </p:sp>
      <p:pic>
        <p:nvPicPr>
          <p:cNvPr id="5" name="Photo" descr="Photo">    </p:cNvPr>
          <p:cNvPicPr>
            <a:picLocks noChangeAspect="1"/>
          </p:cNvPicPr>
          <p:nvPr/>
        </p:nvPicPr>
        <p:blipFill>
          <a:blip r:embed="rId1"/>
          <a:stretch>
            <a:fillRect/>
          </a:stretch>
        </p:blipFill>
        <p:spPr>
          <a:xfrm>
            <a:off x="6217920" y="2230768"/>
            <a:ext cx="5425135" cy="3173704"/>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Drone Moisture Scan</a:t>
            </a:r>
            <a:endParaRPr lang="en-US" sz="3000" dirty="0"/>
          </a:p>
        </p:txBody>
      </p:sp>
      <p:pic>
        <p:nvPicPr>
          <p:cNvPr id="4" name="Photo" descr="Photo">    </p:cNvPr>
          <p:cNvPicPr>
            <a:picLocks noChangeAspect="1"/>
          </p:cNvPicPr>
          <p:nvPr/>
        </p:nvPicPr>
        <p:blipFill>
          <a:blip r:embed="rId1"/>
          <a:stretch>
            <a:fillRect/>
          </a:stretch>
        </p:blipFill>
        <p:spPr>
          <a:xfrm>
            <a:off x="1242494" y="1417320"/>
            <a:ext cx="9706708"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Hot spots on the heat scan can mean trapped water under the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4: Repair First, Then Restore</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Replace wet insulation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Replace damaged deck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Fill damaged spots with matching roof material</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The roof must be solid and watertight before you coat it</a:t>
            </a:r>
            <a:endParaRPr lang="en-US" sz="2400" dirty="0"/>
          </a:p>
        </p:txBody>
      </p:sp>
      <p:pic>
        <p:nvPicPr>
          <p:cNvPr id="5" name="Photo" descr="Photo">    </p:cNvPr>
          <p:cNvPicPr>
            <a:picLocks noChangeAspect="1"/>
          </p:cNvPicPr>
          <p:nvPr/>
        </p:nvPicPr>
        <p:blipFill>
          <a:blip r:embed="rId1"/>
          <a:stretch>
            <a:fillRect/>
          </a:stretch>
        </p:blipFill>
        <p:spPr>
          <a:xfrm>
            <a:off x="6217920" y="2622282"/>
            <a:ext cx="5425135" cy="239067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Complete Line of Products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One system, one brand — saves you time and money.</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Silicone Product Lineup</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Coating</a:t>
            </a:r>
            <a:r>
              <a:rPr lang="en-US" sz="2400" dirty="0">
                <a:solidFill>
                  <a:schemeClr val="tx1"/>
                </a:solidFill>
                <a:latin typeface="Calibri" pitchFamily="34" charset="0"/>
                <a:ea typeface="Calibri" pitchFamily="34" charset="-122"/>
                <a:cs typeface="Calibri" pitchFamily="34" charset="-120"/>
              </a:rPr>
              <a:t> — Pro-Grade 988 Silicone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Sealers</a:t>
            </a:r>
            <a:r>
              <a:rPr lang="en-US" sz="2400" dirty="0">
                <a:solidFill>
                  <a:schemeClr val="tx1"/>
                </a:solidFill>
                <a:latin typeface="Calibri" pitchFamily="34" charset="0"/>
                <a:ea typeface="Calibri" pitchFamily="34" charset="-122"/>
                <a:cs typeface="Calibri" pitchFamily="34" charset="-120"/>
              </a:rPr>
              <a:t> — 957 Fibered, 923 Butter Grade, 928 Pitch Pocket, 920 White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Reinforcement</a:t>
            </a:r>
            <a:r>
              <a:rPr lang="en-US" sz="2400" dirty="0">
                <a:solidFill>
                  <a:schemeClr val="tx1"/>
                </a:solidFill>
                <a:latin typeface="Calibri" pitchFamily="34" charset="0"/>
                <a:ea typeface="Calibri" pitchFamily="34" charset="-122"/>
                <a:cs typeface="Calibri" pitchFamily="34" charset="-120"/>
              </a:rPr>
              <a:t> — Seal-Tek Micro Fibers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Basecoat</a:t>
            </a:r>
            <a:r>
              <a:rPr lang="en-US" sz="2400" dirty="0">
                <a:solidFill>
                  <a:schemeClr val="tx1"/>
                </a:solidFill>
                <a:latin typeface="Calibri" pitchFamily="34" charset="0"/>
                <a:ea typeface="Calibri" pitchFamily="34" charset="-122"/>
                <a:cs typeface="Calibri" pitchFamily="34" charset="-120"/>
              </a:rPr>
              <a:t> — 294 Basecoat &amp; Sealer</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Primers</a:t>
            </a:r>
            <a:r>
              <a:rPr lang="en-US" sz="2400" dirty="0">
                <a:solidFill>
                  <a:schemeClr val="tx1"/>
                </a:solidFill>
                <a:latin typeface="Calibri" pitchFamily="34" charset="0"/>
                <a:ea typeface="Calibri" pitchFamily="34" charset="-122"/>
                <a:cs typeface="Calibri" pitchFamily="34" charset="-120"/>
              </a:rPr>
              <a:t> — Prime-Tek TPO, Prime-Tek GP, 941 Adhesion</a:t>
            </a:r>
            <a:endParaRPr lang="en-US" sz="2400" dirty="0"/>
          </a:p>
        </p:txBody>
      </p:sp>
      <p:pic>
        <p:nvPicPr>
          <p:cNvPr id="5" name="Photo" descr="Photo">    </p:cNvPr>
          <p:cNvPicPr>
            <a:picLocks noChangeAspect="1"/>
          </p:cNvPicPr>
          <p:nvPr/>
        </p:nvPicPr>
        <p:blipFill>
          <a:blip r:embed="rId1"/>
          <a:stretch>
            <a:fillRect/>
          </a:stretch>
        </p:blipFill>
        <p:spPr>
          <a:xfrm>
            <a:off x="6217920" y="1832925"/>
            <a:ext cx="5425135" cy="396939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The 988 Silicone Difference</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One coat. Rain-safe in 15 minutes.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988: What It Is</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Silicone rubber coating. No solvent.</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Goes on asphalt, single-ply, metal, foam, and coated roofs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One coat</a:t>
            </a:r>
            <a:r>
              <a:rPr lang="en-US" sz="2000" dirty="0">
                <a:solidFill>
                  <a:schemeClr val="tx1"/>
                </a:solidFill>
                <a:latin typeface="Calibri" pitchFamily="34" charset="0"/>
                <a:ea typeface="Calibri" pitchFamily="34" charset="-122"/>
                <a:cs typeface="Calibri" pitchFamily="34" charset="-120"/>
              </a:rPr>
              <a:t> — up to 50 mils</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Usually no primer needed*</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Rain-safe in 15 minutes</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No fabric needed</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Stays whiter longer</a:t>
            </a:r>
            <a:r>
              <a:rPr lang="en-US" sz="2000" dirty="0">
                <a:solidFill>
                  <a:schemeClr val="tx1"/>
                </a:solidFill>
                <a:latin typeface="Calibri" pitchFamily="34" charset="0"/>
                <a:ea typeface="Calibri" pitchFamily="34" charset="-122"/>
                <a:cs typeface="Calibri" pitchFamily="34" charset="-120"/>
              </a:rPr>
              <a:t> — new dirt-resistant formula</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Passes ASTM D7281 (water test)</a:t>
            </a:r>
            <a:endParaRPr lang="en-US" sz="2000" dirty="0"/>
          </a:p>
        </p:txBody>
      </p:sp>
      <p:pic>
        <p:nvPicPr>
          <p:cNvPr id="5" name="Photo" descr="Photo">    </p:cNvPr>
          <p:cNvPicPr>
            <a:picLocks noChangeAspect="1"/>
          </p:cNvPicPr>
          <p:nvPr/>
        </p:nvPicPr>
        <p:blipFill>
          <a:blip r:embed="rId1"/>
          <a:stretch>
            <a:fillRect/>
          </a:stretch>
        </p:blipFill>
        <p:spPr>
          <a:xfrm>
            <a:off x="7059577" y="1463040"/>
            <a:ext cx="3741821" cy="4343400"/>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*Do an adhesion test first. Over asphalt, use 294 Basecoat &amp; Sealer to stop stains.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988: More Facts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No chalk filler</a:t>
            </a:r>
            <a:r>
              <a:rPr lang="en-US" sz="2200" dirty="0">
                <a:solidFill>
                  <a:schemeClr val="tx1"/>
                </a:solidFill>
                <a:latin typeface="Calibri" pitchFamily="34" charset="0"/>
                <a:ea typeface="Calibri" pitchFamily="34" charset="-122"/>
                <a:cs typeface="Calibri" pitchFamily="34" charset="-120"/>
              </a:rPr>
              <a:t> — some brands are up to 50% chalk</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Safe for rainwater collection (NSF P151)</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Low fumes</a:t>
            </a:r>
            <a:r>
              <a:rPr lang="en-US" sz="2200" dirty="0">
                <a:solidFill>
                  <a:schemeClr val="tx1"/>
                </a:solidFill>
                <a:latin typeface="Calibri" pitchFamily="34" charset="0"/>
                <a:ea typeface="Calibri" pitchFamily="34" charset="-122"/>
                <a:cs typeface="Calibri" pitchFamily="34" charset="-120"/>
              </a:rPr>
              <a:t> — under 10 g/L VOC</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2-year shelf life</a:t>
            </a:r>
            <a:r>
              <a:rPr lang="en-US" sz="2200" dirty="0">
                <a:solidFill>
                  <a:schemeClr val="tx1"/>
                </a:solidFill>
                <a:latin typeface="Calibri" pitchFamily="34" charset="0"/>
                <a:ea typeface="Calibri" pitchFamily="34" charset="-122"/>
                <a:cs typeface="Calibri" pitchFamily="34" charset="-120"/>
              </a:rPr>
              <a:t> — unopened, kept cool, dry, and shaded</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White, gray, tan</a:t>
            </a:r>
            <a:r>
              <a:rPr lang="en-US" sz="2200" dirty="0">
                <a:solidFill>
                  <a:schemeClr val="tx1"/>
                </a:solidFill>
                <a:latin typeface="Calibri" pitchFamily="34" charset="0"/>
                <a:ea typeface="Calibri" pitchFamily="34" charset="-122"/>
                <a:cs typeface="Calibri" pitchFamily="34" charset="-120"/>
              </a:rPr>
              <a:t> — premium and custom colors too</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5-gal pail or 55-gal drum</a:t>
            </a:r>
            <a:endParaRPr lang="en-US" sz="2200" dirty="0"/>
          </a:p>
        </p:txBody>
      </p:sp>
      <p:pic>
        <p:nvPicPr>
          <p:cNvPr id="5" name="Photo" descr="Photo">    </p:cNvPr>
          <p:cNvPicPr>
            <a:picLocks noChangeAspect="1"/>
          </p:cNvPicPr>
          <p:nvPr/>
        </p:nvPicPr>
        <p:blipFill>
          <a:blip r:embed="rId1"/>
          <a:stretch>
            <a:fillRect/>
          </a:stretch>
        </p:blipFill>
        <p:spPr>
          <a:xfrm>
            <a:off x="6816569" y="1463040"/>
            <a:ext cx="4227837"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988 Stays Cleaner</a:t>
            </a:r>
            <a:endParaRPr lang="en-US" sz="3000" dirty="0"/>
          </a:p>
        </p:txBody>
      </p:sp>
      <p:pic>
        <p:nvPicPr>
          <p:cNvPr id="4" name="Photo" descr="Photo">    </p:cNvPr>
          <p:cNvPicPr>
            <a:picLocks noChangeAspect="1"/>
          </p:cNvPicPr>
          <p:nvPr/>
        </p:nvPicPr>
        <p:blipFill>
          <a:blip r:embed="rId1"/>
          <a:stretch>
            <a:fillRect/>
          </a:stretch>
        </p:blipFill>
        <p:spPr>
          <a:xfrm>
            <a:off x="1242494" y="1417320"/>
            <a:ext cx="9706708"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Dirt test: Henry 988 vs. a competitor. Ours stays whiter, longer.</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Rain Can't Wash It Off</a:t>
            </a:r>
            <a:endParaRPr lang="en-US" sz="3000" dirty="0"/>
          </a:p>
        </p:txBody>
      </p:sp>
      <p:pic>
        <p:nvPicPr>
          <p:cNvPr id="4" name="Photo" descr="Photo">    </p:cNvPr>
          <p:cNvPicPr>
            <a:picLocks noChangeAspect="1"/>
          </p:cNvPicPr>
          <p:nvPr/>
        </p:nvPicPr>
        <p:blipFill>
          <a:blip r:embed="rId1"/>
          <a:stretch>
            <a:fillRect/>
          </a:stretch>
        </p:blipFill>
        <p:spPr>
          <a:xfrm>
            <a:off x="580673" y="1417320"/>
            <a:ext cx="1103035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Both dried 15 minutes, then 30 minutes of heavy rain. 988 held. The competitor didn't.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Why ASTM D7281 Matters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This test proves the coating is truly waterproof</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Seals the leak spots</a:t>
            </a:r>
            <a:r>
              <a:rPr lang="en-US" sz="2400" dirty="0">
                <a:solidFill>
                  <a:schemeClr val="tx1"/>
                </a:solidFill>
                <a:latin typeface="Calibri" pitchFamily="34" charset="0"/>
                <a:ea typeface="Calibri" pitchFamily="34" charset="-122"/>
                <a:cs typeface="Calibri" pitchFamily="34" charset="-120"/>
              </a:rPr>
              <a:t> — edges, pipes, and details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One seamless skin over the whole roof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Standing water can't get through</a:t>
            </a:r>
            <a:endParaRPr lang="en-US" sz="2400" dirty="0"/>
          </a:p>
        </p:txBody>
      </p:sp>
      <p:pic>
        <p:nvPicPr>
          <p:cNvPr id="5" name="Photo" descr="Photo">    </p:cNvPr>
          <p:cNvPicPr>
            <a:picLocks noChangeAspect="1"/>
          </p:cNvPicPr>
          <p:nvPr/>
        </p:nvPicPr>
        <p:blipFill>
          <a:blip r:embed="rId1"/>
          <a:stretch>
            <a:fillRect/>
          </a:stretch>
        </p:blipFill>
        <p:spPr>
          <a:xfrm>
            <a:off x="6217920" y="2631324"/>
            <a:ext cx="5425135" cy="237259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Silicone Sealers &amp; Primers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Seal the details with the right product.</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923 Butter Grade Silicone Sealer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Ready to use</a:t>
            </a:r>
            <a:r>
              <a:rPr lang="en-US" sz="2400" dirty="0">
                <a:solidFill>
                  <a:schemeClr val="tx1"/>
                </a:solidFill>
                <a:latin typeface="Calibri" pitchFamily="34" charset="0"/>
                <a:ea typeface="Calibri" pitchFamily="34" charset="-122"/>
                <a:cs typeface="Calibri" pitchFamily="34" charset="-120"/>
              </a:rPr>
              <a:t> — no mixing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Tough and flexible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Brush, trowel, or spreader</a:t>
            </a:r>
            <a:r>
              <a:rPr lang="en-US" sz="2400" dirty="0">
                <a:solidFill>
                  <a:schemeClr val="tx1"/>
                </a:solidFill>
                <a:latin typeface="Calibri" pitchFamily="34" charset="0"/>
                <a:ea typeface="Calibri" pitchFamily="34" charset="-122"/>
                <a:cs typeface="Calibri" pitchFamily="34" charset="-120"/>
              </a:rPr>
              <a:t> — up to 1/4" thick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Works on walls and flat areas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pipes, flashings, seams, fasteners,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White</a:t>
            </a:r>
            <a:r>
              <a:rPr lang="en-US" sz="2400" dirty="0">
                <a:solidFill>
                  <a:schemeClr val="tx1"/>
                </a:solidFill>
                <a:latin typeface="Calibri" pitchFamily="34" charset="0"/>
                <a:ea typeface="Calibri" pitchFamily="34" charset="-122"/>
                <a:cs typeface="Calibri" pitchFamily="34" charset="-120"/>
              </a:rPr>
              <a:t> — 2-gal pail</a:t>
            </a:r>
            <a:endParaRPr lang="en-US" sz="2400" dirty="0"/>
          </a:p>
        </p:txBody>
      </p:sp>
      <p:pic>
        <p:nvPicPr>
          <p:cNvPr id="5" name="Photo" descr="Photo">    </p:cNvPr>
          <p:cNvPicPr>
            <a:picLocks noChangeAspect="1"/>
          </p:cNvPicPr>
          <p:nvPr/>
        </p:nvPicPr>
        <p:blipFill>
          <a:blip r:embed="rId1"/>
          <a:stretch>
            <a:fillRect/>
          </a:stretch>
        </p:blipFill>
        <p:spPr>
          <a:xfrm>
            <a:off x="6217920" y="2633132"/>
            <a:ext cx="5425135" cy="236897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957 Fibered Silicone Sealer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Ready to use</a:t>
            </a:r>
            <a:r>
              <a:rPr lang="en-US" sz="2400" dirty="0">
                <a:solidFill>
                  <a:schemeClr val="tx1"/>
                </a:solidFill>
                <a:latin typeface="Calibri" pitchFamily="34" charset="0"/>
                <a:ea typeface="Calibri" pitchFamily="34" charset="-122"/>
                <a:cs typeface="Calibri" pitchFamily="34" charset="-120"/>
              </a:rPr>
              <a:t> — no mixing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Fibers add strength</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Trowel on</a:t>
            </a:r>
            <a:r>
              <a:rPr lang="en-US" sz="2400" dirty="0">
                <a:solidFill>
                  <a:schemeClr val="tx1"/>
                </a:solidFill>
                <a:latin typeface="Calibri" pitchFamily="34" charset="0"/>
                <a:ea typeface="Calibri" pitchFamily="34" charset="-122"/>
                <a:cs typeface="Calibri" pitchFamily="34" charset="-120"/>
              </a:rPr>
              <a:t> — up to 1/2" thick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Works on walls and flat areas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pipes, flashings, drains, seams, fasteners,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White</a:t>
            </a:r>
            <a:r>
              <a:rPr lang="en-US" sz="2400" dirty="0">
                <a:solidFill>
                  <a:schemeClr val="tx1"/>
                </a:solidFill>
                <a:latin typeface="Calibri" pitchFamily="34" charset="0"/>
                <a:ea typeface="Calibri" pitchFamily="34" charset="-122"/>
                <a:cs typeface="Calibri" pitchFamily="34" charset="-120"/>
              </a:rPr>
              <a:t> — 2-gal pail</a:t>
            </a:r>
            <a:endParaRPr lang="en-US" sz="2400" dirty="0"/>
          </a:p>
        </p:txBody>
      </p:sp>
      <p:pic>
        <p:nvPicPr>
          <p:cNvPr id="5" name="Photo" descr="Photo">    </p:cNvPr>
          <p:cNvPicPr>
            <a:picLocks noChangeAspect="1"/>
          </p:cNvPicPr>
          <p:nvPr/>
        </p:nvPicPr>
        <p:blipFill>
          <a:blip r:embed="rId1"/>
          <a:stretch>
            <a:fillRect/>
          </a:stretch>
        </p:blipFill>
        <p:spPr>
          <a:xfrm>
            <a:off x="6217920" y="2640366"/>
            <a:ext cx="5425135" cy="235450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928 Pitch Pocket &amp; Self-Leveling Sealer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Pours in and levels itself</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Seals pipes in metal pitch pockets</a:t>
            </a:r>
            <a:r>
              <a:rPr lang="en-US" sz="2400" dirty="0">
                <a:solidFill>
                  <a:schemeClr val="tx1"/>
                </a:solidFill>
                <a:latin typeface="Calibri" pitchFamily="34" charset="0"/>
                <a:ea typeface="Calibri" pitchFamily="34" charset="-122"/>
                <a:cs typeface="Calibri" pitchFamily="34" charset="-120"/>
              </a:rPr>
              <a:t> — no shrinking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Seals screws on low and medium-slope metal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One tube seals about 100 fasteners (1/2")</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No tooling needed</a:t>
            </a:r>
            <a:r>
              <a:rPr lang="en-US" sz="2400" dirty="0">
                <a:solidFill>
                  <a:schemeClr val="tx1"/>
                </a:solidFill>
                <a:latin typeface="Calibri" pitchFamily="34" charset="0"/>
                <a:ea typeface="Calibri" pitchFamily="34" charset="-122"/>
                <a:cs typeface="Calibri" pitchFamily="34" charset="-120"/>
              </a:rPr>
              <a:t> — saves time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Black</a:t>
            </a:r>
            <a:r>
              <a:rPr lang="en-US" sz="2400" dirty="0">
                <a:solidFill>
                  <a:schemeClr val="tx1"/>
                </a:solidFill>
                <a:latin typeface="Calibri" pitchFamily="34" charset="0"/>
                <a:ea typeface="Calibri" pitchFamily="34" charset="-122"/>
                <a:cs typeface="Calibri" pitchFamily="34" charset="-120"/>
              </a:rPr>
              <a:t> — 10.1 oz tube</a:t>
            </a:r>
            <a:endParaRPr lang="en-US" sz="2400" dirty="0"/>
          </a:p>
        </p:txBody>
      </p:sp>
      <p:pic>
        <p:nvPicPr>
          <p:cNvPr id="5" name="Photo" descr="Photo">    </p:cNvPr>
          <p:cNvPicPr>
            <a:picLocks noChangeAspect="1"/>
          </p:cNvPicPr>
          <p:nvPr/>
        </p:nvPicPr>
        <p:blipFill>
          <a:blip r:embed="rId1"/>
          <a:stretch>
            <a:fillRect/>
          </a:stretch>
        </p:blipFill>
        <p:spPr>
          <a:xfrm>
            <a:off x="6217920" y="2050376"/>
            <a:ext cx="5425135" cy="3534487"/>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920 Silicone Roof Sealer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Silicone caulk that cures from moisture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Seals seams, concrete cracks, flashings, drains, and damage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One tube seals about 100 holes (1/2")</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Won't harden, chalk, crack, or break down</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White</a:t>
            </a:r>
            <a:r>
              <a:rPr lang="en-US" sz="2400" dirty="0">
                <a:solidFill>
                  <a:schemeClr val="tx1"/>
                </a:solidFill>
                <a:latin typeface="Calibri" pitchFamily="34" charset="0"/>
                <a:ea typeface="Calibri" pitchFamily="34" charset="-122"/>
                <a:cs typeface="Calibri" pitchFamily="34" charset="-120"/>
              </a:rPr>
              <a:t> — 10.1 oz tube</a:t>
            </a:r>
            <a:endParaRPr lang="en-US" sz="2400" dirty="0"/>
          </a:p>
        </p:txBody>
      </p:sp>
      <p:pic>
        <p:nvPicPr>
          <p:cNvPr id="5" name="Photo" descr="Photo">    </p:cNvPr>
          <p:cNvPicPr>
            <a:picLocks noChangeAspect="1"/>
          </p:cNvPicPr>
          <p:nvPr/>
        </p:nvPicPr>
        <p:blipFill>
          <a:blip r:embed="rId1"/>
          <a:stretch>
            <a:fillRect/>
          </a:stretch>
        </p:blipFill>
        <p:spPr>
          <a:xfrm>
            <a:off x="6217920" y="2624090"/>
            <a:ext cx="5425135" cy="238705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294 Basecoat &amp; Sealer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Acrylic basecoat that blocks asphalt stains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Spray, roll, or brush</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Always the first step on asphalt roofs!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Gray</a:t>
            </a:r>
            <a:r>
              <a:rPr lang="en-US" sz="2400" dirty="0">
                <a:solidFill>
                  <a:schemeClr val="tx1"/>
                </a:solidFill>
                <a:latin typeface="Calibri" pitchFamily="34" charset="0"/>
                <a:ea typeface="Calibri" pitchFamily="34" charset="-122"/>
                <a:cs typeface="Calibri" pitchFamily="34" charset="-120"/>
              </a:rPr>
              <a:t> — 5-gal, 55-gal, 275-gal tote</a:t>
            </a:r>
            <a:endParaRPr lang="en-US" sz="2400" dirty="0"/>
          </a:p>
        </p:txBody>
      </p:sp>
      <p:pic>
        <p:nvPicPr>
          <p:cNvPr id="5" name="Photo" descr="Photo">    </p:cNvPr>
          <p:cNvPicPr>
            <a:picLocks noChangeAspect="1"/>
          </p:cNvPicPr>
          <p:nvPr/>
        </p:nvPicPr>
        <p:blipFill>
          <a:blip r:embed="rId1"/>
          <a:stretch>
            <a:fillRect/>
          </a:stretch>
        </p:blipFill>
        <p:spPr>
          <a:xfrm>
            <a:off x="6217920" y="2625899"/>
            <a:ext cx="5425135" cy="2383443"/>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Prime-Tek TPO Primer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Helps coating stick to TPO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TPO only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Use under AcryShield acrylics and Pro-Grade 988 silicone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Dries fast. Low fumes (low VOC).</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Red</a:t>
            </a:r>
            <a:r>
              <a:rPr lang="en-US" sz="2400" dirty="0">
                <a:solidFill>
                  <a:schemeClr val="tx1"/>
                </a:solidFill>
                <a:latin typeface="Calibri" pitchFamily="34" charset="0"/>
                <a:ea typeface="Calibri" pitchFamily="34" charset="-122"/>
                <a:cs typeface="Calibri" pitchFamily="34" charset="-120"/>
              </a:rPr>
              <a:t> — 5-gal pail</a:t>
            </a:r>
            <a:endParaRPr lang="en-US" sz="2400" dirty="0"/>
          </a:p>
        </p:txBody>
      </p:sp>
      <p:pic>
        <p:nvPicPr>
          <p:cNvPr id="5" name="Photo" descr="Photo">    </p:cNvPr>
          <p:cNvPicPr>
            <a:picLocks noChangeAspect="1"/>
          </p:cNvPicPr>
          <p:nvPr/>
        </p:nvPicPr>
        <p:blipFill>
          <a:blip r:embed="rId1"/>
          <a:stretch>
            <a:fillRect/>
          </a:stretch>
        </p:blipFill>
        <p:spPr>
          <a:xfrm>
            <a:off x="7029470" y="1463040"/>
            <a:ext cx="3802035"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941 Adhesion Primer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Helps coating stick to single-ply, metal, and coated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Dries fast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Spray (best), roll, or brush</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Covers 400–600 sq ft per gallon</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Clear / yellow</a:t>
            </a:r>
            <a:r>
              <a:rPr lang="en-US" sz="2400" dirty="0">
                <a:solidFill>
                  <a:schemeClr val="tx1"/>
                </a:solidFill>
                <a:latin typeface="Calibri" pitchFamily="34" charset="0"/>
                <a:ea typeface="Calibri" pitchFamily="34" charset="-122"/>
                <a:cs typeface="Calibri" pitchFamily="34" charset="-120"/>
              </a:rPr>
              <a:t> — 1-gal can</a:t>
            </a:r>
            <a:endParaRPr lang="en-US" sz="2400" dirty="0"/>
          </a:p>
        </p:txBody>
      </p:sp>
      <p:pic>
        <p:nvPicPr>
          <p:cNvPr id="5" name="Photo" descr="Photo">    </p:cNvPr>
          <p:cNvPicPr>
            <a:picLocks noChangeAspect="1"/>
          </p:cNvPicPr>
          <p:nvPr/>
        </p:nvPicPr>
        <p:blipFill>
          <a:blip r:embed="rId1"/>
          <a:stretch>
            <a:fillRect/>
          </a:stretch>
        </p:blipFill>
        <p:spPr>
          <a:xfrm>
            <a:off x="6335510" y="1463040"/>
            <a:ext cx="5189955"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Project Startup</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 clean, dry roof is half the job.</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Prep Step 1: Clean the Roof</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Mod-bit and BUR (granulated or smooth)</a:t>
            </a:r>
            <a:r>
              <a:rPr lang="en-US" sz="2400" dirty="0">
                <a:solidFill>
                  <a:schemeClr val="tx1"/>
                </a:solidFill>
                <a:latin typeface="Calibri" pitchFamily="34" charset="0"/>
                <a:ea typeface="Calibri" pitchFamily="34" charset="-122"/>
                <a:cs typeface="Calibri" pitchFamily="34" charset="-120"/>
              </a:rPr>
              <a:t> — power broom, dry vac, air lance (195 CFM)</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Single-ply</a:t>
            </a:r>
            <a:r>
              <a:rPr lang="en-US" sz="2400" dirty="0">
                <a:solidFill>
                  <a:schemeClr val="tx1"/>
                </a:solidFill>
                <a:latin typeface="Calibri" pitchFamily="34" charset="0"/>
                <a:ea typeface="Calibri" pitchFamily="34" charset="-122"/>
                <a:cs typeface="Calibri" pitchFamily="34" charset="-120"/>
              </a:rPr>
              <a:t> — pressure wash at 1,500–2,000 PSI. Water only!</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Metal</a:t>
            </a:r>
            <a:r>
              <a:rPr lang="en-US" sz="2400" dirty="0">
                <a:solidFill>
                  <a:schemeClr val="tx1"/>
                </a:solidFill>
                <a:latin typeface="Calibri" pitchFamily="34" charset="0"/>
                <a:ea typeface="Calibri" pitchFamily="34" charset="-122"/>
                <a:cs typeface="Calibri" pitchFamily="34" charset="-120"/>
              </a:rPr>
              <a:t> — pressure wash at 3,000+ PSI. Water only! Air lance. Wire brush the rust.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Rule</a:t>
            </a:r>
            <a:r>
              <a:rPr lang="en-US" sz="2400" dirty="0">
                <a:solidFill>
                  <a:schemeClr val="tx1"/>
                </a:solidFill>
                <a:latin typeface="Calibri" pitchFamily="34" charset="0"/>
                <a:ea typeface="Calibri" pitchFamily="34" charset="-122"/>
                <a:cs typeface="Calibri" pitchFamily="34" charset="-120"/>
              </a:rPr>
              <a:t> — all dirt gone and the roof DRY before any coating</a:t>
            </a:r>
            <a:endParaRPr lang="en-US" sz="2400" dirty="0"/>
          </a:p>
        </p:txBody>
      </p:sp>
      <p:pic>
        <p:nvPicPr>
          <p:cNvPr id="5" name="Photo" descr="Photo">    </p:cNvPr>
          <p:cNvPicPr>
            <a:picLocks noChangeAspect="1"/>
          </p:cNvPicPr>
          <p:nvPr/>
        </p:nvPicPr>
        <p:blipFill>
          <a:blip r:embed="rId1"/>
          <a:stretch>
            <a:fillRect/>
          </a:stretch>
        </p:blipFill>
        <p:spPr>
          <a:xfrm>
            <a:off x="6888068" y="1463040"/>
            <a:ext cx="4084840"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Prep Step 2: Basecoat Asphalt Roofs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asphalt roofs, or roofs with an old aluminum coating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Apply Pro-Grade 294 Basecoat &amp; Sealer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Roll, squeegee and back roll, spray and back roll, or tank spreader</a:t>
            </a:r>
            <a:endParaRPr lang="en-US" sz="2400" dirty="0"/>
          </a:p>
        </p:txBody>
      </p:sp>
      <p:pic>
        <p:nvPicPr>
          <p:cNvPr id="5" name="Photo" descr="Photo">    </p:cNvPr>
          <p:cNvPicPr>
            <a:picLocks noChangeAspect="1"/>
          </p:cNvPicPr>
          <p:nvPr/>
        </p:nvPicPr>
        <p:blipFill>
          <a:blip r:embed="rId1"/>
          <a:stretch>
            <a:fillRect/>
          </a:stretch>
        </p:blipFill>
        <p:spPr>
          <a:xfrm>
            <a:off x="6217920" y="3143095"/>
            <a:ext cx="5425135" cy="134905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Prep Step 3: Prime If Needed</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single-ply, metal, and coated roofs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Use Pro-Grade 941 Adhesion Primer</a:t>
            </a:r>
            <a:r>
              <a:rPr lang="en-US" sz="2400" dirty="0">
                <a:solidFill>
                  <a:schemeClr val="tx1"/>
                </a:solidFill>
                <a:latin typeface="Calibri" pitchFamily="34" charset="0"/>
                <a:ea typeface="Calibri" pitchFamily="34" charset="-122"/>
                <a:cs typeface="Calibri" pitchFamily="34" charset="-120"/>
              </a:rPr>
              <a:t> — if the pull test says so</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Spray it</a:t>
            </a:r>
            <a:r>
              <a:rPr lang="en-US" sz="2400" dirty="0">
                <a:solidFill>
                  <a:schemeClr val="tx1"/>
                </a:solidFill>
                <a:latin typeface="Calibri" pitchFamily="34" charset="0"/>
                <a:ea typeface="Calibri" pitchFamily="34" charset="-122"/>
                <a:cs typeface="Calibri" pitchFamily="34" charset="-120"/>
              </a:rPr>
              <a:t> — a Chapin Extreme pump sprayer works best</a:t>
            </a:r>
            <a:endParaRPr lang="en-US" sz="2400" dirty="0"/>
          </a:p>
        </p:txBody>
      </p:sp>
      <p:pic>
        <p:nvPicPr>
          <p:cNvPr id="5" name="Photo" descr="Photo">    </p:cNvPr>
          <p:cNvPicPr>
            <a:picLocks noChangeAspect="1"/>
          </p:cNvPicPr>
          <p:nvPr/>
        </p:nvPicPr>
        <p:blipFill>
          <a:blip r:embed="rId1"/>
          <a:stretch>
            <a:fillRect/>
          </a:stretch>
        </p:blipFill>
        <p:spPr>
          <a:xfrm>
            <a:off x="6217920" y="2633132"/>
            <a:ext cx="5425135" cy="236897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Sweat the Details</a:t>
            </a:r>
            <a:endParaRPr lang="en-US" sz="3000" dirty="0"/>
          </a:p>
        </p:txBody>
      </p:sp>
      <p:sp>
        <p:nvSpPr>
          <p:cNvPr id="4" name="Big number"/>
          <p:cNvSpPr txBox="1"/>
          <p:nvPr/>
        </p:nvSpPr>
        <p:spPr>
          <a:xfrm>
            <a:off x="548640" y="1371600"/>
            <a:ext cx="5303520" cy="960120"/>
          </a:xfrm>
          <a:prstGeom prst="rect">
            <a:avLst/>
          </a:prstGeom>
          <a:noFill/>
          <a:ln/>
        </p:spPr>
        <p:txBody>
          <a:bodyPr wrap="square" lIns="0" tIns="0" rIns="0" bIns="0" rtlCol="0" anchor="ctr"/>
          <a:lstStyle/>
          <a:p>
            <a:pPr indent="0" marL="0">
              <a:buNone/>
            </a:pPr>
            <a:r>
              <a:rPr lang="en-US" sz="6600" b="1" dirty="0">
                <a:solidFill>
                  <a:schemeClr val="accent1"/>
                </a:solidFill>
                <a:latin typeface="Arial" pitchFamily="34" charset="0"/>
                <a:ea typeface="Arial" pitchFamily="34" charset="-122"/>
                <a:cs typeface="Arial" pitchFamily="34" charset="-120"/>
              </a:rPr>
              <a:t>90%</a:t>
            </a:r>
            <a:endParaRPr lang="en-US" sz="6600" dirty="0"/>
          </a:p>
        </p:txBody>
      </p:sp>
      <p:sp>
        <p:nvSpPr>
          <p:cNvPr id="5" name="Big number label"/>
          <p:cNvSpPr txBox="1"/>
          <p:nvPr/>
        </p:nvSpPr>
        <p:spPr>
          <a:xfrm>
            <a:off x="548640" y="2331720"/>
            <a:ext cx="5303520" cy="411480"/>
          </a:xfrm>
          <a:prstGeom prst="rect">
            <a:avLst/>
          </a:prstGeom>
          <a:noFill/>
          <a:ln/>
        </p:spPr>
        <p:txBody>
          <a:bodyPr wrap="square" lIns="0" tIns="0" rIns="0" bIns="0" rtlCol="0" anchor="ctr"/>
          <a:lstStyle/>
          <a:p>
            <a:pPr indent="0" marL="0">
              <a:buNone/>
            </a:pPr>
            <a:r>
              <a:rPr lang="en-US" sz="2000" b="1" dirty="0">
                <a:solidFill>
                  <a:schemeClr val="tx2"/>
                </a:solidFill>
              </a:rPr>
              <a:t>of roof leaks start at these spots</a:t>
            </a:r>
            <a:endParaRPr lang="en-US" sz="2000" dirty="0"/>
          </a:p>
        </p:txBody>
      </p:sp>
      <p:sp>
        <p:nvSpPr>
          <p:cNvPr id="6" name="Body text"/>
          <p:cNvSpPr txBox="1"/>
          <p:nvPr/>
        </p:nvSpPr>
        <p:spPr>
          <a:xfrm>
            <a:off x="548640" y="2971800"/>
            <a:ext cx="5303520" cy="320040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Seams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Penetrations</a:t>
            </a:r>
            <a:r>
              <a:rPr lang="en-US" sz="2200" dirty="0">
                <a:solidFill>
                  <a:schemeClr val="tx1"/>
                </a:solidFill>
                <a:latin typeface="Calibri" pitchFamily="34" charset="0"/>
                <a:ea typeface="Calibri" pitchFamily="34" charset="-122"/>
                <a:cs typeface="Calibri" pitchFamily="34" charset="-120"/>
              </a:rPr>
              <a:t> — pipes, vents, drains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Curbs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Edges (terminations)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Transitions</a:t>
            </a:r>
            <a:r>
              <a:rPr lang="en-US" sz="2200" dirty="0">
                <a:solidFill>
                  <a:schemeClr val="tx1"/>
                </a:solidFill>
                <a:latin typeface="Calibri" pitchFamily="34" charset="0"/>
                <a:ea typeface="Calibri" pitchFamily="34" charset="-122"/>
                <a:cs typeface="Calibri" pitchFamily="34" charset="-120"/>
              </a:rPr>
              <a:t> — where the roof changes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Parapet walls</a:t>
            </a:r>
            <a:endParaRPr lang="en-US" sz="2200" dirty="0"/>
          </a:p>
        </p:txBody>
      </p:sp>
      <p:pic>
        <p:nvPicPr>
          <p:cNvPr id="7" name="Photo" descr="Photo">    </p:cNvPr>
          <p:cNvPicPr>
            <a:picLocks noChangeAspect="1"/>
          </p:cNvPicPr>
          <p:nvPr/>
        </p:nvPicPr>
        <p:blipFill>
          <a:blip r:embed="rId1"/>
          <a:stretch>
            <a:fillRect/>
          </a:stretch>
        </p:blipFill>
        <p:spPr>
          <a:xfrm>
            <a:off x="6217920" y="2622282"/>
            <a:ext cx="5425135" cy="239067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Which Product for Which Detail?</a:t>
            </a:r>
            <a:endParaRPr lang="en-US" sz="3000" dirty="0"/>
          </a:p>
        </p:txBody>
      </p:sp>
      <p:graphicFrame>
        <p:nvGraphicFramePr>
          <p:cNvPr id="61"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311766"/>
                <a:gridCol w="3808531"/>
                <a:gridCol w="3974119"/>
              </a:tblGrid>
              <a:tr h="0">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Roof</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Detail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Product → How</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Asphalt / single-ply</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Seams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988 → brush, roll, spray</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923 → brush, trowel</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957 → trowel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Asphalt / single-ply</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Pipes and drains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923 → brush, trowel</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957 → trowel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Metal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Seams, pipes, fasteners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923 → brush, trowel</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957 → trowel</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928 → caulk gun</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Silicone Application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Measure the squares. Hit the rate.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Measure the Roof in Squares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Mark the roof in 10' × 10' boxes</a:t>
            </a:r>
            <a:r>
              <a:rPr lang="en-US" sz="2400" dirty="0">
                <a:solidFill>
                  <a:schemeClr val="tx1"/>
                </a:solidFill>
                <a:latin typeface="Calibri" pitchFamily="34" charset="0"/>
                <a:ea typeface="Calibri" pitchFamily="34" charset="-122"/>
                <a:cs typeface="Calibri" pitchFamily="34" charset="-120"/>
              </a:rPr>
              <a:t> — 1 box = 1 square = 100 sq ft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Example</a:t>
            </a:r>
            <a:r>
              <a:rPr lang="en-US" sz="2400" dirty="0">
                <a:solidFill>
                  <a:schemeClr val="tx1"/>
                </a:solidFill>
                <a:latin typeface="Calibri" pitchFamily="34" charset="0"/>
                <a:ea typeface="Calibri" pitchFamily="34" charset="-122"/>
                <a:cs typeface="Calibri" pitchFamily="34" charset="-120"/>
              </a:rPr>
              <a:t> — spec says 2 gal per square → one 5-gal pail of 988 covers 2.38 squares (smooth roof)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Rough roofs (granulated mod-bit) soak up more — use more to hit the right dry thickness</a:t>
            </a:r>
            <a:endParaRPr lang="en-US" sz="2400" dirty="0"/>
          </a:p>
        </p:txBody>
      </p:sp>
      <p:pic>
        <p:nvPicPr>
          <p:cNvPr id="5" name="Photo" descr="Photo">    </p:cNvPr>
          <p:cNvPicPr>
            <a:picLocks noChangeAspect="1"/>
          </p:cNvPicPr>
          <p:nvPr/>
        </p:nvPicPr>
        <p:blipFill>
          <a:blip r:embed="rId1"/>
          <a:stretch>
            <a:fillRect/>
          </a:stretch>
        </p:blipFill>
        <p:spPr>
          <a:xfrm>
            <a:off x="6217920" y="3233514"/>
            <a:ext cx="5425135" cy="116821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Roll</a:t>
            </a:r>
            <a:endParaRPr lang="en-US" sz="3000" dirty="0"/>
          </a:p>
        </p:txBody>
      </p:sp>
      <p:pic>
        <p:nvPicPr>
          <p:cNvPr id="4" name="Photo" descr="Photo">    </p:cNvPr>
          <p:cNvPicPr>
            <a:picLocks noChangeAspect="1"/>
          </p:cNvPicPr>
          <p:nvPr/>
        </p:nvPicPr>
        <p:blipFill>
          <a:blip r:embed="rId1"/>
          <a:stretch>
            <a:fillRect/>
          </a:stretch>
        </p:blipFill>
        <p:spPr>
          <a:xfrm>
            <a:off x="548640" y="2484961"/>
            <a:ext cx="11094415" cy="207095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Roll it on in even passes. Good for small roofs and edges.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Squeegee and Back Roll</a:t>
            </a:r>
            <a:endParaRPr lang="en-US" sz="3000" dirty="0"/>
          </a:p>
        </p:txBody>
      </p:sp>
      <p:pic>
        <p:nvPicPr>
          <p:cNvPr id="4" name="Photo" descr="Photo">    </p:cNvPr>
          <p:cNvPicPr>
            <a:picLocks noChangeAspect="1"/>
          </p:cNvPicPr>
          <p:nvPr/>
        </p:nvPicPr>
        <p:blipFill>
          <a:blip r:embed="rId1"/>
          <a:stretch>
            <a:fillRect/>
          </a:stretch>
        </p:blipFill>
        <p:spPr>
          <a:xfrm>
            <a:off x="548640" y="2189110"/>
            <a:ext cx="11094415" cy="266266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Pour, spread with a squeegee, then roll to even it out.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Spray and Back Roll</a:t>
            </a:r>
            <a:endParaRPr lang="en-US" sz="3000" dirty="0"/>
          </a:p>
        </p:txBody>
      </p:sp>
      <p:pic>
        <p:nvPicPr>
          <p:cNvPr id="4" name="Photo" descr="Photo">    </p:cNvPr>
          <p:cNvPicPr>
            <a:picLocks noChangeAspect="1"/>
          </p:cNvPicPr>
          <p:nvPr/>
        </p:nvPicPr>
        <p:blipFill>
          <a:blip r:embed="rId1"/>
          <a:stretch>
            <a:fillRect/>
          </a:stretch>
        </p:blipFill>
        <p:spPr>
          <a:xfrm>
            <a:off x="548640" y="2163223"/>
            <a:ext cx="11094415" cy="271443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Spray for speed, then roll to push it into the surface.</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Tank Spreader</a:t>
            </a:r>
            <a:endParaRPr lang="en-US" sz="3000" dirty="0"/>
          </a:p>
        </p:txBody>
      </p:sp>
      <p:pic>
        <p:nvPicPr>
          <p:cNvPr id="4" name="Photo" descr="Photo">    </p:cNvPr>
          <p:cNvPicPr>
            <a:picLocks noChangeAspect="1"/>
          </p:cNvPicPr>
          <p:nvPr/>
        </p:nvPicPr>
        <p:blipFill>
          <a:blip r:embed="rId1"/>
          <a:stretch>
            <a:fillRect/>
          </a:stretch>
        </p:blipFill>
        <p:spPr>
          <a:xfrm>
            <a:off x="548640" y="1945033"/>
            <a:ext cx="11094415" cy="315081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Walk-behind spreader puts down an even coat on big, open areas.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SILICONE</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Warranty Information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Do it right, and Henry stands behind it — up to 20 years.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Warranty Program</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Up to 20 years</a:t>
            </a:r>
            <a:r>
              <a:rPr lang="en-US" sz="2400" dirty="0">
                <a:solidFill>
                  <a:schemeClr val="tx1"/>
                </a:solidFill>
                <a:latin typeface="Calibri" pitchFamily="34" charset="0"/>
                <a:ea typeface="Calibri" pitchFamily="34" charset="-122"/>
                <a:cs typeface="Calibri" pitchFamily="34" charset="-120"/>
              </a:rPr>
              <a:t> — labor, workmanship, and materials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Can be transferred and renewed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Silicone</a:t>
            </a:r>
            <a:r>
              <a:rPr lang="en-US" sz="2400" dirty="0">
                <a:solidFill>
                  <a:schemeClr val="tx1"/>
                </a:solidFill>
                <a:latin typeface="Calibri" pitchFamily="34" charset="0"/>
                <a:ea typeface="Calibri" pitchFamily="34" charset="-122"/>
                <a:cs typeface="Calibri" pitchFamily="34" charset="-120"/>
              </a:rPr>
              <a:t> — ponding water is NOT excluded*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Silicone</a:t>
            </a:r>
            <a:r>
              <a:rPr lang="en-US" sz="2400" dirty="0">
                <a:solidFill>
                  <a:schemeClr val="tx1"/>
                </a:solidFill>
                <a:latin typeface="Calibri" pitchFamily="34" charset="0"/>
                <a:ea typeface="Calibri" pitchFamily="34" charset="-122"/>
                <a:cs typeface="Calibri" pitchFamily="34" charset="-120"/>
              </a:rPr>
              <a:t> — lifetime limited material warranty</a:t>
            </a:r>
            <a:endParaRPr lang="en-US" sz="2400" dirty="0"/>
          </a:p>
        </p:txBody>
      </p:sp>
      <p:pic>
        <p:nvPicPr>
          <p:cNvPr id="5" name="Photo" descr="Photo">    </p:cNvPr>
          <p:cNvPicPr>
            <a:picLocks noChangeAspect="1"/>
          </p:cNvPicPr>
          <p:nvPr/>
        </p:nvPicPr>
        <p:blipFill>
          <a:blip r:embed="rId1"/>
          <a:stretch>
            <a:fillRect/>
          </a:stretch>
        </p:blipFill>
        <p:spPr>
          <a:xfrm>
            <a:off x="6786277" y="1463040"/>
            <a:ext cx="4288420" cy="4343400"/>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*Puddles, not lakes. The roof must still drain.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Silicone Warranty Options</a:t>
            </a:r>
            <a:endParaRPr lang="en-US" sz="3000" dirty="0"/>
          </a:p>
        </p:txBody>
      </p:sp>
      <p:pic>
        <p:nvPicPr>
          <p:cNvPr id="4" name="Photo" descr="Photo">    </p:cNvPr>
          <p:cNvPicPr>
            <a:picLocks noChangeAspect="1"/>
          </p:cNvPicPr>
          <p:nvPr/>
        </p:nvPicPr>
        <p:blipFill>
          <a:blip r:embed="rId1"/>
          <a:stretch>
            <a:fillRect/>
          </a:stretch>
        </p:blipFill>
        <p:spPr>
          <a:xfrm>
            <a:off x="1366192" y="1417320"/>
            <a:ext cx="945931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Silicone Warranty Options</a:t>
            </a:r>
            <a:endParaRPr lang="en-US" sz="3000" dirty="0"/>
          </a:p>
        </p:txBody>
      </p:sp>
      <p:pic>
        <p:nvPicPr>
          <p:cNvPr id="4" name="Photo" descr="Photo">    </p:cNvPr>
          <p:cNvPicPr>
            <a:picLocks noChangeAspect="1"/>
          </p:cNvPicPr>
          <p:nvPr/>
        </p:nvPicPr>
        <p:blipFill>
          <a:blip r:embed="rId1"/>
          <a:stretch>
            <a:fillRect/>
          </a:stretch>
        </p:blipFill>
        <p:spPr>
          <a:xfrm>
            <a:off x="1308776" y="1417320"/>
            <a:ext cx="9574143"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SILICONE</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Silicone Application Guide</a:t>
            </a:r>
            <a:endParaRPr lang="en-US" sz="3000" dirty="0"/>
          </a:p>
        </p:txBody>
      </p:sp>
      <p:pic>
        <p:nvPicPr>
          <p:cNvPr id="4" name="Photo" descr="Photo">    </p:cNvPr>
          <p:cNvPicPr>
            <a:picLocks noChangeAspect="1"/>
          </p:cNvPicPr>
          <p:nvPr/>
        </p:nvPicPr>
        <p:blipFill>
          <a:blip r:embed="rId1"/>
          <a:stretch>
            <a:fillRect/>
          </a:stretch>
        </p:blipFill>
        <p:spPr>
          <a:xfrm>
            <a:off x="1308776" y="1417320"/>
            <a:ext cx="9574143"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Your step-by-step guide for this system. Keep it on the job.</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AcryShield Acrylic System</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Acrylic: great value on roofs that drain well.</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Acrylic: The Strengths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Flexible and stretchy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Sticks well</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Easy to apply</a:t>
            </a:r>
            <a:r>
              <a:rPr lang="en-US" sz="2400" dirty="0">
                <a:solidFill>
                  <a:schemeClr val="tx1"/>
                </a:solidFill>
                <a:latin typeface="Calibri" pitchFamily="34" charset="0"/>
                <a:ea typeface="Calibri" pitchFamily="34" charset="-122"/>
                <a:cs typeface="Calibri" pitchFamily="34" charset="-120"/>
              </a:rPr>
              <a:t> — spray, brush, or roll</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Breathes</a:t>
            </a:r>
            <a:r>
              <a:rPr lang="en-US" sz="2400" dirty="0">
                <a:solidFill>
                  <a:schemeClr val="tx1"/>
                </a:solidFill>
                <a:latin typeface="Calibri" pitchFamily="34" charset="0"/>
                <a:ea typeface="Calibri" pitchFamily="34" charset="-122"/>
                <a:cs typeface="Calibri" pitchFamily="34" charset="-120"/>
              </a:rPr>
              <a:t> — lets moisture vapor escape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Other coatings can go over it later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Good value. Low fumes.</a:t>
            </a:r>
            <a:endParaRPr lang="en-US" sz="2400" dirty="0"/>
          </a:p>
        </p:txBody>
      </p:sp>
      <p:pic>
        <p:nvPicPr>
          <p:cNvPr id="5" name="Photo" descr="Photo">    </p:cNvPr>
          <p:cNvPicPr>
            <a:picLocks noChangeAspect="1"/>
          </p:cNvPicPr>
          <p:nvPr/>
        </p:nvPicPr>
        <p:blipFill>
          <a:blip r:embed="rId1"/>
          <a:stretch>
            <a:fillRect/>
          </a:stretch>
        </p:blipFill>
        <p:spPr>
          <a:xfrm>
            <a:off x="6217920" y="2642174"/>
            <a:ext cx="5425135" cy="235089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Acrylic: The Downsides</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Standing water softens it</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Needs 2 or more coats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Weather matters</a:t>
            </a:r>
            <a:r>
              <a:rPr lang="en-US" sz="2200" dirty="0">
                <a:solidFill>
                  <a:schemeClr val="tx1"/>
                </a:solidFill>
                <a:latin typeface="Calibri" pitchFamily="34" charset="0"/>
                <a:ea typeface="Calibri" pitchFamily="34" charset="-122"/>
                <a:cs typeface="Calibri" pitchFamily="34" charset="-120"/>
              </a:rPr>
              <a:t> — 50°F and rising, no rain for 24+ hours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Can wash off if it rains too soon</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Takes longer to cure</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Mold and mildew can grow on it</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Loses about 1–2 mils a year to sun. Only about 50% solids.</a:t>
            </a:r>
            <a:endParaRPr lang="en-US" sz="2200" dirty="0"/>
          </a:p>
        </p:txBody>
      </p:sp>
      <p:pic>
        <p:nvPicPr>
          <p:cNvPr id="5" name="Photo" descr="Photo">    </p:cNvPr>
          <p:cNvPicPr>
            <a:picLocks noChangeAspect="1"/>
          </p:cNvPicPr>
          <p:nvPr/>
        </p:nvPicPr>
        <p:blipFill>
          <a:blip r:embed="rId1"/>
          <a:stretch>
            <a:fillRect/>
          </a:stretch>
        </p:blipFill>
        <p:spPr>
          <a:xfrm>
            <a:off x="6217920" y="2455677"/>
            <a:ext cx="5425135" cy="2358125"/>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There are 380+ acrylic brands. Many use cheaper ingredients (styrene, vinyl).</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When Acrylic Is a Good Fit</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Steep roofs</a:t>
            </a:r>
            <a:r>
              <a:rPr lang="en-US" sz="2400" dirty="0">
                <a:solidFill>
                  <a:schemeClr val="tx1"/>
                </a:solidFill>
                <a:latin typeface="Calibri" pitchFamily="34" charset="0"/>
                <a:ea typeface="Calibri" pitchFamily="34" charset="-122"/>
                <a:cs typeface="Calibri" pitchFamily="34" charset="-120"/>
              </a:rPr>
              <a:t> — 3:12 or more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Metal roofs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Flat roofs*</a:t>
            </a:r>
            <a:r>
              <a:rPr lang="en-US" sz="2400" dirty="0">
                <a:solidFill>
                  <a:schemeClr val="tx1"/>
                </a:solidFill>
                <a:latin typeface="Calibri" pitchFamily="34" charset="0"/>
                <a:ea typeface="Calibri" pitchFamily="34" charset="-122"/>
                <a:cs typeface="Calibri" pitchFamily="34" charset="-120"/>
              </a:rPr>
              <a:t> — only in dry areas with great drainage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Barrel (curved)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Hot, dry climates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Little disruption. Budget-friendly.</a:t>
            </a:r>
            <a:endParaRPr lang="en-US" sz="2400" dirty="0"/>
          </a:p>
        </p:txBody>
      </p:sp>
      <p:pic>
        <p:nvPicPr>
          <p:cNvPr id="5" name="Photo" descr="Photo">    </p:cNvPr>
          <p:cNvPicPr>
            <a:picLocks noChangeAspect="1"/>
          </p:cNvPicPr>
          <p:nvPr/>
        </p:nvPicPr>
        <p:blipFill>
          <a:blip r:embed="rId1"/>
          <a:stretch>
            <a:fillRect/>
          </a:stretch>
        </p:blipFill>
        <p:spPr>
          <a:xfrm>
            <a:off x="6217920" y="2504504"/>
            <a:ext cx="5425135" cy="2260473"/>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*Areas with little rain and good drainage — no ponding water.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When Acrylic Is NOT a Good Fit</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Ponding water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Flat roofs* that don't drain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Heavy foot traffic</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Max sun protection needed</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Lots of freeze-thaw cycles</a:t>
            </a:r>
            <a:endParaRPr lang="en-US" sz="2400" dirty="0"/>
          </a:p>
        </p:txBody>
      </p:sp>
      <p:pic>
        <p:nvPicPr>
          <p:cNvPr id="5" name="Photo" descr="Photo">    </p:cNvPr>
          <p:cNvPicPr>
            <a:picLocks noChangeAspect="1"/>
          </p:cNvPicPr>
          <p:nvPr/>
        </p:nvPicPr>
        <p:blipFill>
          <a:blip r:embed="rId1"/>
          <a:stretch>
            <a:fillRect/>
          </a:stretch>
        </p:blipFill>
        <p:spPr>
          <a:xfrm>
            <a:off x="6217920" y="2475569"/>
            <a:ext cx="5425135" cy="2318341"/>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*Little to no drainage.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What Roofs Can Acrylic Restore?</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Same roof types — except old silicone.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Asphalt Roofs</a:t>
            </a:r>
            <a:endParaRPr lang="en-US" sz="3000" dirty="0"/>
          </a:p>
        </p:txBody>
      </p:sp>
      <p:pic>
        <p:nvPicPr>
          <p:cNvPr id="4" name="Photo" descr="Photo">    </p:cNvPr>
          <p:cNvPicPr>
            <a:picLocks noChangeAspect="1"/>
          </p:cNvPicPr>
          <p:nvPr/>
        </p:nvPicPr>
        <p:blipFill>
          <a:blip r:embed="rId1"/>
          <a:stretch>
            <a:fillRect/>
          </a:stretch>
        </p:blipFill>
        <p:spPr>
          <a:xfrm>
            <a:off x="548640" y="1671371"/>
            <a:ext cx="11094415" cy="369813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Granulated or smooth mod-bit, and BUR (built-up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Single-Ply Roofs</a:t>
            </a:r>
            <a:endParaRPr lang="en-US" sz="3000" dirty="0"/>
          </a:p>
        </p:txBody>
      </p:sp>
      <p:pic>
        <p:nvPicPr>
          <p:cNvPr id="4" name="Photo" descr="Photo">    </p:cNvPr>
          <p:cNvPicPr>
            <a:picLocks noChangeAspect="1"/>
          </p:cNvPicPr>
          <p:nvPr/>
        </p:nvPicPr>
        <p:blipFill>
          <a:blip r:embed="rId1"/>
          <a:stretch>
            <a:fillRect/>
          </a:stretch>
        </p:blipFill>
        <p:spPr>
          <a:xfrm>
            <a:off x="548640" y="1726843"/>
            <a:ext cx="11094415" cy="358719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PVC, TPO, and EPDM.</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Metal Roofs</a:t>
            </a:r>
            <a:endParaRPr lang="en-US" sz="3000" dirty="0"/>
          </a:p>
        </p:txBody>
      </p:sp>
      <p:pic>
        <p:nvPicPr>
          <p:cNvPr id="4" name="Photo" descr="Photo">    </p:cNvPr>
          <p:cNvPicPr>
            <a:picLocks noChangeAspect="1"/>
          </p:cNvPicPr>
          <p:nvPr/>
        </p:nvPicPr>
        <p:blipFill>
          <a:blip r:embed="rId1"/>
          <a:stretch>
            <a:fillRect/>
          </a:stretch>
        </p:blipFill>
        <p:spPr>
          <a:xfrm>
            <a:off x="548640" y="1553030"/>
            <a:ext cx="11094415" cy="3934819"/>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Standing seam and screw-down metal.</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Spray Foam (SPF) Roofs</a:t>
            </a:r>
            <a:endParaRPr lang="en-US" sz="3000" dirty="0"/>
          </a:p>
        </p:txBody>
      </p:sp>
      <p:pic>
        <p:nvPicPr>
          <p:cNvPr id="4" name="Photo" descr="Photo">    </p:cNvPr>
          <p:cNvPicPr>
            <a:picLocks noChangeAspect="1"/>
          </p:cNvPicPr>
          <p:nvPr/>
        </p:nvPicPr>
        <p:blipFill>
          <a:blip r:embed="rId1"/>
          <a:stretch>
            <a:fillRect/>
          </a:stretch>
        </p:blipFill>
        <p:spPr>
          <a:xfrm>
            <a:off x="548640" y="1482766"/>
            <a:ext cx="11094415" cy="4075349"/>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Acrylic protects foam from the sun.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Roofs Coated Before</a:t>
            </a:r>
            <a:endParaRPr lang="en-US" sz="3000" dirty="0"/>
          </a:p>
        </p:txBody>
      </p:sp>
      <p:pic>
        <p:nvPicPr>
          <p:cNvPr id="4" name="Photo" descr="Photo">    </p:cNvPr>
          <p:cNvPicPr>
            <a:picLocks noChangeAspect="1"/>
          </p:cNvPicPr>
          <p:nvPr/>
        </p:nvPicPr>
        <p:blipFill>
          <a:blip r:embed="rId1"/>
          <a:stretch>
            <a:fillRect/>
          </a:stretch>
        </p:blipFill>
        <p:spPr>
          <a:xfrm>
            <a:off x="548640" y="2392508"/>
            <a:ext cx="11094415" cy="225586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Yes — except roofs coated with silicone.</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Tar &amp; Gravel Roofs</a:t>
            </a:r>
            <a:endParaRPr lang="en-US" sz="3000" dirty="0"/>
          </a:p>
        </p:txBody>
      </p:sp>
      <p:pic>
        <p:nvPicPr>
          <p:cNvPr id="4" name="Photo" descr="Photo">    </p:cNvPr>
          <p:cNvPicPr>
            <a:picLocks noChangeAspect="1"/>
          </p:cNvPicPr>
          <p:nvPr/>
        </p:nvPicPr>
        <p:blipFill>
          <a:blip r:embed="rId1"/>
          <a:stretch>
            <a:fillRect/>
          </a:stretch>
        </p:blipFill>
        <p:spPr>
          <a:xfrm>
            <a:off x="1015848" y="1417320"/>
            <a:ext cx="1016000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Not ready as-is (red X). The gravel has to be dealt with first.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Tar &amp; Gravel + Spray Foam</a:t>
            </a:r>
            <a:endParaRPr lang="en-US" sz="3000" dirty="0"/>
          </a:p>
        </p:txBody>
      </p:sp>
      <p:pic>
        <p:nvPicPr>
          <p:cNvPr id="4" name="Photo" descr="Photo">    </p:cNvPr>
          <p:cNvPicPr>
            <a:picLocks noChangeAspect="1"/>
          </p:cNvPicPr>
          <p:nvPr/>
        </p:nvPicPr>
        <p:blipFill>
          <a:blip r:embed="rId1"/>
          <a:stretch>
            <a:fillRect/>
          </a:stretch>
        </p:blipFill>
        <p:spPr>
          <a:xfrm>
            <a:off x="548640" y="1586314"/>
            <a:ext cx="11094415" cy="3868253"/>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Spray foam over the old gravel roof, then coat it.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Acrylic Restoration Steps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Repair first, then restore.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The Steps for a Warranted Job</a:t>
            </a:r>
            <a:endParaRPr lang="en-US" sz="3000" dirty="0"/>
          </a:p>
        </p:txBody>
      </p:sp>
      <p:sp>
        <p:nvSpPr>
          <p:cNvPr id="4" name="Step 1 card"/>
          <p:cNvSpPr/>
          <p:nvPr/>
        </p:nvSpPr>
        <p:spPr>
          <a:xfrm>
            <a:off x="548640" y="1554480"/>
            <a:ext cx="3515258" cy="2057400"/>
          </a:xfrm>
          <a:prstGeom prst="roundRect">
            <a:avLst>
              <a:gd name="adj" fmla="val 4444"/>
            </a:avLst>
          </a:prstGeom>
          <a:solidFill>
            <a:schemeClr val="bg2"/>
          </a:solidFill>
          <a:ln/>
        </p:spPr>
      </p:sp>
      <p:sp>
        <p:nvSpPr>
          <p:cNvPr id="5" name="Step 1 number"/>
          <p:cNvSpPr/>
          <p:nvPr/>
        </p:nvSpPr>
        <p:spPr>
          <a:xfrm>
            <a:off x="822960" y="1828800"/>
            <a:ext cx="685800" cy="685800"/>
          </a:xfrm>
          <a:prstGeom prst="ellipse">
            <a:avLst/>
          </a:prstGeom>
          <a:solidFill>
            <a:schemeClr val="accent1"/>
          </a:solidFill>
          <a:ln/>
        </p:spPr>
      </p:sp>
      <p:sp>
        <p:nvSpPr>
          <p:cNvPr id="6" name="Text 4"/>
          <p:cNvSpPr txBox="1"/>
          <p:nvPr/>
        </p:nvSpPr>
        <p:spPr>
          <a:xfrm>
            <a:off x="822960"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5"/>
          <p:cNvSpPr txBox="1"/>
          <p:nvPr/>
        </p:nvSpPr>
        <p:spPr>
          <a:xfrm>
            <a:off x="822960"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Walk the roof</a:t>
            </a:r>
            <a:endParaRPr lang="en-US" sz="2100" dirty="0"/>
          </a:p>
        </p:txBody>
      </p:sp>
      <p:sp>
        <p:nvSpPr>
          <p:cNvPr id="8" name="Text 6"/>
          <p:cNvSpPr txBox="1"/>
          <p:nvPr/>
        </p:nvSpPr>
        <p:spPr>
          <a:xfrm>
            <a:off x="822960"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Look it over. (If needed)</a:t>
            </a:r>
            <a:endParaRPr lang="en-US" sz="1600" dirty="0"/>
          </a:p>
        </p:txBody>
      </p:sp>
      <p:sp>
        <p:nvSpPr>
          <p:cNvPr id="9" name="Step 2 card"/>
          <p:cNvSpPr/>
          <p:nvPr/>
        </p:nvSpPr>
        <p:spPr>
          <a:xfrm>
            <a:off x="4338218" y="1554480"/>
            <a:ext cx="3515258" cy="2057400"/>
          </a:xfrm>
          <a:prstGeom prst="roundRect">
            <a:avLst>
              <a:gd name="adj" fmla="val 4444"/>
            </a:avLst>
          </a:prstGeom>
          <a:solidFill>
            <a:schemeClr val="bg2"/>
          </a:solidFill>
          <a:ln/>
        </p:spPr>
      </p:sp>
      <p:sp>
        <p:nvSpPr>
          <p:cNvPr id="10" name="Step 2 number"/>
          <p:cNvSpPr/>
          <p:nvPr/>
        </p:nvSpPr>
        <p:spPr>
          <a:xfrm>
            <a:off x="4612538" y="1828800"/>
            <a:ext cx="685800" cy="685800"/>
          </a:xfrm>
          <a:prstGeom prst="ellipse">
            <a:avLst/>
          </a:prstGeom>
          <a:solidFill>
            <a:schemeClr val="accent1"/>
          </a:solidFill>
          <a:ln/>
        </p:spPr>
      </p:sp>
      <p:sp>
        <p:nvSpPr>
          <p:cNvPr id="11" name="Text 9"/>
          <p:cNvSpPr txBox="1"/>
          <p:nvPr/>
        </p:nvSpPr>
        <p:spPr>
          <a:xfrm>
            <a:off x="4612538"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2" name="Text 10"/>
          <p:cNvSpPr txBox="1"/>
          <p:nvPr/>
        </p:nvSpPr>
        <p:spPr>
          <a:xfrm>
            <a:off x="4612538"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Adhesion test</a:t>
            </a:r>
            <a:endParaRPr lang="en-US" sz="2100" dirty="0"/>
          </a:p>
        </p:txBody>
      </p:sp>
      <p:sp>
        <p:nvSpPr>
          <p:cNvPr id="13" name="Text 11"/>
          <p:cNvSpPr txBox="1"/>
          <p:nvPr/>
        </p:nvSpPr>
        <p:spPr>
          <a:xfrm>
            <a:off x="4612538"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Will the coating stick? (If needed)</a:t>
            </a:r>
            <a:endParaRPr lang="en-US" sz="1600" dirty="0"/>
          </a:p>
        </p:txBody>
      </p:sp>
      <p:sp>
        <p:nvSpPr>
          <p:cNvPr id="14" name="Step 3 card"/>
          <p:cNvSpPr/>
          <p:nvPr/>
        </p:nvSpPr>
        <p:spPr>
          <a:xfrm>
            <a:off x="8127797" y="1554480"/>
            <a:ext cx="3515258" cy="2057400"/>
          </a:xfrm>
          <a:prstGeom prst="roundRect">
            <a:avLst>
              <a:gd name="adj" fmla="val 4444"/>
            </a:avLst>
          </a:prstGeom>
          <a:solidFill>
            <a:schemeClr val="bg2"/>
          </a:solidFill>
          <a:ln/>
        </p:spPr>
      </p:sp>
      <p:sp>
        <p:nvSpPr>
          <p:cNvPr id="15" name="Step 3 number"/>
          <p:cNvSpPr/>
          <p:nvPr/>
        </p:nvSpPr>
        <p:spPr>
          <a:xfrm>
            <a:off x="8402117" y="1828800"/>
            <a:ext cx="685800" cy="685800"/>
          </a:xfrm>
          <a:prstGeom prst="ellipse">
            <a:avLst/>
          </a:prstGeom>
          <a:solidFill>
            <a:schemeClr val="accent1"/>
          </a:solidFill>
          <a:ln/>
        </p:spPr>
      </p:sp>
      <p:sp>
        <p:nvSpPr>
          <p:cNvPr id="16" name="Text 14"/>
          <p:cNvSpPr txBox="1"/>
          <p:nvPr/>
        </p:nvSpPr>
        <p:spPr>
          <a:xfrm>
            <a:off x="8402117"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7" name="Text 15"/>
          <p:cNvSpPr txBox="1"/>
          <p:nvPr/>
        </p:nvSpPr>
        <p:spPr>
          <a:xfrm>
            <a:off x="8402117"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Moisture survey</a:t>
            </a:r>
            <a:endParaRPr lang="en-US" sz="2100" dirty="0"/>
          </a:p>
        </p:txBody>
      </p:sp>
      <p:sp>
        <p:nvSpPr>
          <p:cNvPr id="18" name="Text 16"/>
          <p:cNvSpPr txBox="1"/>
          <p:nvPr/>
        </p:nvSpPr>
        <p:spPr>
          <a:xfrm>
            <a:off x="8402117"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Is it wet inside? (If needed)</a:t>
            </a:r>
            <a:endParaRPr lang="en-US" sz="1600" dirty="0"/>
          </a:p>
        </p:txBody>
      </p:sp>
      <p:sp>
        <p:nvSpPr>
          <p:cNvPr id="19" name="Step 4 card"/>
          <p:cNvSpPr/>
          <p:nvPr/>
        </p:nvSpPr>
        <p:spPr>
          <a:xfrm>
            <a:off x="548640" y="3886200"/>
            <a:ext cx="3515258" cy="2057400"/>
          </a:xfrm>
          <a:prstGeom prst="roundRect">
            <a:avLst>
              <a:gd name="adj" fmla="val 4444"/>
            </a:avLst>
          </a:prstGeom>
          <a:solidFill>
            <a:schemeClr val="bg2"/>
          </a:solidFill>
          <a:ln/>
        </p:spPr>
      </p:sp>
      <p:sp>
        <p:nvSpPr>
          <p:cNvPr id="20" name="Step 4 number"/>
          <p:cNvSpPr/>
          <p:nvPr/>
        </p:nvSpPr>
        <p:spPr>
          <a:xfrm>
            <a:off x="822960" y="4160520"/>
            <a:ext cx="685800" cy="685800"/>
          </a:xfrm>
          <a:prstGeom prst="ellipse">
            <a:avLst/>
          </a:prstGeom>
          <a:solidFill>
            <a:schemeClr val="accent1"/>
          </a:solidFill>
          <a:ln/>
        </p:spPr>
      </p:sp>
      <p:sp>
        <p:nvSpPr>
          <p:cNvPr id="21" name="Text 19"/>
          <p:cNvSpPr txBox="1"/>
          <p:nvPr/>
        </p:nvSpPr>
        <p:spPr>
          <a:xfrm>
            <a:off x="822960"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2" name="Text 20"/>
          <p:cNvSpPr txBox="1"/>
          <p:nvPr/>
        </p:nvSpPr>
        <p:spPr>
          <a:xfrm>
            <a:off x="822960"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Fix the roof</a:t>
            </a:r>
            <a:endParaRPr lang="en-US" sz="2100" dirty="0"/>
          </a:p>
        </p:txBody>
      </p:sp>
      <p:sp>
        <p:nvSpPr>
          <p:cNvPr id="23" name="Text 21"/>
          <p:cNvSpPr txBox="1"/>
          <p:nvPr/>
        </p:nvSpPr>
        <p:spPr>
          <a:xfrm>
            <a:off x="822960"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Repair what's broken</a:t>
            </a:r>
            <a:endParaRPr lang="en-US" sz="1600" dirty="0"/>
          </a:p>
        </p:txBody>
      </p:sp>
      <p:sp>
        <p:nvSpPr>
          <p:cNvPr id="24" name="Step 5 card"/>
          <p:cNvSpPr/>
          <p:nvPr/>
        </p:nvSpPr>
        <p:spPr>
          <a:xfrm>
            <a:off x="4338218" y="3886200"/>
            <a:ext cx="3515258" cy="2057400"/>
          </a:xfrm>
          <a:prstGeom prst="roundRect">
            <a:avLst>
              <a:gd name="adj" fmla="val 4444"/>
            </a:avLst>
          </a:prstGeom>
          <a:solidFill>
            <a:schemeClr val="bg2"/>
          </a:solidFill>
          <a:ln/>
        </p:spPr>
      </p:sp>
      <p:sp>
        <p:nvSpPr>
          <p:cNvPr id="25" name="Step 5 number"/>
          <p:cNvSpPr/>
          <p:nvPr/>
        </p:nvSpPr>
        <p:spPr>
          <a:xfrm>
            <a:off x="4612538" y="4160520"/>
            <a:ext cx="685800" cy="685800"/>
          </a:xfrm>
          <a:prstGeom prst="ellipse">
            <a:avLst/>
          </a:prstGeom>
          <a:solidFill>
            <a:schemeClr val="accent1"/>
          </a:solidFill>
          <a:ln/>
        </p:spPr>
      </p:sp>
      <p:sp>
        <p:nvSpPr>
          <p:cNvPr id="26" name="Text 24"/>
          <p:cNvSpPr txBox="1"/>
          <p:nvPr/>
        </p:nvSpPr>
        <p:spPr>
          <a:xfrm>
            <a:off x="4612538"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7" name="Text 25"/>
          <p:cNvSpPr txBox="1"/>
          <p:nvPr/>
        </p:nvSpPr>
        <p:spPr>
          <a:xfrm>
            <a:off x="4612538"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Restore</a:t>
            </a:r>
            <a:endParaRPr lang="en-US" sz="2100" dirty="0"/>
          </a:p>
        </p:txBody>
      </p:sp>
      <p:sp>
        <p:nvSpPr>
          <p:cNvPr id="28" name="Text 26"/>
          <p:cNvSpPr txBox="1"/>
          <p:nvPr/>
        </p:nvSpPr>
        <p:spPr>
          <a:xfrm>
            <a:off x="4612538"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Apply the coating system</a:t>
            </a:r>
            <a:endParaRPr lang="en-US" sz="1600" dirty="0"/>
          </a:p>
        </p:txBody>
      </p:sp>
      <p:sp>
        <p:nvSpPr>
          <p:cNvPr id="29" name="Step 6 card"/>
          <p:cNvSpPr/>
          <p:nvPr/>
        </p:nvSpPr>
        <p:spPr>
          <a:xfrm>
            <a:off x="8127797" y="3886200"/>
            <a:ext cx="3515258" cy="2057400"/>
          </a:xfrm>
          <a:prstGeom prst="roundRect">
            <a:avLst>
              <a:gd name="adj" fmla="val 4444"/>
            </a:avLst>
          </a:prstGeom>
          <a:solidFill>
            <a:schemeClr val="bg2"/>
          </a:solidFill>
          <a:ln/>
        </p:spPr>
      </p:sp>
      <p:sp>
        <p:nvSpPr>
          <p:cNvPr id="30" name="Step 6 number"/>
          <p:cNvSpPr/>
          <p:nvPr/>
        </p:nvSpPr>
        <p:spPr>
          <a:xfrm>
            <a:off x="8402117" y="4160520"/>
            <a:ext cx="685800" cy="685800"/>
          </a:xfrm>
          <a:prstGeom prst="ellipse">
            <a:avLst/>
          </a:prstGeom>
          <a:solidFill>
            <a:schemeClr val="accent1"/>
          </a:solidFill>
          <a:ln/>
        </p:spPr>
      </p:sp>
      <p:sp>
        <p:nvSpPr>
          <p:cNvPr id="31" name="Text 29"/>
          <p:cNvSpPr txBox="1"/>
          <p:nvPr/>
        </p:nvSpPr>
        <p:spPr>
          <a:xfrm>
            <a:off x="8402117"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6</a:t>
            </a:r>
            <a:endParaRPr lang="en-US" sz="2600" dirty="0"/>
          </a:p>
        </p:txBody>
      </p:sp>
      <p:sp>
        <p:nvSpPr>
          <p:cNvPr id="32" name="Text 30"/>
          <p:cNvSpPr txBox="1"/>
          <p:nvPr/>
        </p:nvSpPr>
        <p:spPr>
          <a:xfrm>
            <a:off x="8402117"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Final inspection</a:t>
            </a:r>
            <a:endParaRPr lang="en-US" sz="2100" dirty="0"/>
          </a:p>
        </p:txBody>
      </p:sp>
      <p:sp>
        <p:nvSpPr>
          <p:cNvPr id="33" name="Text 31"/>
          <p:cNvSpPr txBox="1"/>
          <p:nvPr/>
        </p:nvSpPr>
        <p:spPr>
          <a:xfrm>
            <a:off x="8402117"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Check the work. (If needed)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1: Walk the Roof</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Best done with a Henry rep</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It's free</a:t>
            </a:r>
            <a:r>
              <a:rPr lang="en-US" sz="2400" dirty="0">
                <a:solidFill>
                  <a:schemeClr val="tx1"/>
                </a:solidFill>
                <a:latin typeface="Calibri" pitchFamily="34" charset="0"/>
                <a:ea typeface="Calibri" pitchFamily="34" charset="-122"/>
                <a:cs typeface="Calibri" pitchFamily="34" charset="-120"/>
              </a:rPr>
              <a:t> — no charge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We just need a way onto the roof</a:t>
            </a:r>
            <a:endParaRPr lang="en-US" sz="2400" dirty="0"/>
          </a:p>
        </p:txBody>
      </p:sp>
      <p:pic>
        <p:nvPicPr>
          <p:cNvPr id="5" name="Photo" descr="Photo">    </p:cNvPr>
          <p:cNvPicPr>
            <a:picLocks noChangeAspect="1"/>
          </p:cNvPicPr>
          <p:nvPr/>
        </p:nvPicPr>
        <p:blipFill>
          <a:blip r:embed="rId1"/>
          <a:stretch>
            <a:fillRect/>
          </a:stretch>
        </p:blipFill>
        <p:spPr>
          <a:xfrm>
            <a:off x="6217920" y="2613240"/>
            <a:ext cx="5425135" cy="24087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2: Adhesion Test — Will It Stick?</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Checks that the coating will stick to this roof</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Required on</a:t>
            </a:r>
            <a:r>
              <a:rPr lang="en-US" sz="2400" dirty="0">
                <a:solidFill>
                  <a:schemeClr val="tx1"/>
                </a:solidFill>
                <a:latin typeface="Calibri" pitchFamily="34" charset="0"/>
                <a:ea typeface="Calibri" pitchFamily="34" charset="-122"/>
                <a:cs typeface="Calibri" pitchFamily="34" charset="-120"/>
              </a:rPr>
              <a:t> — single-ply, metal, smooth asphalt, and roofs coated before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Best result</a:t>
            </a:r>
            <a:r>
              <a:rPr lang="en-US" sz="2400" dirty="0">
                <a:solidFill>
                  <a:schemeClr val="tx1"/>
                </a:solidFill>
                <a:latin typeface="Calibri" pitchFamily="34" charset="0"/>
                <a:ea typeface="Calibri" pitchFamily="34" charset="-122"/>
                <a:cs typeface="Calibri" pitchFamily="34" charset="-120"/>
              </a:rPr>
              <a:t> — the coating tears before it lets go (called "cohesive failure")</a:t>
            </a:r>
            <a:endParaRPr lang="en-US" sz="2400" dirty="0"/>
          </a:p>
        </p:txBody>
      </p:sp>
      <p:pic>
        <p:nvPicPr>
          <p:cNvPr id="5" name="Photo" descr="Photo">    </p:cNvPr>
          <p:cNvPicPr>
            <a:picLocks noChangeAspect="1"/>
          </p:cNvPicPr>
          <p:nvPr/>
        </p:nvPicPr>
        <p:blipFill>
          <a:blip r:embed="rId1"/>
          <a:stretch>
            <a:fillRect/>
          </a:stretch>
        </p:blipFill>
        <p:spPr>
          <a:xfrm>
            <a:off x="6217920" y="2768761"/>
            <a:ext cx="5425135" cy="209771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How to Do the Pull Test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Cut</a:t>
            </a:r>
            <a:r>
              <a:rPr lang="en-US" sz="2400" dirty="0">
                <a:solidFill>
                  <a:schemeClr val="tx1"/>
                </a:solidFill>
                <a:latin typeface="Calibri" pitchFamily="34" charset="0"/>
                <a:ea typeface="Calibri" pitchFamily="34" charset="-122"/>
                <a:cs typeface="Calibri" pitchFamily="34" charset="-120"/>
              </a:rPr>
              <a:t> — slice along both sides of the test strip</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Pull</a:t>
            </a:r>
            <a:r>
              <a:rPr lang="en-US" sz="2400" dirty="0">
                <a:solidFill>
                  <a:schemeClr val="tx1"/>
                </a:solidFill>
                <a:latin typeface="Calibri" pitchFamily="34" charset="0"/>
                <a:ea typeface="Calibri" pitchFamily="34" charset="-122"/>
                <a:cs typeface="Calibri" pitchFamily="34" charset="-120"/>
              </a:rPr>
              <a:t> — lift it up and back, at 90° to 135°</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Measure</a:t>
            </a:r>
            <a:r>
              <a:rPr lang="en-US" sz="2400" dirty="0">
                <a:solidFill>
                  <a:schemeClr val="tx1"/>
                </a:solidFill>
                <a:latin typeface="Calibri" pitchFamily="34" charset="0"/>
                <a:ea typeface="Calibri" pitchFamily="34" charset="-122"/>
                <a:cs typeface="Calibri" pitchFamily="34" charset="-120"/>
              </a:rPr>
              <a:t> — it must hold at least 2.0 lbs per inch</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Pass</a:t>
            </a:r>
            <a:r>
              <a:rPr lang="en-US" sz="2400" dirty="0">
                <a:solidFill>
                  <a:schemeClr val="tx1"/>
                </a:solidFill>
                <a:latin typeface="Calibri" pitchFamily="34" charset="0"/>
                <a:ea typeface="Calibri" pitchFamily="34" charset="-122"/>
                <a:cs typeface="Calibri" pitchFamily="34" charset="-120"/>
              </a:rPr>
              <a:t> — the coating tears apart (cohesive)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Fail</a:t>
            </a:r>
            <a:r>
              <a:rPr lang="en-US" sz="2400" dirty="0">
                <a:solidFill>
                  <a:schemeClr val="tx1"/>
                </a:solidFill>
                <a:latin typeface="Calibri" pitchFamily="34" charset="0"/>
                <a:ea typeface="Calibri" pitchFamily="34" charset="-122"/>
                <a:cs typeface="Calibri" pitchFamily="34" charset="-120"/>
              </a:rPr>
              <a:t> — the coating peels off clean (adhesive)</a:t>
            </a:r>
            <a:endParaRPr lang="en-US" sz="2400" dirty="0"/>
          </a:p>
        </p:txBody>
      </p:sp>
      <p:pic>
        <p:nvPicPr>
          <p:cNvPr id="5" name="Photo" descr="Photo">    </p:cNvPr>
          <p:cNvPicPr>
            <a:picLocks noChangeAspect="1"/>
          </p:cNvPicPr>
          <p:nvPr/>
        </p:nvPicPr>
        <p:blipFill>
          <a:blip r:embed="rId1"/>
          <a:stretch>
            <a:fillRect/>
          </a:stretch>
        </p:blipFill>
        <p:spPr>
          <a:xfrm>
            <a:off x="6217920" y="2714509"/>
            <a:ext cx="5425135" cy="220622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3: Moisture Survey — Is It Wet Inside?</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Find wet insulation</a:t>
            </a:r>
            <a:r>
              <a:rPr lang="en-US" sz="2000" dirty="0">
                <a:solidFill>
                  <a:schemeClr val="tx1"/>
                </a:solidFill>
                <a:latin typeface="Calibri" pitchFamily="34" charset="0"/>
                <a:ea typeface="Calibri" pitchFamily="34" charset="-122"/>
                <a:cs typeface="Calibri" pitchFamily="34" charset="-120"/>
              </a:rPr>
              <a:t> — infrared scans and core cuts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More than 25% wet</a:t>
            </a:r>
            <a:r>
              <a:rPr lang="en-US" sz="2000" dirty="0">
                <a:solidFill>
                  <a:schemeClr val="tx1"/>
                </a:solidFill>
                <a:latin typeface="Calibri" pitchFamily="34" charset="0"/>
                <a:ea typeface="Calibri" pitchFamily="34" charset="-122"/>
                <a:cs typeface="Calibri" pitchFamily="34" charset="-120"/>
              </a:rPr>
              <a:t> — not a candidate. Replace the roof.</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Less than 25% wet</a:t>
            </a:r>
            <a:r>
              <a:rPr lang="en-US" sz="2000" dirty="0">
                <a:solidFill>
                  <a:schemeClr val="tx1"/>
                </a:solidFill>
                <a:latin typeface="Calibri" pitchFamily="34" charset="0"/>
                <a:ea typeface="Calibri" pitchFamily="34" charset="-122"/>
                <a:cs typeface="Calibri" pitchFamily="34" charset="-120"/>
              </a:rPr>
              <a:t> — cut out the wet areas and replace them</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Test methods</a:t>
            </a:r>
            <a:r>
              <a:rPr lang="en-US" sz="2000" dirty="0">
                <a:solidFill>
                  <a:schemeClr val="tx1"/>
                </a:solidFill>
                <a:latin typeface="Calibri" pitchFamily="34" charset="0"/>
                <a:ea typeface="Calibri" pitchFamily="34" charset="-122"/>
                <a:cs typeface="Calibri" pitchFamily="34" charset="-120"/>
              </a:rPr>
              <a:t> — nuclear, infrared, impedance, or cores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You need</a:t>
            </a:r>
            <a:r>
              <a:rPr lang="en-US" sz="2000" dirty="0">
                <a:solidFill>
                  <a:schemeClr val="tx1"/>
                </a:solidFill>
                <a:latin typeface="Calibri" pitchFamily="34" charset="0"/>
                <a:ea typeface="Calibri" pitchFamily="34" charset="-122"/>
                <a:cs typeface="Calibri" pitchFamily="34" charset="-120"/>
              </a:rPr>
              <a:t> — a roof map and NRCA guidelines</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Not needed on metal roofs</a:t>
            </a:r>
            <a:endParaRPr lang="en-US" sz="2000" dirty="0"/>
          </a:p>
        </p:txBody>
      </p:sp>
      <p:pic>
        <p:nvPicPr>
          <p:cNvPr id="5" name="Photo" descr="Photo">    </p:cNvPr>
          <p:cNvPicPr>
            <a:picLocks noChangeAspect="1"/>
          </p:cNvPicPr>
          <p:nvPr/>
        </p:nvPicPr>
        <p:blipFill>
          <a:blip r:embed="rId1"/>
          <a:stretch>
            <a:fillRect/>
          </a:stretch>
        </p:blipFill>
        <p:spPr>
          <a:xfrm>
            <a:off x="6217920" y="2230768"/>
            <a:ext cx="5425135" cy="3173704"/>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Drone Moisture Scan</a:t>
            </a:r>
            <a:endParaRPr lang="en-US" sz="3000" dirty="0"/>
          </a:p>
        </p:txBody>
      </p:sp>
      <p:pic>
        <p:nvPicPr>
          <p:cNvPr id="4" name="Photo" descr="Photo">    </p:cNvPr>
          <p:cNvPicPr>
            <a:picLocks noChangeAspect="1"/>
          </p:cNvPicPr>
          <p:nvPr/>
        </p:nvPicPr>
        <p:blipFill>
          <a:blip r:embed="rId1"/>
          <a:stretch>
            <a:fillRect/>
          </a:stretch>
        </p:blipFill>
        <p:spPr>
          <a:xfrm>
            <a:off x="1242494" y="1417320"/>
            <a:ext cx="9706708"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Hot spots on the heat scan can mean trapped water under the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4: Repair First, Then Restore</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Replace wet insulation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Replace damaged deck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Fill damaged spots with matching roof material</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The roof must be solid and watertight before you coat it</a:t>
            </a:r>
            <a:endParaRPr lang="en-US" sz="2400" dirty="0"/>
          </a:p>
        </p:txBody>
      </p:sp>
      <p:pic>
        <p:nvPicPr>
          <p:cNvPr id="5" name="Photo" descr="Photo">    </p:cNvPr>
          <p:cNvPicPr>
            <a:picLocks noChangeAspect="1"/>
          </p:cNvPicPr>
          <p:nvPr/>
        </p:nvPicPr>
        <p:blipFill>
          <a:blip r:embed="rId1"/>
          <a:stretch>
            <a:fillRect/>
          </a:stretch>
        </p:blipFill>
        <p:spPr>
          <a:xfrm>
            <a:off x="6217920" y="2622282"/>
            <a:ext cx="5425135" cy="239067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Complete Line of Products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One system, one brand — saves you time and money.</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Product Lineup</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Topcoats</a:t>
            </a:r>
            <a:r>
              <a:rPr lang="en-US" sz="2200" dirty="0">
                <a:solidFill>
                  <a:schemeClr val="tx1"/>
                </a:solidFill>
                <a:latin typeface="Calibri" pitchFamily="34" charset="0"/>
                <a:ea typeface="Calibri" pitchFamily="34" charset="-122"/>
                <a:cs typeface="Calibri" pitchFamily="34" charset="-120"/>
              </a:rPr>
              <a:t> — 510, 610 Fast-Set, 550 High Tensile, 400</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Basecoats</a:t>
            </a:r>
            <a:r>
              <a:rPr lang="en-US" sz="2200" dirty="0">
                <a:solidFill>
                  <a:schemeClr val="tx1"/>
                </a:solidFill>
                <a:latin typeface="Calibri" pitchFamily="34" charset="0"/>
                <a:ea typeface="Calibri" pitchFamily="34" charset="-122"/>
                <a:cs typeface="Calibri" pitchFamily="34" charset="-120"/>
              </a:rPr>
              <a:t> — 505, 605 Fast-Set, 501 SPF</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Asphalt base</a:t>
            </a:r>
            <a:r>
              <a:rPr lang="en-US" sz="2200" dirty="0">
                <a:solidFill>
                  <a:schemeClr val="tx1"/>
                </a:solidFill>
                <a:latin typeface="Calibri" pitchFamily="34" charset="0"/>
                <a:ea typeface="Calibri" pitchFamily="34" charset="-122"/>
                <a:cs typeface="Calibri" pitchFamily="34" charset="-120"/>
              </a:rPr>
              <a:t> — Pro-Grade 197 Emulsion</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Primer</a:t>
            </a:r>
            <a:r>
              <a:rPr lang="en-US" sz="2200" dirty="0">
                <a:solidFill>
                  <a:schemeClr val="tx1"/>
                </a:solidFill>
                <a:latin typeface="Calibri" pitchFamily="34" charset="0"/>
                <a:ea typeface="Calibri" pitchFamily="34" charset="-122"/>
                <a:cs typeface="Calibri" pitchFamily="34" charset="-120"/>
              </a:rPr>
              <a:t> — Prime-Tek TPO</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Sealants</a:t>
            </a:r>
            <a:r>
              <a:rPr lang="en-US" sz="2200" dirty="0">
                <a:solidFill>
                  <a:schemeClr val="tx1"/>
                </a:solidFill>
                <a:latin typeface="Calibri" pitchFamily="34" charset="0"/>
                <a:ea typeface="Calibri" pitchFamily="34" charset="-122"/>
                <a:cs typeface="Calibri" pitchFamily="34" charset="-120"/>
              </a:rPr>
              <a:t> — 289 White, 295 Metal Seam</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Reinforcement</a:t>
            </a:r>
            <a:r>
              <a:rPr lang="en-US" sz="2200" dirty="0">
                <a:solidFill>
                  <a:schemeClr val="tx1"/>
                </a:solidFill>
                <a:latin typeface="Calibri" pitchFamily="34" charset="0"/>
                <a:ea typeface="Calibri" pitchFamily="34" charset="-122"/>
                <a:cs typeface="Calibri" pitchFamily="34" charset="-120"/>
              </a:rPr>
              <a:t> — Seal-Tek Micro Fibers, 195/196 Fabric</a:t>
            </a:r>
            <a:endParaRPr lang="en-US" sz="2200" dirty="0"/>
          </a:p>
        </p:txBody>
      </p:sp>
      <p:pic>
        <p:nvPicPr>
          <p:cNvPr id="5" name="Photo" descr="Photo">    </p:cNvPr>
          <p:cNvPicPr>
            <a:picLocks noChangeAspect="1"/>
          </p:cNvPicPr>
          <p:nvPr/>
        </p:nvPicPr>
        <p:blipFill>
          <a:blip r:embed="rId1"/>
          <a:stretch>
            <a:fillRect/>
          </a:stretch>
        </p:blipFill>
        <p:spPr>
          <a:xfrm>
            <a:off x="7086320" y="1463040"/>
            <a:ext cx="3688336"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AcryShield Topcoats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Pick the topcoat by the job.</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Choosing a Topcoat</a:t>
            </a:r>
            <a:endParaRPr lang="en-US" sz="3000" dirty="0"/>
          </a:p>
        </p:txBody>
      </p:sp>
      <p:graphicFrame>
        <p:nvGraphicFramePr>
          <p:cNvPr id="97"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572618"/>
                <a:gridCol w="8521797"/>
              </a:tblGrid>
              <a:tr h="0">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Topcoat</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Best for</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510</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The standard, go-to topcoat</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610 Fast-Set</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Fast-setting — handles heavy dew and light rain</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550 High Tensile</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Toughest and stretchiest. Highest reflectivity (SRI).</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400</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Multi-purpose topcoat</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5"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All four: meet codes. White, sand, light gray, dark gray. 5-gal and 55-gal drums.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NEW: AcryShield 250 Elastomeric Coating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Budget topcoat or basecoat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CRRC rated. Meets Title 24.</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White</a:t>
            </a:r>
            <a:r>
              <a:rPr lang="en-US" sz="2400" dirty="0">
                <a:solidFill>
                  <a:schemeClr val="tx1"/>
                </a:solidFill>
                <a:latin typeface="Calibri" pitchFamily="34" charset="0"/>
                <a:ea typeface="Calibri" pitchFamily="34" charset="-122"/>
                <a:cs typeface="Calibri" pitchFamily="34" charset="-120"/>
              </a:rPr>
              <a:t> — 5-gal, 55-gal</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Material warranty ONLY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No Material Plus or Gold Seal warranties</a:t>
            </a:r>
            <a:endParaRPr lang="en-US" sz="2400" dirty="0"/>
          </a:p>
        </p:txBody>
      </p:sp>
      <p:pic>
        <p:nvPicPr>
          <p:cNvPr id="5" name="Photo" descr="Photo">    </p:cNvPr>
          <p:cNvPicPr>
            <a:picLocks noChangeAspect="1"/>
          </p:cNvPicPr>
          <p:nvPr/>
        </p:nvPicPr>
        <p:blipFill>
          <a:blip r:embed="rId1"/>
          <a:stretch>
            <a:fillRect/>
          </a:stretch>
        </p:blipFill>
        <p:spPr>
          <a:xfrm>
            <a:off x="7023711" y="1463040"/>
            <a:ext cx="3813553"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AcryShield Basecoats, Accessories &amp; Primers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The basecoat is the foundation.</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Choosing a Basecoat</a:t>
            </a:r>
            <a:endParaRPr lang="en-US" sz="3000" dirty="0"/>
          </a:p>
        </p:txBody>
      </p:sp>
      <p:graphicFrame>
        <p:nvGraphicFramePr>
          <p:cNvPr id="100"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098943"/>
                <a:gridCol w="8995472"/>
              </a:tblGrid>
              <a:tr h="0">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Basecoat</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Best for</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505</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The standard. Blocks stains, sticks great. Buff.</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605 Fast-Set</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Handles heavy dew and light rain. Blocks stains. Buff.</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400</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Blocks stains. White, sand, light and dark gray.</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Pro-Grade 294</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For specs that use Pro-Grade 280. Blocks stains. Medium gray.</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5"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505, 605, 400: 5-gal and 55-gal. 294: 5-gal, 55-gal, 275-gal tote.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Prime-Tek TPO Primer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Helps coating stick to TPO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TPO only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Use under AcryShield acrylics and Pro-Grade 988 silicone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Dries fast. Low fumes (low VOC).</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Red</a:t>
            </a:r>
            <a:r>
              <a:rPr lang="en-US" sz="2400" dirty="0">
                <a:solidFill>
                  <a:schemeClr val="tx1"/>
                </a:solidFill>
                <a:latin typeface="Calibri" pitchFamily="34" charset="0"/>
                <a:ea typeface="Calibri" pitchFamily="34" charset="-122"/>
                <a:cs typeface="Calibri" pitchFamily="34" charset="-120"/>
              </a:rPr>
              <a:t> — 5-gal pail</a:t>
            </a:r>
            <a:endParaRPr lang="en-US" sz="2400" dirty="0"/>
          </a:p>
        </p:txBody>
      </p:sp>
      <p:pic>
        <p:nvPicPr>
          <p:cNvPr id="5" name="Photo" descr="Photo">    </p:cNvPr>
          <p:cNvPicPr>
            <a:picLocks noChangeAspect="1"/>
          </p:cNvPicPr>
          <p:nvPr/>
        </p:nvPicPr>
        <p:blipFill>
          <a:blip r:embed="rId1"/>
          <a:stretch>
            <a:fillRect/>
          </a:stretch>
        </p:blipFill>
        <p:spPr>
          <a:xfrm>
            <a:off x="7029470" y="1463040"/>
            <a:ext cx="3802035"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197 Asphalt Emulsion</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Cold-applied coating for asphalt roofs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Keeps water out and smooths rough spots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Adds life to the old roof</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Low odor. Meets VOC rules everywhere.</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Must be topcoated</a:t>
            </a:r>
            <a:r>
              <a:rPr lang="en-US" sz="2200" dirty="0">
                <a:solidFill>
                  <a:schemeClr val="tx1"/>
                </a:solidFill>
                <a:latin typeface="Calibri" pitchFamily="34" charset="0"/>
                <a:ea typeface="Calibri" pitchFamily="34" charset="-122"/>
                <a:cs typeface="Calibri" pitchFamily="34" charset="-120"/>
              </a:rPr>
              <a:t> — with acrylic or aluminum</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Black</a:t>
            </a:r>
            <a:r>
              <a:rPr lang="en-US" sz="2200" dirty="0">
                <a:solidFill>
                  <a:schemeClr val="tx1"/>
                </a:solidFill>
                <a:latin typeface="Calibri" pitchFamily="34" charset="0"/>
                <a:ea typeface="Calibri" pitchFamily="34" charset="-122"/>
                <a:cs typeface="Calibri" pitchFamily="34" charset="-120"/>
              </a:rPr>
              <a:t> — 5-gal, 55-gal, 275-gal tote, bulk</a:t>
            </a:r>
            <a:endParaRPr lang="en-US" sz="2200" dirty="0"/>
          </a:p>
        </p:txBody>
      </p:sp>
      <p:pic>
        <p:nvPicPr>
          <p:cNvPr id="5" name="Photo" descr="Photo">    </p:cNvPr>
          <p:cNvPicPr>
            <a:picLocks noChangeAspect="1"/>
          </p:cNvPicPr>
          <p:nvPr/>
        </p:nvPicPr>
        <p:blipFill>
          <a:blip r:embed="rId1"/>
          <a:stretch>
            <a:fillRect/>
          </a:stretch>
        </p:blipFill>
        <p:spPr>
          <a:xfrm>
            <a:off x="7147273" y="1463040"/>
            <a:ext cx="3566428"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295 Metal Seam Sealer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Rubber-based (SEBS) sealant for metal roofs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Strong and stretchy</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For seams that move less than 1/8"</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No fabric needed</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Can be coated over</a:t>
            </a:r>
            <a:r>
              <a:rPr lang="en-US" sz="2200" dirty="0">
                <a:solidFill>
                  <a:schemeClr val="tx1"/>
                </a:solidFill>
                <a:latin typeface="Calibri" pitchFamily="34" charset="0"/>
                <a:ea typeface="Calibri" pitchFamily="34" charset="-122"/>
                <a:cs typeface="Calibri" pitchFamily="34" charset="-120"/>
              </a:rPr>
              <a:t> — water-based, solvent-based, or aluminum coatings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Brush, pump spray, or bulk gun</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Off-white</a:t>
            </a:r>
            <a:r>
              <a:rPr lang="en-US" sz="2200" dirty="0">
                <a:solidFill>
                  <a:schemeClr val="tx1"/>
                </a:solidFill>
                <a:latin typeface="Calibri" pitchFamily="34" charset="0"/>
                <a:ea typeface="Calibri" pitchFamily="34" charset="-122"/>
                <a:cs typeface="Calibri" pitchFamily="34" charset="-120"/>
              </a:rPr>
              <a:t> — 5-gal pail</a:t>
            </a:r>
            <a:endParaRPr lang="en-US" sz="2200" dirty="0"/>
          </a:p>
        </p:txBody>
      </p:sp>
      <p:pic>
        <p:nvPicPr>
          <p:cNvPr id="5" name="Photo" descr="Photo">    </p:cNvPr>
          <p:cNvPicPr>
            <a:picLocks noChangeAspect="1"/>
          </p:cNvPicPr>
          <p:nvPr/>
        </p:nvPicPr>
        <p:blipFill>
          <a:blip r:embed="rId1"/>
          <a:stretch>
            <a:fillRect/>
          </a:stretch>
        </p:blipFill>
        <p:spPr>
          <a:xfrm>
            <a:off x="6839740" y="1463040"/>
            <a:ext cx="4181495"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289 White Roof Sealant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Acrylic patching compound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Use on dry or damp roofs</a:t>
            </a:r>
            <a:r>
              <a:rPr lang="en-US" sz="2400" dirty="0">
                <a:solidFill>
                  <a:schemeClr val="tx1"/>
                </a:solidFill>
                <a:latin typeface="Calibri" pitchFamily="34" charset="0"/>
                <a:ea typeface="Calibri" pitchFamily="34" charset="-122"/>
                <a:cs typeface="Calibri" pitchFamily="34" charset="-120"/>
              </a:rPr>
              <a:t> — not wet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Ready to use. Skins over fast.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Won't bleed through white coatings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Trowel or brush</a:t>
            </a:r>
            <a:r>
              <a:rPr lang="en-US" sz="2400" dirty="0">
                <a:solidFill>
                  <a:schemeClr val="tx1"/>
                </a:solidFill>
                <a:latin typeface="Calibri" pitchFamily="34" charset="0"/>
                <a:ea typeface="Calibri" pitchFamily="34" charset="-122"/>
                <a:cs typeface="Calibri" pitchFamily="34" charset="-120"/>
              </a:rPr>
              <a:t> — up to 1/4" thick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pipes, flashings, drains, seams, fasteners,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White</a:t>
            </a:r>
            <a:r>
              <a:rPr lang="en-US" sz="2400" dirty="0">
                <a:solidFill>
                  <a:schemeClr val="tx1"/>
                </a:solidFill>
                <a:latin typeface="Calibri" pitchFamily="34" charset="0"/>
                <a:ea typeface="Calibri" pitchFamily="34" charset="-122"/>
                <a:cs typeface="Calibri" pitchFamily="34" charset="-120"/>
              </a:rPr>
              <a:t> — 3.5-gal, 1-gal, 10.1 oz tube</a:t>
            </a:r>
            <a:endParaRPr lang="en-US" sz="2400" dirty="0"/>
          </a:p>
        </p:txBody>
      </p:sp>
      <p:pic>
        <p:nvPicPr>
          <p:cNvPr id="5" name="Photo" descr="Photo">    </p:cNvPr>
          <p:cNvPicPr>
            <a:picLocks noChangeAspect="1"/>
          </p:cNvPicPr>
          <p:nvPr/>
        </p:nvPicPr>
        <p:blipFill>
          <a:blip r:embed="rId1"/>
          <a:stretch>
            <a:fillRect/>
          </a:stretch>
        </p:blipFill>
        <p:spPr>
          <a:xfrm>
            <a:off x="6217920" y="2663875"/>
            <a:ext cx="5425135" cy="230749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195 / 196 Polyester Fabric</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195</a:t>
            </a:r>
            <a:r>
              <a:rPr lang="en-US" sz="2400" dirty="0">
                <a:solidFill>
                  <a:schemeClr val="tx1"/>
                </a:solidFill>
                <a:latin typeface="Calibri" pitchFamily="34" charset="0"/>
                <a:ea typeface="Calibri" pitchFamily="34" charset="-122"/>
                <a:cs typeface="Calibri" pitchFamily="34" charset="-120"/>
              </a:rPr>
              <a:t> — soft. Bends around odd shapes.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196</a:t>
            </a:r>
            <a:r>
              <a:rPr lang="en-US" sz="2400" dirty="0">
                <a:solidFill>
                  <a:schemeClr val="tx1"/>
                </a:solidFill>
                <a:latin typeface="Calibri" pitchFamily="34" charset="0"/>
                <a:ea typeface="Calibri" pitchFamily="34" charset="-122"/>
                <a:cs typeface="Calibri" pitchFamily="34" charset="-120"/>
              </a:rPr>
              <a:t> — firmer.</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Both</a:t>
            </a:r>
            <a:r>
              <a:rPr lang="en-US" sz="2400" dirty="0">
                <a:solidFill>
                  <a:schemeClr val="tx1"/>
                </a:solidFill>
                <a:latin typeface="Calibri" pitchFamily="34" charset="0"/>
                <a:ea typeface="Calibri" pitchFamily="34" charset="-122"/>
                <a:cs typeface="Calibri" pitchFamily="34" charset="-120"/>
              </a:rPr>
              <a:t> — strong stitched polyester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drains, seams, and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195 rolls</a:t>
            </a:r>
            <a:r>
              <a:rPr lang="en-US" sz="2400" dirty="0">
                <a:solidFill>
                  <a:schemeClr val="tx1"/>
                </a:solidFill>
                <a:latin typeface="Calibri" pitchFamily="34" charset="0"/>
                <a:ea typeface="Calibri" pitchFamily="34" charset="-122"/>
                <a:cs typeface="Calibri" pitchFamily="34" charset="-120"/>
              </a:rPr>
              <a:t> — 40" × 324', 12" × 300', 6" × 300'</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196 rolls</a:t>
            </a:r>
            <a:r>
              <a:rPr lang="en-US" sz="2400" dirty="0">
                <a:solidFill>
                  <a:schemeClr val="tx1"/>
                </a:solidFill>
                <a:latin typeface="Calibri" pitchFamily="34" charset="0"/>
                <a:ea typeface="Calibri" pitchFamily="34" charset="-122"/>
                <a:cs typeface="Calibri" pitchFamily="34" charset="-120"/>
              </a:rPr>
              <a:t> — 40" × 324', 4" × 300'</a:t>
            </a:r>
            <a:endParaRPr lang="en-US" sz="2400" dirty="0"/>
          </a:p>
        </p:txBody>
      </p:sp>
      <p:pic>
        <p:nvPicPr>
          <p:cNvPr id="5" name="Photo" descr="Photo">    </p:cNvPr>
          <p:cNvPicPr>
            <a:picLocks noChangeAspect="1"/>
          </p:cNvPicPr>
          <p:nvPr/>
        </p:nvPicPr>
        <p:blipFill>
          <a:blip r:embed="rId1"/>
          <a:stretch>
            <a:fillRect/>
          </a:stretch>
        </p:blipFill>
        <p:spPr>
          <a:xfrm>
            <a:off x="8449444" y="1463040"/>
            <a:ext cx="962086"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Project Startup</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 clean, dry roof is half the job.</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Prep Step 1: Clean the Roof</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Mod-bit and BUR (granulated or smooth)</a:t>
            </a:r>
            <a:r>
              <a:rPr lang="en-US" sz="2400" dirty="0">
                <a:solidFill>
                  <a:schemeClr val="tx1"/>
                </a:solidFill>
                <a:latin typeface="Calibri" pitchFamily="34" charset="0"/>
                <a:ea typeface="Calibri" pitchFamily="34" charset="-122"/>
                <a:cs typeface="Calibri" pitchFamily="34" charset="-120"/>
              </a:rPr>
              <a:t> — power broom, dry vac, air lance (195 CFM)</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Single-ply</a:t>
            </a:r>
            <a:r>
              <a:rPr lang="en-US" sz="2400" dirty="0">
                <a:solidFill>
                  <a:schemeClr val="tx1"/>
                </a:solidFill>
                <a:latin typeface="Calibri" pitchFamily="34" charset="0"/>
                <a:ea typeface="Calibri" pitchFamily="34" charset="-122"/>
                <a:cs typeface="Calibri" pitchFamily="34" charset="-120"/>
              </a:rPr>
              <a:t> — pressure wash at 1,500–2,000 PSI. Water only!</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Metal</a:t>
            </a:r>
            <a:r>
              <a:rPr lang="en-US" sz="2400" dirty="0">
                <a:solidFill>
                  <a:schemeClr val="tx1"/>
                </a:solidFill>
                <a:latin typeface="Calibri" pitchFamily="34" charset="0"/>
                <a:ea typeface="Calibri" pitchFamily="34" charset="-122"/>
                <a:cs typeface="Calibri" pitchFamily="34" charset="-120"/>
              </a:rPr>
              <a:t> — pressure wash at 3,000+ PSI. Water only! Air lance. Wire brush the rust.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Rule</a:t>
            </a:r>
            <a:r>
              <a:rPr lang="en-US" sz="2400" dirty="0">
                <a:solidFill>
                  <a:schemeClr val="tx1"/>
                </a:solidFill>
                <a:latin typeface="Calibri" pitchFamily="34" charset="0"/>
                <a:ea typeface="Calibri" pitchFamily="34" charset="-122"/>
                <a:cs typeface="Calibri" pitchFamily="34" charset="-120"/>
              </a:rPr>
              <a:t> — all dirt gone and the roof DRY before any coating</a:t>
            </a:r>
            <a:endParaRPr lang="en-US" sz="2400" dirty="0"/>
          </a:p>
        </p:txBody>
      </p:sp>
      <p:pic>
        <p:nvPicPr>
          <p:cNvPr id="5" name="Photo" descr="Photo">    </p:cNvPr>
          <p:cNvPicPr>
            <a:picLocks noChangeAspect="1"/>
          </p:cNvPicPr>
          <p:nvPr/>
        </p:nvPicPr>
        <p:blipFill>
          <a:blip r:embed="rId1"/>
          <a:stretch>
            <a:fillRect/>
          </a:stretch>
        </p:blipFill>
        <p:spPr>
          <a:xfrm>
            <a:off x="6888068" y="1463040"/>
            <a:ext cx="4084840"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Prep Step 2: Basecoat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Asphalt or old aluminum coating</a:t>
            </a:r>
            <a:r>
              <a:rPr lang="en-US" sz="2400" dirty="0">
                <a:solidFill>
                  <a:schemeClr val="tx1"/>
                </a:solidFill>
                <a:latin typeface="Calibri" pitchFamily="34" charset="0"/>
                <a:ea typeface="Calibri" pitchFamily="34" charset="-122"/>
                <a:cs typeface="Calibri" pitchFamily="34" charset="-120"/>
              </a:rPr>
              <a:t> — AcryShield 505 or 605</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Apply by</a:t>
            </a:r>
            <a:r>
              <a:rPr lang="en-US" sz="2400" dirty="0">
                <a:solidFill>
                  <a:schemeClr val="tx1"/>
                </a:solidFill>
                <a:latin typeface="Calibri" pitchFamily="34" charset="0"/>
                <a:ea typeface="Calibri" pitchFamily="34" charset="-122"/>
                <a:cs typeface="Calibri" pitchFamily="34" charset="-120"/>
              </a:rPr>
              <a:t> — roll, squeegee and back roll, spray and back roll, or spreader</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Metal roofs</a:t>
            </a:r>
            <a:r>
              <a:rPr lang="en-US" sz="2400" dirty="0">
                <a:solidFill>
                  <a:schemeClr val="tx1"/>
                </a:solidFill>
                <a:latin typeface="Calibri" pitchFamily="34" charset="0"/>
                <a:ea typeface="Calibri" pitchFamily="34" charset="-122"/>
                <a:cs typeface="Calibri" pitchFamily="34" charset="-120"/>
              </a:rPr>
              <a:t> — AcryShield 400 or 605</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Apply by</a:t>
            </a:r>
            <a:r>
              <a:rPr lang="en-US" sz="2400" dirty="0">
                <a:solidFill>
                  <a:schemeClr val="tx1"/>
                </a:solidFill>
                <a:latin typeface="Calibri" pitchFamily="34" charset="0"/>
                <a:ea typeface="Calibri" pitchFamily="34" charset="-122"/>
                <a:cs typeface="Calibri" pitchFamily="34" charset="-120"/>
              </a:rPr>
              <a:t> — roll, spray and back roll, or tank spreader</a:t>
            </a:r>
            <a:endParaRPr lang="en-US" sz="2400" dirty="0"/>
          </a:p>
        </p:txBody>
      </p:sp>
      <p:pic>
        <p:nvPicPr>
          <p:cNvPr id="5" name="Photo" descr="Photo">    </p:cNvPr>
          <p:cNvPicPr>
            <a:picLocks noChangeAspect="1"/>
          </p:cNvPicPr>
          <p:nvPr/>
        </p:nvPicPr>
        <p:blipFill>
          <a:blip r:embed="rId1"/>
          <a:stretch>
            <a:fillRect/>
          </a:stretch>
        </p:blipFill>
        <p:spPr>
          <a:xfrm>
            <a:off x="6217920" y="2224365"/>
            <a:ext cx="5425135" cy="318651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Sweat the Details</a:t>
            </a:r>
            <a:endParaRPr lang="en-US" sz="3000" dirty="0"/>
          </a:p>
        </p:txBody>
      </p:sp>
      <p:sp>
        <p:nvSpPr>
          <p:cNvPr id="4" name="Big number"/>
          <p:cNvSpPr txBox="1"/>
          <p:nvPr/>
        </p:nvSpPr>
        <p:spPr>
          <a:xfrm>
            <a:off x="548640" y="1371600"/>
            <a:ext cx="5303520" cy="960120"/>
          </a:xfrm>
          <a:prstGeom prst="rect">
            <a:avLst/>
          </a:prstGeom>
          <a:noFill/>
          <a:ln/>
        </p:spPr>
        <p:txBody>
          <a:bodyPr wrap="square" lIns="0" tIns="0" rIns="0" bIns="0" rtlCol="0" anchor="ctr"/>
          <a:lstStyle/>
          <a:p>
            <a:pPr indent="0" marL="0">
              <a:buNone/>
            </a:pPr>
            <a:r>
              <a:rPr lang="en-US" sz="6600" b="1" dirty="0">
                <a:solidFill>
                  <a:schemeClr val="accent1"/>
                </a:solidFill>
                <a:latin typeface="Arial" pitchFamily="34" charset="0"/>
                <a:ea typeface="Arial" pitchFamily="34" charset="-122"/>
                <a:cs typeface="Arial" pitchFamily="34" charset="-120"/>
              </a:rPr>
              <a:t>90%</a:t>
            </a:r>
            <a:endParaRPr lang="en-US" sz="6600" dirty="0"/>
          </a:p>
        </p:txBody>
      </p:sp>
      <p:sp>
        <p:nvSpPr>
          <p:cNvPr id="5" name="Big number label"/>
          <p:cNvSpPr txBox="1"/>
          <p:nvPr/>
        </p:nvSpPr>
        <p:spPr>
          <a:xfrm>
            <a:off x="548640" y="2331720"/>
            <a:ext cx="5303520" cy="411480"/>
          </a:xfrm>
          <a:prstGeom prst="rect">
            <a:avLst/>
          </a:prstGeom>
          <a:noFill/>
          <a:ln/>
        </p:spPr>
        <p:txBody>
          <a:bodyPr wrap="square" lIns="0" tIns="0" rIns="0" bIns="0" rtlCol="0" anchor="ctr"/>
          <a:lstStyle/>
          <a:p>
            <a:pPr indent="0" marL="0">
              <a:buNone/>
            </a:pPr>
            <a:r>
              <a:rPr lang="en-US" sz="2000" b="1" dirty="0">
                <a:solidFill>
                  <a:schemeClr val="tx2"/>
                </a:solidFill>
              </a:rPr>
              <a:t>of roof leaks start at these spots</a:t>
            </a:r>
            <a:endParaRPr lang="en-US" sz="2000" dirty="0"/>
          </a:p>
        </p:txBody>
      </p:sp>
      <p:sp>
        <p:nvSpPr>
          <p:cNvPr id="6" name="Body text"/>
          <p:cNvSpPr txBox="1"/>
          <p:nvPr/>
        </p:nvSpPr>
        <p:spPr>
          <a:xfrm>
            <a:off x="548640" y="2971800"/>
            <a:ext cx="5303520" cy="320040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Seams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Penetrations</a:t>
            </a:r>
            <a:r>
              <a:rPr lang="en-US" sz="2200" dirty="0">
                <a:solidFill>
                  <a:schemeClr val="tx1"/>
                </a:solidFill>
                <a:latin typeface="Calibri" pitchFamily="34" charset="0"/>
                <a:ea typeface="Calibri" pitchFamily="34" charset="-122"/>
                <a:cs typeface="Calibri" pitchFamily="34" charset="-120"/>
              </a:rPr>
              <a:t> — pipes, vents, drains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Curbs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Edges (terminations)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Transitions</a:t>
            </a:r>
            <a:r>
              <a:rPr lang="en-US" sz="2200" dirty="0">
                <a:solidFill>
                  <a:schemeClr val="tx1"/>
                </a:solidFill>
                <a:latin typeface="Calibri" pitchFamily="34" charset="0"/>
                <a:ea typeface="Calibri" pitchFamily="34" charset="-122"/>
                <a:cs typeface="Calibri" pitchFamily="34" charset="-120"/>
              </a:rPr>
              <a:t> — where the roof changes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Parapet walls</a:t>
            </a:r>
            <a:endParaRPr lang="en-US" sz="2200" dirty="0"/>
          </a:p>
        </p:txBody>
      </p:sp>
      <p:pic>
        <p:nvPicPr>
          <p:cNvPr id="7" name="Photo" descr="Photo">    </p:cNvPr>
          <p:cNvPicPr>
            <a:picLocks noChangeAspect="1"/>
          </p:cNvPicPr>
          <p:nvPr/>
        </p:nvPicPr>
        <p:blipFill>
          <a:blip r:embed="rId1"/>
          <a:stretch>
            <a:fillRect/>
          </a:stretch>
        </p:blipFill>
        <p:spPr>
          <a:xfrm>
            <a:off x="6217920" y="2649408"/>
            <a:ext cx="5425135" cy="233642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Which Product for Which Detail?</a:t>
            </a:r>
            <a:endParaRPr lang="en-US" sz="3000" dirty="0"/>
          </a:p>
        </p:txBody>
      </p:sp>
      <p:graphicFrame>
        <p:nvGraphicFramePr>
          <p:cNvPr id="110"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808713"/>
                <a:gridCol w="3230020"/>
                <a:gridCol w="5055683"/>
              </a:tblGrid>
              <a:tr h="0">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Roof</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Detail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Product → How</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Asphalt / single-ply</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Seams, pipes, drains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289 Sealant → brush, trowel</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(Skip if doing a full fabric system)</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Metal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Seams, pipes, fasteners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295 Seam Sealer → brush, bulk gun</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289 Sealant → brush</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AcryShield Application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Measure the squares. Hit the rate.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Measure the Roof in Squares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Mark the roof in 10' × 10' boxes</a:t>
            </a:r>
            <a:r>
              <a:rPr lang="en-US" sz="2400" dirty="0">
                <a:solidFill>
                  <a:schemeClr val="tx1"/>
                </a:solidFill>
                <a:latin typeface="Calibri" pitchFamily="34" charset="0"/>
                <a:ea typeface="Calibri" pitchFamily="34" charset="-122"/>
                <a:cs typeface="Calibri" pitchFamily="34" charset="-120"/>
              </a:rPr>
              <a:t> — 1 box = 1 square = 100 sq ft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Example</a:t>
            </a:r>
            <a:r>
              <a:rPr lang="en-US" sz="2400" dirty="0">
                <a:solidFill>
                  <a:schemeClr val="tx1"/>
                </a:solidFill>
                <a:latin typeface="Calibri" pitchFamily="34" charset="0"/>
                <a:ea typeface="Calibri" pitchFamily="34" charset="-122"/>
                <a:cs typeface="Calibri" pitchFamily="34" charset="-120"/>
              </a:rPr>
              <a:t> — spec says 3 gal per square → one 5-gal pail of AcryShield covers 1.6 squares (smooth roof)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Rough roofs (granulated mod-bit) soak up more — use more to hit the right dry thickness</a:t>
            </a:r>
            <a:endParaRPr lang="en-US" sz="2400" dirty="0"/>
          </a:p>
        </p:txBody>
      </p:sp>
      <p:pic>
        <p:nvPicPr>
          <p:cNvPr id="5" name="Photo" descr="Photo">    </p:cNvPr>
          <p:cNvPicPr>
            <a:picLocks noChangeAspect="1"/>
          </p:cNvPicPr>
          <p:nvPr/>
        </p:nvPicPr>
        <p:blipFill>
          <a:blip r:embed="rId1"/>
          <a:stretch>
            <a:fillRect/>
          </a:stretch>
        </p:blipFill>
        <p:spPr>
          <a:xfrm>
            <a:off x="6217920" y="3233514"/>
            <a:ext cx="5425135" cy="116821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Roll</a:t>
            </a:r>
            <a:endParaRPr lang="en-US" sz="3000" dirty="0"/>
          </a:p>
        </p:txBody>
      </p:sp>
      <p:pic>
        <p:nvPicPr>
          <p:cNvPr id="4" name="Photo" descr="Photo">    </p:cNvPr>
          <p:cNvPicPr>
            <a:picLocks noChangeAspect="1"/>
          </p:cNvPicPr>
          <p:nvPr/>
        </p:nvPicPr>
        <p:blipFill>
          <a:blip r:embed="rId1"/>
          <a:stretch>
            <a:fillRect/>
          </a:stretch>
        </p:blipFill>
        <p:spPr>
          <a:xfrm>
            <a:off x="548640" y="2484961"/>
            <a:ext cx="11094415" cy="207095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Roll it on in even passes.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Squeegee and Back Roll</a:t>
            </a:r>
            <a:endParaRPr lang="en-US" sz="3000" dirty="0"/>
          </a:p>
        </p:txBody>
      </p:sp>
      <p:pic>
        <p:nvPicPr>
          <p:cNvPr id="4" name="Photo" descr="Photo">    </p:cNvPr>
          <p:cNvPicPr>
            <a:picLocks noChangeAspect="1"/>
          </p:cNvPicPr>
          <p:nvPr/>
        </p:nvPicPr>
        <p:blipFill>
          <a:blip r:embed="rId1"/>
          <a:stretch>
            <a:fillRect/>
          </a:stretch>
        </p:blipFill>
        <p:spPr>
          <a:xfrm>
            <a:off x="548640" y="2189110"/>
            <a:ext cx="11094415" cy="266266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Pour, spread with a squeegee, then roll.</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Spray and Back Roll</a:t>
            </a:r>
            <a:endParaRPr lang="en-US" sz="3000" dirty="0"/>
          </a:p>
        </p:txBody>
      </p:sp>
      <p:pic>
        <p:nvPicPr>
          <p:cNvPr id="4" name="Photo" descr="Photo">    </p:cNvPr>
          <p:cNvPicPr>
            <a:picLocks noChangeAspect="1"/>
          </p:cNvPicPr>
          <p:nvPr/>
        </p:nvPicPr>
        <p:blipFill>
          <a:blip r:embed="rId1"/>
          <a:stretch>
            <a:fillRect/>
          </a:stretch>
        </p:blipFill>
        <p:spPr>
          <a:xfrm>
            <a:off x="548640" y="2163223"/>
            <a:ext cx="11094415" cy="271443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Spray for speed, then roll it in.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Tank Spreader</a:t>
            </a:r>
            <a:endParaRPr lang="en-US" sz="3000" dirty="0"/>
          </a:p>
        </p:txBody>
      </p:sp>
      <p:pic>
        <p:nvPicPr>
          <p:cNvPr id="4" name="Photo" descr="Photo">    </p:cNvPr>
          <p:cNvPicPr>
            <a:picLocks noChangeAspect="1"/>
          </p:cNvPicPr>
          <p:nvPr/>
        </p:nvPicPr>
        <p:blipFill>
          <a:blip r:embed="rId1"/>
          <a:stretch>
            <a:fillRect/>
          </a:stretch>
        </p:blipFill>
        <p:spPr>
          <a:xfrm>
            <a:off x="548640" y="1970920"/>
            <a:ext cx="11094415" cy="30990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Even coat on big, open areas.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ACRYLIC</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Warranty Information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Do it right, and Henry stands behind it — up to 20 years.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Warranty Program</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Up to 20 years</a:t>
            </a:r>
            <a:r>
              <a:rPr lang="en-US" sz="2400" dirty="0">
                <a:solidFill>
                  <a:schemeClr val="tx1"/>
                </a:solidFill>
                <a:latin typeface="Calibri" pitchFamily="34" charset="0"/>
                <a:ea typeface="Calibri" pitchFamily="34" charset="-122"/>
                <a:cs typeface="Calibri" pitchFamily="34" charset="-120"/>
              </a:rPr>
              <a:t> — labor, workmanship, and materials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Can be transferred and renewed</a:t>
            </a:r>
            <a:endParaRPr lang="en-US" sz="2400" dirty="0"/>
          </a:p>
        </p:txBody>
      </p:sp>
      <p:pic>
        <p:nvPicPr>
          <p:cNvPr id="5" name="Photo" descr="Photo">    </p:cNvPr>
          <p:cNvPicPr>
            <a:picLocks noChangeAspect="1"/>
          </p:cNvPicPr>
          <p:nvPr/>
        </p:nvPicPr>
        <p:blipFill>
          <a:blip r:embed="rId1"/>
          <a:stretch>
            <a:fillRect/>
          </a:stretch>
        </p:blipFill>
        <p:spPr>
          <a:xfrm>
            <a:off x="6605712" y="1463040"/>
            <a:ext cx="4649550"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Acrylic Warranty Options</a:t>
            </a:r>
            <a:endParaRPr lang="en-US" sz="3000" dirty="0"/>
          </a:p>
        </p:txBody>
      </p:sp>
      <p:pic>
        <p:nvPicPr>
          <p:cNvPr id="4" name="Photo" descr="Photo">    </p:cNvPr>
          <p:cNvPicPr>
            <a:picLocks noChangeAspect="1"/>
          </p:cNvPicPr>
          <p:nvPr/>
        </p:nvPicPr>
        <p:blipFill>
          <a:blip r:embed="rId1"/>
          <a:stretch>
            <a:fillRect/>
          </a:stretch>
        </p:blipFill>
        <p:spPr>
          <a:xfrm>
            <a:off x="1337658" y="1417320"/>
            <a:ext cx="951638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Acrylic Warranty Options</a:t>
            </a:r>
            <a:endParaRPr lang="en-US" sz="3000" dirty="0"/>
          </a:p>
        </p:txBody>
      </p:sp>
      <p:pic>
        <p:nvPicPr>
          <p:cNvPr id="4" name="Photo" descr="Photo">    </p:cNvPr>
          <p:cNvPicPr>
            <a:picLocks noChangeAspect="1"/>
          </p:cNvPicPr>
          <p:nvPr/>
        </p:nvPicPr>
        <p:blipFill>
          <a:blip r:embed="rId1"/>
          <a:stretch>
            <a:fillRect/>
          </a:stretch>
        </p:blipFill>
        <p:spPr>
          <a:xfrm>
            <a:off x="1323261" y="1417320"/>
            <a:ext cx="9545174"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Acrylic Warranty Options</a:t>
            </a:r>
            <a:endParaRPr lang="en-US" sz="3000" dirty="0"/>
          </a:p>
        </p:txBody>
      </p:sp>
      <p:pic>
        <p:nvPicPr>
          <p:cNvPr id="4" name="Photo" descr="Photo">    </p:cNvPr>
          <p:cNvPicPr>
            <a:picLocks noChangeAspect="1"/>
          </p:cNvPicPr>
          <p:nvPr/>
        </p:nvPicPr>
        <p:blipFill>
          <a:blip r:embed="rId1"/>
          <a:stretch>
            <a:fillRect/>
          </a:stretch>
        </p:blipFill>
        <p:spPr>
          <a:xfrm>
            <a:off x="1323261" y="1417320"/>
            <a:ext cx="9545174"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ACRYLIC</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Acrylic Warranty Options</a:t>
            </a:r>
            <a:endParaRPr lang="en-US" sz="3000" dirty="0"/>
          </a:p>
        </p:txBody>
      </p:sp>
      <p:pic>
        <p:nvPicPr>
          <p:cNvPr id="4" name="Photo" descr="Photo">    </p:cNvPr>
          <p:cNvPicPr>
            <a:picLocks noChangeAspect="1"/>
          </p:cNvPicPr>
          <p:nvPr/>
        </p:nvPicPr>
        <p:blipFill>
          <a:blip r:embed="rId1"/>
          <a:stretch>
            <a:fillRect/>
          </a:stretch>
        </p:blipFill>
        <p:spPr>
          <a:xfrm>
            <a:off x="1337658" y="1417320"/>
            <a:ext cx="951638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ALUMINUM</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Aluminum System</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Aluminum: low cost, shiny, great on metal.</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Aluminum: The Strengths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No primer needed</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Goes right over tight rust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Reflects the sun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Brush, roll, or spray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Low cost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Apply at 40°F and rising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Easy to recoat later</a:t>
            </a:r>
            <a:endParaRPr lang="en-US" sz="2400" dirty="0"/>
          </a:p>
        </p:txBody>
      </p:sp>
      <p:pic>
        <p:nvPicPr>
          <p:cNvPr id="5" name="Photo" descr="Photo">    </p:cNvPr>
          <p:cNvPicPr>
            <a:picLocks noChangeAspect="1"/>
          </p:cNvPicPr>
          <p:nvPr/>
        </p:nvPicPr>
        <p:blipFill>
          <a:blip r:embed="rId1"/>
          <a:stretch>
            <a:fillRect/>
          </a:stretch>
        </p:blipFill>
        <p:spPr>
          <a:xfrm>
            <a:off x="6217920" y="1545688"/>
            <a:ext cx="5425135" cy="4543863"/>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Aluminum: The Downsides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Doesn't love standing water (like acrylic)</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Less reflective than a white coating</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Hard to mix</a:t>
            </a:r>
            <a:r>
              <a:rPr lang="en-US" sz="2400" dirty="0">
                <a:solidFill>
                  <a:schemeClr val="tx1"/>
                </a:solidFill>
                <a:latin typeface="Calibri" pitchFamily="34" charset="0"/>
                <a:ea typeface="Calibri" pitchFamily="34" charset="-122"/>
                <a:cs typeface="Calibri" pitchFamily="34" charset="-120"/>
              </a:rPr>
              <a:t> — the aluminum settles at the bottom</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Not for single-ply or foam roofs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Usually solvent-based</a:t>
            </a:r>
            <a:r>
              <a:rPr lang="en-US" sz="2400" dirty="0">
                <a:solidFill>
                  <a:schemeClr val="tx1"/>
                </a:solidFill>
                <a:latin typeface="Calibri" pitchFamily="34" charset="0"/>
                <a:ea typeface="Calibri" pitchFamily="34" charset="-122"/>
                <a:cs typeface="Calibri" pitchFamily="34" charset="-120"/>
              </a:rPr>
              <a:t> — more fumes (high VOC)</a:t>
            </a:r>
            <a:endParaRPr lang="en-US" sz="2400" dirty="0"/>
          </a:p>
        </p:txBody>
      </p:sp>
      <p:pic>
        <p:nvPicPr>
          <p:cNvPr id="5" name="Photo" descr="Photo">    </p:cNvPr>
          <p:cNvPicPr>
            <a:picLocks noChangeAspect="1"/>
          </p:cNvPicPr>
          <p:nvPr/>
        </p:nvPicPr>
        <p:blipFill>
          <a:blip r:embed="rId1"/>
          <a:stretch>
            <a:fillRect/>
          </a:stretch>
        </p:blipFill>
        <p:spPr>
          <a:xfrm>
            <a:off x="6217920" y="1842619"/>
            <a:ext cx="5425135" cy="395000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When Aluminum Is a Good Fit</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Metal roofs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Rusty metal</a:t>
            </a:r>
            <a:r>
              <a:rPr lang="en-US" sz="2400" dirty="0">
                <a:solidFill>
                  <a:schemeClr val="tx1"/>
                </a:solidFill>
                <a:latin typeface="Calibri" pitchFamily="34" charset="0"/>
                <a:ea typeface="Calibri" pitchFamily="34" charset="-122"/>
                <a:cs typeface="Calibri" pitchFamily="34" charset="-120"/>
              </a:rPr>
              <a:t> — if the rust is tight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Flat roofs* that drain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Little disruption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The lowest-cost option</a:t>
            </a:r>
            <a:endParaRPr lang="en-US" sz="2400" dirty="0"/>
          </a:p>
        </p:txBody>
      </p:sp>
      <p:pic>
        <p:nvPicPr>
          <p:cNvPr id="5" name="Photo" descr="Photo">    </p:cNvPr>
          <p:cNvPicPr>
            <a:picLocks noChangeAspect="1"/>
          </p:cNvPicPr>
          <p:nvPr/>
        </p:nvPicPr>
        <p:blipFill>
          <a:blip r:embed="rId1"/>
          <a:stretch>
            <a:fillRect/>
          </a:stretch>
        </p:blipFill>
        <p:spPr>
          <a:xfrm>
            <a:off x="6217920" y="2654669"/>
            <a:ext cx="5425135" cy="1960142"/>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*Areas with good drainage — little ponding water.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When Aluminum Is NOT a Good Fit</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Ponding water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Flat roofs* that don't drain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Single-ply and spray foam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Max sun protection needed</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Heavy foot traffic</a:t>
            </a:r>
            <a:endParaRPr lang="en-US" sz="2400" dirty="0"/>
          </a:p>
        </p:txBody>
      </p:sp>
      <p:pic>
        <p:nvPicPr>
          <p:cNvPr id="5" name="Photo" descr="Photo">    </p:cNvPr>
          <p:cNvPicPr>
            <a:picLocks noChangeAspect="1"/>
          </p:cNvPicPr>
          <p:nvPr/>
        </p:nvPicPr>
        <p:blipFill>
          <a:blip r:embed="rId1"/>
          <a:stretch>
            <a:fillRect/>
          </a:stretch>
        </p:blipFill>
        <p:spPr>
          <a:xfrm>
            <a:off x="6217920" y="2475569"/>
            <a:ext cx="5425135" cy="2318341"/>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*Little to no drainage.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ALUMINUM</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What Roofs Can Aluminum Restore?</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Asphalt, metal, and old coatings.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Asphalt Roofs</a:t>
            </a:r>
            <a:endParaRPr lang="en-US" sz="3000" dirty="0"/>
          </a:p>
        </p:txBody>
      </p:sp>
      <p:pic>
        <p:nvPicPr>
          <p:cNvPr id="4" name="Photo" descr="Photo">    </p:cNvPr>
          <p:cNvPicPr>
            <a:picLocks noChangeAspect="1"/>
          </p:cNvPicPr>
          <p:nvPr/>
        </p:nvPicPr>
        <p:blipFill>
          <a:blip r:embed="rId1"/>
          <a:stretch>
            <a:fillRect/>
          </a:stretch>
        </p:blipFill>
        <p:spPr>
          <a:xfrm>
            <a:off x="548640" y="1671371"/>
            <a:ext cx="11094415" cy="369813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Granulated or smooth mod-bit, and BUR (built-up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Metal Roofs</a:t>
            </a:r>
            <a:endParaRPr lang="en-US" sz="3000" dirty="0"/>
          </a:p>
        </p:txBody>
      </p:sp>
      <p:pic>
        <p:nvPicPr>
          <p:cNvPr id="4" name="Photo" descr="Photo">    </p:cNvPr>
          <p:cNvPicPr>
            <a:picLocks noChangeAspect="1"/>
          </p:cNvPicPr>
          <p:nvPr/>
        </p:nvPicPr>
        <p:blipFill>
          <a:blip r:embed="rId1"/>
          <a:stretch>
            <a:fillRect/>
          </a:stretch>
        </p:blipFill>
        <p:spPr>
          <a:xfrm>
            <a:off x="666106" y="1417320"/>
            <a:ext cx="10859484"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Aluminum's best match.</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Roofs Coated Before</a:t>
            </a:r>
            <a:endParaRPr lang="en-US" sz="3000" dirty="0"/>
          </a:p>
        </p:txBody>
      </p:sp>
      <p:pic>
        <p:nvPicPr>
          <p:cNvPr id="4" name="Photo" descr="Photo">    </p:cNvPr>
          <p:cNvPicPr>
            <a:picLocks noChangeAspect="1"/>
          </p:cNvPicPr>
          <p:nvPr/>
        </p:nvPicPr>
        <p:blipFill>
          <a:blip r:embed="rId1"/>
          <a:stretch>
            <a:fillRect/>
          </a:stretch>
        </p:blipFill>
        <p:spPr>
          <a:xfrm>
            <a:off x="932705" y="1417320"/>
            <a:ext cx="10326285"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Old acrylic or aluminum coatings.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Tar &amp; Gravel Roofs</a:t>
            </a:r>
            <a:endParaRPr lang="en-US" sz="3000" dirty="0"/>
          </a:p>
        </p:txBody>
      </p:sp>
      <p:pic>
        <p:nvPicPr>
          <p:cNvPr id="4" name="Photo" descr="Photo">    </p:cNvPr>
          <p:cNvPicPr>
            <a:picLocks noChangeAspect="1"/>
          </p:cNvPicPr>
          <p:nvPr/>
        </p:nvPicPr>
        <p:blipFill>
          <a:blip r:embed="rId1"/>
          <a:stretch>
            <a:fillRect/>
          </a:stretch>
        </p:blipFill>
        <p:spPr>
          <a:xfrm>
            <a:off x="548640" y="1556729"/>
            <a:ext cx="11094415" cy="3927423"/>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Not ready as-is (red X). The gravel has to be dealt with first.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ALUMINUM</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Aluminum Restoration Steps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Repair first, then restore.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The Steps for a Warranted Job</a:t>
            </a:r>
            <a:endParaRPr lang="en-US" sz="3000" dirty="0"/>
          </a:p>
        </p:txBody>
      </p:sp>
      <p:sp>
        <p:nvSpPr>
          <p:cNvPr id="4" name="Step 1 card"/>
          <p:cNvSpPr/>
          <p:nvPr/>
        </p:nvSpPr>
        <p:spPr>
          <a:xfrm>
            <a:off x="548640" y="1554480"/>
            <a:ext cx="3515258" cy="2057400"/>
          </a:xfrm>
          <a:prstGeom prst="roundRect">
            <a:avLst>
              <a:gd name="adj" fmla="val 4444"/>
            </a:avLst>
          </a:prstGeom>
          <a:solidFill>
            <a:schemeClr val="bg2"/>
          </a:solidFill>
          <a:ln/>
        </p:spPr>
      </p:sp>
      <p:sp>
        <p:nvSpPr>
          <p:cNvPr id="5" name="Step 1 number"/>
          <p:cNvSpPr/>
          <p:nvPr/>
        </p:nvSpPr>
        <p:spPr>
          <a:xfrm>
            <a:off x="822960" y="1828800"/>
            <a:ext cx="685800" cy="685800"/>
          </a:xfrm>
          <a:prstGeom prst="ellipse">
            <a:avLst/>
          </a:prstGeom>
          <a:solidFill>
            <a:schemeClr val="accent1"/>
          </a:solidFill>
          <a:ln/>
        </p:spPr>
      </p:sp>
      <p:sp>
        <p:nvSpPr>
          <p:cNvPr id="6" name="Text 4"/>
          <p:cNvSpPr txBox="1"/>
          <p:nvPr/>
        </p:nvSpPr>
        <p:spPr>
          <a:xfrm>
            <a:off x="822960"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5"/>
          <p:cNvSpPr txBox="1"/>
          <p:nvPr/>
        </p:nvSpPr>
        <p:spPr>
          <a:xfrm>
            <a:off x="822960"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Walk the roof</a:t>
            </a:r>
            <a:endParaRPr lang="en-US" sz="2100" dirty="0"/>
          </a:p>
        </p:txBody>
      </p:sp>
      <p:sp>
        <p:nvSpPr>
          <p:cNvPr id="8" name="Text 6"/>
          <p:cNvSpPr txBox="1"/>
          <p:nvPr/>
        </p:nvSpPr>
        <p:spPr>
          <a:xfrm>
            <a:off x="822960"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Look it over. (If needed)</a:t>
            </a:r>
            <a:endParaRPr lang="en-US" sz="1600" dirty="0"/>
          </a:p>
        </p:txBody>
      </p:sp>
      <p:sp>
        <p:nvSpPr>
          <p:cNvPr id="9" name="Step 2 card"/>
          <p:cNvSpPr/>
          <p:nvPr/>
        </p:nvSpPr>
        <p:spPr>
          <a:xfrm>
            <a:off x="4338218" y="1554480"/>
            <a:ext cx="3515258" cy="2057400"/>
          </a:xfrm>
          <a:prstGeom prst="roundRect">
            <a:avLst>
              <a:gd name="adj" fmla="val 4444"/>
            </a:avLst>
          </a:prstGeom>
          <a:solidFill>
            <a:schemeClr val="bg2"/>
          </a:solidFill>
          <a:ln/>
        </p:spPr>
      </p:sp>
      <p:sp>
        <p:nvSpPr>
          <p:cNvPr id="10" name="Step 2 number"/>
          <p:cNvSpPr/>
          <p:nvPr/>
        </p:nvSpPr>
        <p:spPr>
          <a:xfrm>
            <a:off x="4612538" y="1828800"/>
            <a:ext cx="685800" cy="685800"/>
          </a:xfrm>
          <a:prstGeom prst="ellipse">
            <a:avLst/>
          </a:prstGeom>
          <a:solidFill>
            <a:schemeClr val="accent1"/>
          </a:solidFill>
          <a:ln/>
        </p:spPr>
      </p:sp>
      <p:sp>
        <p:nvSpPr>
          <p:cNvPr id="11" name="Text 9"/>
          <p:cNvSpPr txBox="1"/>
          <p:nvPr/>
        </p:nvSpPr>
        <p:spPr>
          <a:xfrm>
            <a:off x="4612538"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2" name="Text 10"/>
          <p:cNvSpPr txBox="1"/>
          <p:nvPr/>
        </p:nvSpPr>
        <p:spPr>
          <a:xfrm>
            <a:off x="4612538"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Adhesion test</a:t>
            </a:r>
            <a:endParaRPr lang="en-US" sz="2100" dirty="0"/>
          </a:p>
        </p:txBody>
      </p:sp>
      <p:sp>
        <p:nvSpPr>
          <p:cNvPr id="13" name="Text 11"/>
          <p:cNvSpPr txBox="1"/>
          <p:nvPr/>
        </p:nvSpPr>
        <p:spPr>
          <a:xfrm>
            <a:off x="4612538"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Will the coating stick? (If needed)</a:t>
            </a:r>
            <a:endParaRPr lang="en-US" sz="1600" dirty="0"/>
          </a:p>
        </p:txBody>
      </p:sp>
      <p:sp>
        <p:nvSpPr>
          <p:cNvPr id="14" name="Step 3 card"/>
          <p:cNvSpPr/>
          <p:nvPr/>
        </p:nvSpPr>
        <p:spPr>
          <a:xfrm>
            <a:off x="8127797" y="1554480"/>
            <a:ext cx="3515258" cy="2057400"/>
          </a:xfrm>
          <a:prstGeom prst="roundRect">
            <a:avLst>
              <a:gd name="adj" fmla="val 4444"/>
            </a:avLst>
          </a:prstGeom>
          <a:solidFill>
            <a:schemeClr val="bg2"/>
          </a:solidFill>
          <a:ln/>
        </p:spPr>
      </p:sp>
      <p:sp>
        <p:nvSpPr>
          <p:cNvPr id="15" name="Step 3 number"/>
          <p:cNvSpPr/>
          <p:nvPr/>
        </p:nvSpPr>
        <p:spPr>
          <a:xfrm>
            <a:off x="8402117" y="1828800"/>
            <a:ext cx="685800" cy="685800"/>
          </a:xfrm>
          <a:prstGeom prst="ellipse">
            <a:avLst/>
          </a:prstGeom>
          <a:solidFill>
            <a:schemeClr val="accent1"/>
          </a:solidFill>
          <a:ln/>
        </p:spPr>
      </p:sp>
      <p:sp>
        <p:nvSpPr>
          <p:cNvPr id="16" name="Text 14"/>
          <p:cNvSpPr txBox="1"/>
          <p:nvPr/>
        </p:nvSpPr>
        <p:spPr>
          <a:xfrm>
            <a:off x="8402117"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7" name="Text 15"/>
          <p:cNvSpPr txBox="1"/>
          <p:nvPr/>
        </p:nvSpPr>
        <p:spPr>
          <a:xfrm>
            <a:off x="8402117"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Moisture survey</a:t>
            </a:r>
            <a:endParaRPr lang="en-US" sz="2100" dirty="0"/>
          </a:p>
        </p:txBody>
      </p:sp>
      <p:sp>
        <p:nvSpPr>
          <p:cNvPr id="18" name="Text 16"/>
          <p:cNvSpPr txBox="1"/>
          <p:nvPr/>
        </p:nvSpPr>
        <p:spPr>
          <a:xfrm>
            <a:off x="8402117"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Is it wet inside? (If needed)</a:t>
            </a:r>
            <a:endParaRPr lang="en-US" sz="1600" dirty="0"/>
          </a:p>
        </p:txBody>
      </p:sp>
      <p:sp>
        <p:nvSpPr>
          <p:cNvPr id="19" name="Step 4 card"/>
          <p:cNvSpPr/>
          <p:nvPr/>
        </p:nvSpPr>
        <p:spPr>
          <a:xfrm>
            <a:off x="548640" y="3886200"/>
            <a:ext cx="3515258" cy="2057400"/>
          </a:xfrm>
          <a:prstGeom prst="roundRect">
            <a:avLst>
              <a:gd name="adj" fmla="val 4444"/>
            </a:avLst>
          </a:prstGeom>
          <a:solidFill>
            <a:schemeClr val="bg2"/>
          </a:solidFill>
          <a:ln/>
        </p:spPr>
      </p:sp>
      <p:sp>
        <p:nvSpPr>
          <p:cNvPr id="20" name="Step 4 number"/>
          <p:cNvSpPr/>
          <p:nvPr/>
        </p:nvSpPr>
        <p:spPr>
          <a:xfrm>
            <a:off x="822960" y="4160520"/>
            <a:ext cx="685800" cy="685800"/>
          </a:xfrm>
          <a:prstGeom prst="ellipse">
            <a:avLst/>
          </a:prstGeom>
          <a:solidFill>
            <a:schemeClr val="accent1"/>
          </a:solidFill>
          <a:ln/>
        </p:spPr>
      </p:sp>
      <p:sp>
        <p:nvSpPr>
          <p:cNvPr id="21" name="Text 19"/>
          <p:cNvSpPr txBox="1"/>
          <p:nvPr/>
        </p:nvSpPr>
        <p:spPr>
          <a:xfrm>
            <a:off x="822960"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2" name="Text 20"/>
          <p:cNvSpPr txBox="1"/>
          <p:nvPr/>
        </p:nvSpPr>
        <p:spPr>
          <a:xfrm>
            <a:off x="822960"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Fix the roof</a:t>
            </a:r>
            <a:endParaRPr lang="en-US" sz="2100" dirty="0"/>
          </a:p>
        </p:txBody>
      </p:sp>
      <p:sp>
        <p:nvSpPr>
          <p:cNvPr id="23" name="Text 21"/>
          <p:cNvSpPr txBox="1"/>
          <p:nvPr/>
        </p:nvSpPr>
        <p:spPr>
          <a:xfrm>
            <a:off x="822960"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Repair what's broken</a:t>
            </a:r>
            <a:endParaRPr lang="en-US" sz="1600" dirty="0"/>
          </a:p>
        </p:txBody>
      </p:sp>
      <p:sp>
        <p:nvSpPr>
          <p:cNvPr id="24" name="Step 5 card"/>
          <p:cNvSpPr/>
          <p:nvPr/>
        </p:nvSpPr>
        <p:spPr>
          <a:xfrm>
            <a:off x="4338218" y="3886200"/>
            <a:ext cx="3515258" cy="2057400"/>
          </a:xfrm>
          <a:prstGeom prst="roundRect">
            <a:avLst>
              <a:gd name="adj" fmla="val 4444"/>
            </a:avLst>
          </a:prstGeom>
          <a:solidFill>
            <a:schemeClr val="bg2"/>
          </a:solidFill>
          <a:ln/>
        </p:spPr>
      </p:sp>
      <p:sp>
        <p:nvSpPr>
          <p:cNvPr id="25" name="Step 5 number"/>
          <p:cNvSpPr/>
          <p:nvPr/>
        </p:nvSpPr>
        <p:spPr>
          <a:xfrm>
            <a:off x="4612538" y="4160520"/>
            <a:ext cx="685800" cy="685800"/>
          </a:xfrm>
          <a:prstGeom prst="ellipse">
            <a:avLst/>
          </a:prstGeom>
          <a:solidFill>
            <a:schemeClr val="accent1"/>
          </a:solidFill>
          <a:ln/>
        </p:spPr>
      </p:sp>
      <p:sp>
        <p:nvSpPr>
          <p:cNvPr id="26" name="Text 24"/>
          <p:cNvSpPr txBox="1"/>
          <p:nvPr/>
        </p:nvSpPr>
        <p:spPr>
          <a:xfrm>
            <a:off x="4612538"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7" name="Text 25"/>
          <p:cNvSpPr txBox="1"/>
          <p:nvPr/>
        </p:nvSpPr>
        <p:spPr>
          <a:xfrm>
            <a:off x="4612538"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Restore</a:t>
            </a:r>
            <a:endParaRPr lang="en-US" sz="2100" dirty="0"/>
          </a:p>
        </p:txBody>
      </p:sp>
      <p:sp>
        <p:nvSpPr>
          <p:cNvPr id="28" name="Text 26"/>
          <p:cNvSpPr txBox="1"/>
          <p:nvPr/>
        </p:nvSpPr>
        <p:spPr>
          <a:xfrm>
            <a:off x="4612538"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Apply the coating system</a:t>
            </a:r>
            <a:endParaRPr lang="en-US" sz="1600" dirty="0"/>
          </a:p>
        </p:txBody>
      </p:sp>
      <p:sp>
        <p:nvSpPr>
          <p:cNvPr id="29" name="Step 6 card"/>
          <p:cNvSpPr/>
          <p:nvPr/>
        </p:nvSpPr>
        <p:spPr>
          <a:xfrm>
            <a:off x="8127797" y="3886200"/>
            <a:ext cx="3515258" cy="2057400"/>
          </a:xfrm>
          <a:prstGeom prst="roundRect">
            <a:avLst>
              <a:gd name="adj" fmla="val 4444"/>
            </a:avLst>
          </a:prstGeom>
          <a:solidFill>
            <a:schemeClr val="bg2"/>
          </a:solidFill>
          <a:ln/>
        </p:spPr>
      </p:sp>
      <p:sp>
        <p:nvSpPr>
          <p:cNvPr id="30" name="Step 6 number"/>
          <p:cNvSpPr/>
          <p:nvPr/>
        </p:nvSpPr>
        <p:spPr>
          <a:xfrm>
            <a:off x="8402117" y="4160520"/>
            <a:ext cx="685800" cy="685800"/>
          </a:xfrm>
          <a:prstGeom prst="ellipse">
            <a:avLst/>
          </a:prstGeom>
          <a:solidFill>
            <a:schemeClr val="accent1"/>
          </a:solidFill>
          <a:ln/>
        </p:spPr>
      </p:sp>
      <p:sp>
        <p:nvSpPr>
          <p:cNvPr id="31" name="Text 29"/>
          <p:cNvSpPr txBox="1"/>
          <p:nvPr/>
        </p:nvSpPr>
        <p:spPr>
          <a:xfrm>
            <a:off x="8402117"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6</a:t>
            </a:r>
            <a:endParaRPr lang="en-US" sz="2600" dirty="0"/>
          </a:p>
        </p:txBody>
      </p:sp>
      <p:sp>
        <p:nvSpPr>
          <p:cNvPr id="32" name="Text 30"/>
          <p:cNvSpPr txBox="1"/>
          <p:nvPr/>
        </p:nvSpPr>
        <p:spPr>
          <a:xfrm>
            <a:off x="8402117"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Final inspection</a:t>
            </a:r>
            <a:endParaRPr lang="en-US" sz="2100" dirty="0"/>
          </a:p>
        </p:txBody>
      </p:sp>
      <p:sp>
        <p:nvSpPr>
          <p:cNvPr id="33" name="Text 31"/>
          <p:cNvSpPr txBox="1"/>
          <p:nvPr/>
        </p:nvSpPr>
        <p:spPr>
          <a:xfrm>
            <a:off x="8402117"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Check the work. (If needed)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1: Walk the Roof</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Best done with a Henry rep</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It's free</a:t>
            </a:r>
            <a:r>
              <a:rPr lang="en-US" sz="2400" dirty="0">
                <a:solidFill>
                  <a:schemeClr val="tx1"/>
                </a:solidFill>
                <a:latin typeface="Calibri" pitchFamily="34" charset="0"/>
                <a:ea typeface="Calibri" pitchFamily="34" charset="-122"/>
                <a:cs typeface="Calibri" pitchFamily="34" charset="-120"/>
              </a:rPr>
              <a:t> — no charge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We just need a way onto the roof</a:t>
            </a:r>
            <a:endParaRPr lang="en-US" sz="2400" dirty="0"/>
          </a:p>
        </p:txBody>
      </p:sp>
      <p:pic>
        <p:nvPicPr>
          <p:cNvPr id="5" name="Photo" descr="Photo">    </p:cNvPr>
          <p:cNvPicPr>
            <a:picLocks noChangeAspect="1"/>
          </p:cNvPicPr>
          <p:nvPr/>
        </p:nvPicPr>
        <p:blipFill>
          <a:blip r:embed="rId1"/>
          <a:stretch>
            <a:fillRect/>
          </a:stretch>
        </p:blipFill>
        <p:spPr>
          <a:xfrm>
            <a:off x="6217920" y="2613240"/>
            <a:ext cx="5425135" cy="24087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Adhesion Test for Aluminum: The Tape Test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Different from the silicone and acrylic pull test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Use for</a:t>
            </a:r>
            <a:r>
              <a:rPr lang="en-US" sz="2400" dirty="0">
                <a:solidFill>
                  <a:schemeClr val="tx1"/>
                </a:solidFill>
                <a:latin typeface="Calibri" pitchFamily="34" charset="0"/>
                <a:ea typeface="Calibri" pitchFamily="34" charset="-122"/>
                <a:cs typeface="Calibri" pitchFamily="34" charset="-120"/>
              </a:rPr>
              <a:t> — coating over smooth asphalt, metal, or old coatings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1. Cut an X through the coating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2. Press clear tape firmly over the X</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3. Rip the tape back fast, at 180°</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Coating on the tape = FAIL</a:t>
            </a:r>
            <a:endParaRPr lang="en-US" sz="2400" dirty="0"/>
          </a:p>
        </p:txBody>
      </p:sp>
      <p:pic>
        <p:nvPicPr>
          <p:cNvPr id="5" name="Photo" descr="Photo">    </p:cNvPr>
          <p:cNvPicPr>
            <a:picLocks noChangeAspect="1"/>
          </p:cNvPicPr>
          <p:nvPr/>
        </p:nvPicPr>
        <p:blipFill>
          <a:blip r:embed="rId1"/>
          <a:stretch>
            <a:fillRect/>
          </a:stretch>
        </p:blipFill>
        <p:spPr>
          <a:xfrm>
            <a:off x="6217920" y="2596965"/>
            <a:ext cx="5425135" cy="244131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3: Moisture Survey — Is It Wet Inside?</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Find wet insulation</a:t>
            </a:r>
            <a:r>
              <a:rPr lang="en-US" sz="2000" dirty="0">
                <a:solidFill>
                  <a:schemeClr val="tx1"/>
                </a:solidFill>
                <a:latin typeface="Calibri" pitchFamily="34" charset="0"/>
                <a:ea typeface="Calibri" pitchFamily="34" charset="-122"/>
                <a:cs typeface="Calibri" pitchFamily="34" charset="-120"/>
              </a:rPr>
              <a:t> — infrared scans and core cuts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More than 25% wet</a:t>
            </a:r>
            <a:r>
              <a:rPr lang="en-US" sz="2000" dirty="0">
                <a:solidFill>
                  <a:schemeClr val="tx1"/>
                </a:solidFill>
                <a:latin typeface="Calibri" pitchFamily="34" charset="0"/>
                <a:ea typeface="Calibri" pitchFamily="34" charset="-122"/>
                <a:cs typeface="Calibri" pitchFamily="34" charset="-120"/>
              </a:rPr>
              <a:t> — not a candidate. Replace the roof.</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Less than 25% wet</a:t>
            </a:r>
            <a:r>
              <a:rPr lang="en-US" sz="2000" dirty="0">
                <a:solidFill>
                  <a:schemeClr val="tx1"/>
                </a:solidFill>
                <a:latin typeface="Calibri" pitchFamily="34" charset="0"/>
                <a:ea typeface="Calibri" pitchFamily="34" charset="-122"/>
                <a:cs typeface="Calibri" pitchFamily="34" charset="-120"/>
              </a:rPr>
              <a:t> — cut out the wet areas and replace them</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Test methods</a:t>
            </a:r>
            <a:r>
              <a:rPr lang="en-US" sz="2000" dirty="0">
                <a:solidFill>
                  <a:schemeClr val="tx1"/>
                </a:solidFill>
                <a:latin typeface="Calibri" pitchFamily="34" charset="0"/>
                <a:ea typeface="Calibri" pitchFamily="34" charset="-122"/>
                <a:cs typeface="Calibri" pitchFamily="34" charset="-120"/>
              </a:rPr>
              <a:t> — nuclear, infrared, impedance, or cores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You need</a:t>
            </a:r>
            <a:r>
              <a:rPr lang="en-US" sz="2000" dirty="0">
                <a:solidFill>
                  <a:schemeClr val="tx1"/>
                </a:solidFill>
                <a:latin typeface="Calibri" pitchFamily="34" charset="0"/>
                <a:ea typeface="Calibri" pitchFamily="34" charset="-122"/>
                <a:cs typeface="Calibri" pitchFamily="34" charset="-120"/>
              </a:rPr>
              <a:t> — a roof map and NRCA guidelines</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Not needed on metal roofs</a:t>
            </a:r>
            <a:endParaRPr lang="en-US" sz="2000" dirty="0"/>
          </a:p>
        </p:txBody>
      </p:sp>
      <p:pic>
        <p:nvPicPr>
          <p:cNvPr id="5" name="Photo" descr="Photo">    </p:cNvPr>
          <p:cNvPicPr>
            <a:picLocks noChangeAspect="1"/>
          </p:cNvPicPr>
          <p:nvPr/>
        </p:nvPicPr>
        <p:blipFill>
          <a:blip r:embed="rId1"/>
          <a:stretch>
            <a:fillRect/>
          </a:stretch>
        </p:blipFill>
        <p:spPr>
          <a:xfrm>
            <a:off x="6217920" y="2707276"/>
            <a:ext cx="5425135" cy="2220689"/>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Drone Moisture Scan</a:t>
            </a:r>
            <a:endParaRPr lang="en-US" sz="3000" dirty="0"/>
          </a:p>
        </p:txBody>
      </p:sp>
      <p:pic>
        <p:nvPicPr>
          <p:cNvPr id="4" name="Photo" descr="Photo">    </p:cNvPr>
          <p:cNvPicPr>
            <a:picLocks noChangeAspect="1"/>
          </p:cNvPicPr>
          <p:nvPr/>
        </p:nvPicPr>
        <p:blipFill>
          <a:blip r:embed="rId1"/>
          <a:stretch>
            <a:fillRect/>
          </a:stretch>
        </p:blipFill>
        <p:spPr>
          <a:xfrm>
            <a:off x="1242494" y="1417320"/>
            <a:ext cx="9706708"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Hot spots on the heat scan can mean trapped water under the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4: Repair First, Then Restore</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Replace wet insulation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Replace damaged deck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Fill damaged spots with matching roof material</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The roof must be solid and watertight before you coat it</a:t>
            </a:r>
            <a:endParaRPr lang="en-US" sz="2400" dirty="0"/>
          </a:p>
        </p:txBody>
      </p:sp>
      <p:pic>
        <p:nvPicPr>
          <p:cNvPr id="5" name="Photo" descr="Photo">    </p:cNvPr>
          <p:cNvPicPr>
            <a:picLocks noChangeAspect="1"/>
          </p:cNvPicPr>
          <p:nvPr/>
        </p:nvPicPr>
        <p:blipFill>
          <a:blip r:embed="rId1"/>
          <a:stretch>
            <a:fillRect/>
          </a:stretch>
        </p:blipFill>
        <p:spPr>
          <a:xfrm>
            <a:off x="6217920" y="2622282"/>
            <a:ext cx="5425135" cy="239067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ALUMINUM</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Complete Line of Products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One system, one brand — saves you time and money.</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Aluminum Product Lineup</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Coatings</a:t>
            </a:r>
            <a:r>
              <a:rPr lang="en-US" sz="2400" dirty="0">
                <a:solidFill>
                  <a:schemeClr val="tx1"/>
                </a:solidFill>
                <a:latin typeface="Calibri" pitchFamily="34" charset="0"/>
                <a:ea typeface="Calibri" pitchFamily="34" charset="-122"/>
                <a:cs typeface="Calibri" pitchFamily="34" charset="-120"/>
              </a:rPr>
              <a:t> — 599 Rubberized, 586, 588 Water-Based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Asphalt base</a:t>
            </a:r>
            <a:r>
              <a:rPr lang="en-US" sz="2400" dirty="0">
                <a:solidFill>
                  <a:schemeClr val="tx1"/>
                </a:solidFill>
                <a:latin typeface="Calibri" pitchFamily="34" charset="0"/>
                <a:ea typeface="Calibri" pitchFamily="34" charset="-122"/>
                <a:cs typeface="Calibri" pitchFamily="34" charset="-120"/>
              </a:rPr>
              <a:t> — 197 Emulsion</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Sealants</a:t>
            </a:r>
            <a:r>
              <a:rPr lang="en-US" sz="2400" dirty="0">
                <a:solidFill>
                  <a:schemeClr val="tx1"/>
                </a:solidFill>
                <a:latin typeface="Calibri" pitchFamily="34" charset="0"/>
                <a:ea typeface="Calibri" pitchFamily="34" charset="-122"/>
                <a:cs typeface="Calibri" pitchFamily="34" charset="-120"/>
              </a:rPr>
              <a:t> — 295 Metal Seam, 289 White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Cement</a:t>
            </a:r>
            <a:r>
              <a:rPr lang="en-US" sz="2400" dirty="0">
                <a:solidFill>
                  <a:schemeClr val="tx1"/>
                </a:solidFill>
                <a:latin typeface="Calibri" pitchFamily="34" charset="0"/>
                <a:ea typeface="Calibri" pitchFamily="34" charset="-122"/>
                <a:cs typeface="Calibri" pitchFamily="34" charset="-120"/>
              </a:rPr>
              <a:t> — 167 Extreme Rubberized Flashing</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Fabrics</a:t>
            </a:r>
            <a:r>
              <a:rPr lang="en-US" sz="2400" dirty="0">
                <a:solidFill>
                  <a:schemeClr val="tx1"/>
                </a:solidFill>
                <a:latin typeface="Calibri" pitchFamily="34" charset="0"/>
                <a:ea typeface="Calibri" pitchFamily="34" charset="-122"/>
                <a:cs typeface="Calibri" pitchFamily="34" charset="-120"/>
              </a:rPr>
              <a:t> — 195/196 Polyester, 183 Yellow Fiberglass</a:t>
            </a:r>
            <a:endParaRPr lang="en-US" sz="2400" dirty="0"/>
          </a:p>
        </p:txBody>
      </p:sp>
      <p:pic>
        <p:nvPicPr>
          <p:cNvPr id="5" name="Photo" descr="Photo">    </p:cNvPr>
          <p:cNvPicPr>
            <a:picLocks noChangeAspect="1"/>
          </p:cNvPicPr>
          <p:nvPr/>
        </p:nvPicPr>
        <p:blipFill>
          <a:blip r:embed="rId1"/>
          <a:stretch>
            <a:fillRect/>
          </a:stretch>
        </p:blipFill>
        <p:spPr>
          <a:xfrm>
            <a:off x="6217920" y="1764487"/>
            <a:ext cx="5425135" cy="410626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Good, Better, Best</a:t>
            </a:r>
            <a:endParaRPr lang="en-US" sz="3000" dirty="0"/>
          </a:p>
        </p:txBody>
      </p:sp>
      <p:pic>
        <p:nvPicPr>
          <p:cNvPr id="4" name="Photo" descr="Photo">    </p:cNvPr>
          <p:cNvPicPr>
            <a:picLocks noChangeAspect="1"/>
          </p:cNvPicPr>
          <p:nvPr/>
        </p:nvPicPr>
        <p:blipFill>
          <a:blip r:embed="rId1"/>
          <a:stretch>
            <a:fillRect/>
          </a:stretch>
        </p:blipFill>
        <p:spPr>
          <a:xfrm>
            <a:off x="548640" y="1815598"/>
            <a:ext cx="11094415" cy="340968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Best: 599 Rubberized. Better: 586. Good: 588 Water-Based.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588 Aluminum Roof Coating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Water-based, fibered aluminum coating</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Low fumes</a:t>
            </a:r>
            <a:r>
              <a:rPr lang="en-US" sz="2400" dirty="0">
                <a:solidFill>
                  <a:schemeClr val="tx1"/>
                </a:solidFill>
                <a:latin typeface="Calibri" pitchFamily="34" charset="0"/>
                <a:ea typeface="Calibri" pitchFamily="34" charset="-122"/>
                <a:cs typeface="Calibri" pitchFamily="34" charset="-120"/>
              </a:rPr>
              <a:t> — made for Southern California rules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Aluminum flakes reflect the sun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UL, CRRC, and Energy Star rated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Silver</a:t>
            </a:r>
            <a:r>
              <a:rPr lang="en-US" sz="2400" dirty="0">
                <a:solidFill>
                  <a:schemeClr val="tx1"/>
                </a:solidFill>
                <a:latin typeface="Calibri" pitchFamily="34" charset="0"/>
                <a:ea typeface="Calibri" pitchFamily="34" charset="-122"/>
                <a:cs typeface="Calibri" pitchFamily="34" charset="-120"/>
              </a:rPr>
              <a:t> — 5-gal, 50-gal</a:t>
            </a:r>
            <a:endParaRPr lang="en-US" sz="2400" dirty="0"/>
          </a:p>
        </p:txBody>
      </p:sp>
      <p:pic>
        <p:nvPicPr>
          <p:cNvPr id="5" name="Photo" descr="Photo">    </p:cNvPr>
          <p:cNvPicPr>
            <a:picLocks noChangeAspect="1"/>
          </p:cNvPicPr>
          <p:nvPr/>
        </p:nvPicPr>
        <p:blipFill>
          <a:blip r:embed="rId1"/>
          <a:stretch>
            <a:fillRect/>
          </a:stretch>
        </p:blipFill>
        <p:spPr>
          <a:xfrm>
            <a:off x="7853770" y="1463040"/>
            <a:ext cx="2153435"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586 Aluminum Roof Coating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Fire-rated, fibered aluminum coating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smooth BUR, mod-bit, aged metal, and new emulsion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Solvent-based. One coat.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UL, FM, CRRC, Miami-Dade, and Energy Star rated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Silver</a:t>
            </a:r>
            <a:r>
              <a:rPr lang="en-US" sz="2400" dirty="0">
                <a:solidFill>
                  <a:schemeClr val="tx1"/>
                </a:solidFill>
                <a:latin typeface="Calibri" pitchFamily="34" charset="0"/>
                <a:ea typeface="Calibri" pitchFamily="34" charset="-122"/>
                <a:cs typeface="Calibri" pitchFamily="34" charset="-120"/>
              </a:rPr>
              <a:t> — 5-gal, 50-gal</a:t>
            </a:r>
            <a:endParaRPr lang="en-US" sz="2400" dirty="0"/>
          </a:p>
        </p:txBody>
      </p:sp>
      <p:pic>
        <p:nvPicPr>
          <p:cNvPr id="5" name="Photo" descr="Photo">    </p:cNvPr>
          <p:cNvPicPr>
            <a:picLocks noChangeAspect="1"/>
          </p:cNvPicPr>
          <p:nvPr/>
        </p:nvPicPr>
        <p:blipFill>
          <a:blip r:embed="rId1"/>
          <a:stretch>
            <a:fillRect/>
          </a:stretch>
        </p:blipFill>
        <p:spPr>
          <a:xfrm>
            <a:off x="7920878" y="1463040"/>
            <a:ext cx="2019220"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599 Rubberized Aluminum Coating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Aluminum with SBS rubber</a:t>
            </a:r>
            <a:r>
              <a:rPr lang="en-US" sz="2400" dirty="0">
                <a:solidFill>
                  <a:schemeClr val="tx1"/>
                </a:solidFill>
                <a:latin typeface="Calibri" pitchFamily="34" charset="0"/>
                <a:ea typeface="Calibri" pitchFamily="34" charset="-122"/>
                <a:cs typeface="Calibri" pitchFamily="34" charset="-120"/>
              </a:rPr>
              <a:t> — strong and stretchy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Holds up better to ponding water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Solvent-based. One coat.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BUR, mod-bit, and metal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CRRC, Miami-Dade, Energy Star (low and steep slope)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Silver</a:t>
            </a:r>
            <a:r>
              <a:rPr lang="en-US" sz="2400" dirty="0">
                <a:solidFill>
                  <a:schemeClr val="tx1"/>
                </a:solidFill>
                <a:latin typeface="Calibri" pitchFamily="34" charset="0"/>
                <a:ea typeface="Calibri" pitchFamily="34" charset="-122"/>
                <a:cs typeface="Calibri" pitchFamily="34" charset="-120"/>
              </a:rPr>
              <a:t> — 5-gal, 50-gal</a:t>
            </a:r>
            <a:endParaRPr lang="en-US" sz="2400" dirty="0"/>
          </a:p>
        </p:txBody>
      </p:sp>
      <p:pic>
        <p:nvPicPr>
          <p:cNvPr id="5" name="Photo" descr="Photo">    </p:cNvPr>
          <p:cNvPicPr>
            <a:picLocks noChangeAspect="1"/>
          </p:cNvPicPr>
          <p:nvPr/>
        </p:nvPicPr>
        <p:blipFill>
          <a:blip r:embed="rId1"/>
          <a:stretch>
            <a:fillRect/>
          </a:stretch>
        </p:blipFill>
        <p:spPr>
          <a:xfrm>
            <a:off x="7535028" y="1463040"/>
            <a:ext cx="2790918"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Why Pro-Grade Aluminum?</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Soft-pack</a:t>
            </a:r>
            <a:r>
              <a:rPr lang="en-US" sz="2400" dirty="0">
                <a:solidFill>
                  <a:schemeClr val="tx1"/>
                </a:solidFill>
                <a:latin typeface="Calibri" pitchFamily="34" charset="0"/>
                <a:ea typeface="Calibri" pitchFamily="34" charset="-122"/>
                <a:cs typeface="Calibri" pitchFamily="34" charset="-120"/>
              </a:rPr>
              <a:t> — less mixing time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No primer needed</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Paint-quality aluminum paste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Goes over tight rust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Fills "alligator" cracks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Great up north</a:t>
            </a:r>
            <a:r>
              <a:rPr lang="en-US" sz="2400" dirty="0">
                <a:solidFill>
                  <a:schemeClr val="tx1"/>
                </a:solidFill>
                <a:latin typeface="Calibri" pitchFamily="34" charset="0"/>
                <a:ea typeface="Calibri" pitchFamily="34" charset="-122"/>
                <a:cs typeface="Calibri" pitchFamily="34" charset="-120"/>
              </a:rPr>
              <a:t> — holds in winter heat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One coat. Stops pinhole leaks.</a:t>
            </a:r>
            <a:endParaRPr lang="en-US" sz="2400" dirty="0"/>
          </a:p>
        </p:txBody>
      </p:sp>
      <p:pic>
        <p:nvPicPr>
          <p:cNvPr id="5" name="Photo" descr="Photo">    </p:cNvPr>
          <p:cNvPicPr>
            <a:picLocks noChangeAspect="1"/>
          </p:cNvPicPr>
          <p:nvPr/>
        </p:nvPicPr>
        <p:blipFill>
          <a:blip r:embed="rId1"/>
          <a:stretch>
            <a:fillRect/>
          </a:stretch>
        </p:blipFill>
        <p:spPr>
          <a:xfrm>
            <a:off x="6217920" y="2658449"/>
            <a:ext cx="5425135" cy="231834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ALUMINUM</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Aluminum Accessories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The right base and the right repair.</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197 Asphalt Emulsion</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Cold-applied coating for asphalt roofs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Keeps water out and smooths rough spots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Adds life to the old roof</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Low odor. Meets VOC rules everywhere.</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Must be topcoated</a:t>
            </a:r>
            <a:r>
              <a:rPr lang="en-US" sz="2200" dirty="0">
                <a:solidFill>
                  <a:schemeClr val="tx1"/>
                </a:solidFill>
                <a:latin typeface="Calibri" pitchFamily="34" charset="0"/>
                <a:ea typeface="Calibri" pitchFamily="34" charset="-122"/>
                <a:cs typeface="Calibri" pitchFamily="34" charset="-120"/>
              </a:rPr>
              <a:t> — with acrylic or aluminum</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Black</a:t>
            </a:r>
            <a:r>
              <a:rPr lang="en-US" sz="2200" dirty="0">
                <a:solidFill>
                  <a:schemeClr val="tx1"/>
                </a:solidFill>
                <a:latin typeface="Calibri" pitchFamily="34" charset="0"/>
                <a:ea typeface="Calibri" pitchFamily="34" charset="-122"/>
                <a:cs typeface="Calibri" pitchFamily="34" charset="-120"/>
              </a:rPr>
              <a:t> — 5-gal, 55-gal, 275-gal tote, bulk</a:t>
            </a:r>
            <a:endParaRPr lang="en-US" sz="2200" dirty="0"/>
          </a:p>
        </p:txBody>
      </p:sp>
      <p:pic>
        <p:nvPicPr>
          <p:cNvPr id="5" name="Photo" descr="Photo">    </p:cNvPr>
          <p:cNvPicPr>
            <a:picLocks noChangeAspect="1"/>
          </p:cNvPicPr>
          <p:nvPr/>
        </p:nvPicPr>
        <p:blipFill>
          <a:blip r:embed="rId1"/>
          <a:stretch>
            <a:fillRect/>
          </a:stretch>
        </p:blipFill>
        <p:spPr>
          <a:xfrm>
            <a:off x="7147273" y="1463040"/>
            <a:ext cx="3566428"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167 Extreme Rubberized Flashing Cement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Our best roof cement</a:t>
            </a:r>
            <a:r>
              <a:rPr lang="en-US" sz="2200" dirty="0">
                <a:solidFill>
                  <a:schemeClr val="tx1"/>
                </a:solidFill>
                <a:latin typeface="Calibri" pitchFamily="34" charset="0"/>
                <a:ea typeface="Calibri" pitchFamily="34" charset="-122"/>
                <a:cs typeface="Calibri" pitchFamily="34" charset="-120"/>
              </a:rPr>
              <a:t> — for permanent repairs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Apply in wet or dry weather</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Rubber (SEBS) + UV protection for long life</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Works from -20°F to 140°F</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Sticks 100% underwater (ASTM D3409)</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Meets ASTM D4586. Miami-Dade approved.</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Black</a:t>
            </a:r>
            <a:r>
              <a:rPr lang="en-US" sz="2200" dirty="0">
                <a:solidFill>
                  <a:schemeClr val="tx1"/>
                </a:solidFill>
                <a:latin typeface="Calibri" pitchFamily="34" charset="0"/>
                <a:ea typeface="Calibri" pitchFamily="34" charset="-122"/>
                <a:cs typeface="Calibri" pitchFamily="34" charset="-120"/>
              </a:rPr>
              <a:t> — 1-gal can, 3-gal pail</a:t>
            </a:r>
            <a:endParaRPr lang="en-US" sz="2200" dirty="0"/>
          </a:p>
        </p:txBody>
      </p:sp>
      <p:pic>
        <p:nvPicPr>
          <p:cNvPr id="5" name="Photo" descr="Photo">    </p:cNvPr>
          <p:cNvPicPr>
            <a:picLocks noChangeAspect="1"/>
          </p:cNvPicPr>
          <p:nvPr/>
        </p:nvPicPr>
        <p:blipFill>
          <a:blip r:embed="rId1"/>
          <a:stretch>
            <a:fillRect/>
          </a:stretch>
        </p:blipFill>
        <p:spPr>
          <a:xfrm>
            <a:off x="6217920" y="2940556"/>
            <a:ext cx="5425135" cy="1754127"/>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295 Metal Seam Sealer</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Rubber-based (SEBS) sealant for metal roofs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Strong and stretchy</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For seams that move less than 1/8"</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No fabric needed</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Can be coated over</a:t>
            </a:r>
            <a:r>
              <a:rPr lang="en-US" sz="2200" dirty="0">
                <a:solidFill>
                  <a:schemeClr val="tx1"/>
                </a:solidFill>
                <a:latin typeface="Calibri" pitchFamily="34" charset="0"/>
                <a:ea typeface="Calibri" pitchFamily="34" charset="-122"/>
                <a:cs typeface="Calibri" pitchFamily="34" charset="-120"/>
              </a:rPr>
              <a:t> — water-based, solvent-based, or aluminum coatings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Brush, pump spray, or bulk gun</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Off-white</a:t>
            </a:r>
            <a:r>
              <a:rPr lang="en-US" sz="2200" dirty="0">
                <a:solidFill>
                  <a:schemeClr val="tx1"/>
                </a:solidFill>
                <a:latin typeface="Calibri" pitchFamily="34" charset="0"/>
                <a:ea typeface="Calibri" pitchFamily="34" charset="-122"/>
                <a:cs typeface="Calibri" pitchFamily="34" charset="-120"/>
              </a:rPr>
              <a:t> — 5-gal pail</a:t>
            </a:r>
            <a:endParaRPr lang="en-US" sz="2200" dirty="0"/>
          </a:p>
        </p:txBody>
      </p:sp>
      <p:pic>
        <p:nvPicPr>
          <p:cNvPr id="5" name="Photo" descr="Photo">    </p:cNvPr>
          <p:cNvPicPr>
            <a:picLocks noChangeAspect="1"/>
          </p:cNvPicPr>
          <p:nvPr/>
        </p:nvPicPr>
        <p:blipFill>
          <a:blip r:embed="rId1"/>
          <a:stretch>
            <a:fillRect/>
          </a:stretch>
        </p:blipFill>
        <p:spPr>
          <a:xfrm>
            <a:off x="6839740" y="1463040"/>
            <a:ext cx="4181495"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289 White Roof Sealant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Acrylic patching compound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Use on dry or damp roofs</a:t>
            </a:r>
            <a:r>
              <a:rPr lang="en-US" sz="2400" dirty="0">
                <a:solidFill>
                  <a:schemeClr val="tx1"/>
                </a:solidFill>
                <a:latin typeface="Calibri" pitchFamily="34" charset="0"/>
                <a:ea typeface="Calibri" pitchFamily="34" charset="-122"/>
                <a:cs typeface="Calibri" pitchFamily="34" charset="-120"/>
              </a:rPr>
              <a:t> — not wet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Ready to use. Skins over fast.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Won't bleed through white coatings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Trowel or brush</a:t>
            </a:r>
            <a:r>
              <a:rPr lang="en-US" sz="2400" dirty="0">
                <a:solidFill>
                  <a:schemeClr val="tx1"/>
                </a:solidFill>
                <a:latin typeface="Calibri" pitchFamily="34" charset="0"/>
                <a:ea typeface="Calibri" pitchFamily="34" charset="-122"/>
                <a:cs typeface="Calibri" pitchFamily="34" charset="-120"/>
              </a:rPr>
              <a:t> — up to 1/4" thick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pipes, flashings, drains, seams, fasteners,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White</a:t>
            </a:r>
            <a:r>
              <a:rPr lang="en-US" sz="2400" dirty="0">
                <a:solidFill>
                  <a:schemeClr val="tx1"/>
                </a:solidFill>
                <a:latin typeface="Calibri" pitchFamily="34" charset="0"/>
                <a:ea typeface="Calibri" pitchFamily="34" charset="-122"/>
                <a:cs typeface="Calibri" pitchFamily="34" charset="-120"/>
              </a:rPr>
              <a:t> — 3.5-gal, 1-gal, 10.1 oz tube</a:t>
            </a:r>
            <a:endParaRPr lang="en-US" sz="2400" dirty="0"/>
          </a:p>
        </p:txBody>
      </p:sp>
      <p:pic>
        <p:nvPicPr>
          <p:cNvPr id="5" name="Photo" descr="Photo">    </p:cNvPr>
          <p:cNvPicPr>
            <a:picLocks noChangeAspect="1"/>
          </p:cNvPicPr>
          <p:nvPr/>
        </p:nvPicPr>
        <p:blipFill>
          <a:blip r:embed="rId1"/>
          <a:stretch>
            <a:fillRect/>
          </a:stretch>
        </p:blipFill>
        <p:spPr>
          <a:xfrm>
            <a:off x="6217920" y="2663875"/>
            <a:ext cx="5425135" cy="230749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195 / 196 Polyester Fabric</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195</a:t>
            </a:r>
            <a:r>
              <a:rPr lang="en-US" sz="2400" dirty="0">
                <a:solidFill>
                  <a:schemeClr val="tx1"/>
                </a:solidFill>
                <a:latin typeface="Calibri" pitchFamily="34" charset="0"/>
                <a:ea typeface="Calibri" pitchFamily="34" charset="-122"/>
                <a:cs typeface="Calibri" pitchFamily="34" charset="-120"/>
              </a:rPr>
              <a:t> — soft. Bends around odd shapes.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196</a:t>
            </a:r>
            <a:r>
              <a:rPr lang="en-US" sz="2400" dirty="0">
                <a:solidFill>
                  <a:schemeClr val="tx1"/>
                </a:solidFill>
                <a:latin typeface="Calibri" pitchFamily="34" charset="0"/>
                <a:ea typeface="Calibri" pitchFamily="34" charset="-122"/>
                <a:cs typeface="Calibri" pitchFamily="34" charset="-120"/>
              </a:rPr>
              <a:t> — firmer.</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Both</a:t>
            </a:r>
            <a:r>
              <a:rPr lang="en-US" sz="2400" dirty="0">
                <a:solidFill>
                  <a:schemeClr val="tx1"/>
                </a:solidFill>
                <a:latin typeface="Calibri" pitchFamily="34" charset="0"/>
                <a:ea typeface="Calibri" pitchFamily="34" charset="-122"/>
                <a:cs typeface="Calibri" pitchFamily="34" charset="-120"/>
              </a:rPr>
              <a:t> — strong stitched polyester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drains, seams, and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195 rolls</a:t>
            </a:r>
            <a:r>
              <a:rPr lang="en-US" sz="2400" dirty="0">
                <a:solidFill>
                  <a:schemeClr val="tx1"/>
                </a:solidFill>
                <a:latin typeface="Calibri" pitchFamily="34" charset="0"/>
                <a:ea typeface="Calibri" pitchFamily="34" charset="-122"/>
                <a:cs typeface="Calibri" pitchFamily="34" charset="-120"/>
              </a:rPr>
              <a:t> — 40" × 324', 12" × 300', 6" × 300'</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196 rolls</a:t>
            </a:r>
            <a:r>
              <a:rPr lang="en-US" sz="2400" dirty="0">
                <a:solidFill>
                  <a:schemeClr val="tx1"/>
                </a:solidFill>
                <a:latin typeface="Calibri" pitchFamily="34" charset="0"/>
                <a:ea typeface="Calibri" pitchFamily="34" charset="-122"/>
                <a:cs typeface="Calibri" pitchFamily="34" charset="-120"/>
              </a:rPr>
              <a:t> — 40" × 324', 4" × 300'</a:t>
            </a:r>
            <a:endParaRPr lang="en-US" sz="2400" dirty="0"/>
          </a:p>
        </p:txBody>
      </p:sp>
      <p:pic>
        <p:nvPicPr>
          <p:cNvPr id="5" name="Photo" descr="Photo">    </p:cNvPr>
          <p:cNvPicPr>
            <a:picLocks noChangeAspect="1"/>
          </p:cNvPicPr>
          <p:nvPr/>
        </p:nvPicPr>
        <p:blipFill>
          <a:blip r:embed="rId1"/>
          <a:stretch>
            <a:fillRect/>
          </a:stretch>
        </p:blipFill>
        <p:spPr>
          <a:xfrm>
            <a:off x="8449444" y="1463040"/>
            <a:ext cx="962086"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183 Yellow Fiberglass Repair Fabric</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Woven glass fabric with a yellow coating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Stands up to acid and heat. Won't rot.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Works with asphalt, emulsions, and coatings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penetrations, flashings, seams,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Rolls</a:t>
            </a:r>
            <a:r>
              <a:rPr lang="en-US" sz="2400" dirty="0">
                <a:solidFill>
                  <a:schemeClr val="tx1"/>
                </a:solidFill>
                <a:latin typeface="Calibri" pitchFamily="34" charset="0"/>
                <a:ea typeface="Calibri" pitchFamily="34" charset="-122"/>
                <a:cs typeface="Calibri" pitchFamily="34" charset="-120"/>
              </a:rPr>
              <a:t> — 4" × 150', 6" × 25', 36" × 150'</a:t>
            </a:r>
            <a:endParaRPr lang="en-US" sz="2400" dirty="0"/>
          </a:p>
        </p:txBody>
      </p:sp>
      <p:pic>
        <p:nvPicPr>
          <p:cNvPr id="5" name="Photo" descr="Photo">    </p:cNvPr>
          <p:cNvPicPr>
            <a:picLocks noChangeAspect="1"/>
          </p:cNvPicPr>
          <p:nvPr/>
        </p:nvPicPr>
        <p:blipFill>
          <a:blip r:embed="rId1"/>
          <a:stretch>
            <a:fillRect/>
          </a:stretch>
        </p:blipFill>
        <p:spPr>
          <a:xfrm>
            <a:off x="6217920" y="2730995"/>
            <a:ext cx="5425135" cy="217325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ALUMINUM</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Project Startup</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 clean, dry roof is half the job.</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Prep Step 1: Clean the Roof</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Mod-bit and BUR (granulated or smooth)</a:t>
            </a:r>
            <a:r>
              <a:rPr lang="en-US" sz="2400" dirty="0">
                <a:solidFill>
                  <a:schemeClr val="tx1"/>
                </a:solidFill>
                <a:latin typeface="Calibri" pitchFamily="34" charset="0"/>
                <a:ea typeface="Calibri" pitchFamily="34" charset="-122"/>
                <a:cs typeface="Calibri" pitchFamily="34" charset="-120"/>
              </a:rPr>
              <a:t> — power broom, dry vac, air lance (195 CFM)</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Metal</a:t>
            </a:r>
            <a:r>
              <a:rPr lang="en-US" sz="2400" dirty="0">
                <a:solidFill>
                  <a:schemeClr val="tx1"/>
                </a:solidFill>
                <a:latin typeface="Calibri" pitchFamily="34" charset="0"/>
                <a:ea typeface="Calibri" pitchFamily="34" charset="-122"/>
                <a:cs typeface="Calibri" pitchFamily="34" charset="-120"/>
              </a:rPr>
              <a:t> — pressure wash at 3,000+ PSI. Water only! Air lance. Wire brush the rust.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Rule</a:t>
            </a:r>
            <a:r>
              <a:rPr lang="en-US" sz="2400" dirty="0">
                <a:solidFill>
                  <a:schemeClr val="tx1"/>
                </a:solidFill>
                <a:latin typeface="Calibri" pitchFamily="34" charset="0"/>
                <a:ea typeface="Calibri" pitchFamily="34" charset="-122"/>
                <a:cs typeface="Calibri" pitchFamily="34" charset="-120"/>
              </a:rPr>
              <a:t> — all dirt gone and the roof DRY before any coating</a:t>
            </a:r>
            <a:endParaRPr lang="en-US" sz="2400" dirty="0"/>
          </a:p>
        </p:txBody>
      </p:sp>
      <p:pic>
        <p:nvPicPr>
          <p:cNvPr id="5" name="Photo" descr="Photo">    </p:cNvPr>
          <p:cNvPicPr>
            <a:picLocks noChangeAspect="1"/>
          </p:cNvPicPr>
          <p:nvPr/>
        </p:nvPicPr>
        <p:blipFill>
          <a:blip r:embed="rId1"/>
          <a:stretch>
            <a:fillRect/>
          </a:stretch>
        </p:blipFill>
        <p:spPr>
          <a:xfrm>
            <a:off x="6888068" y="1463040"/>
            <a:ext cx="4084840"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Sweat the Details</a:t>
            </a:r>
            <a:endParaRPr lang="en-US" sz="3000" dirty="0"/>
          </a:p>
        </p:txBody>
      </p:sp>
      <p:sp>
        <p:nvSpPr>
          <p:cNvPr id="4" name="Big number"/>
          <p:cNvSpPr txBox="1"/>
          <p:nvPr/>
        </p:nvSpPr>
        <p:spPr>
          <a:xfrm>
            <a:off x="548640" y="1371600"/>
            <a:ext cx="5303520" cy="960120"/>
          </a:xfrm>
          <a:prstGeom prst="rect">
            <a:avLst/>
          </a:prstGeom>
          <a:noFill/>
          <a:ln/>
        </p:spPr>
        <p:txBody>
          <a:bodyPr wrap="square" lIns="0" tIns="0" rIns="0" bIns="0" rtlCol="0" anchor="ctr"/>
          <a:lstStyle/>
          <a:p>
            <a:pPr indent="0" marL="0">
              <a:buNone/>
            </a:pPr>
            <a:r>
              <a:rPr lang="en-US" sz="6600" b="1" dirty="0">
                <a:solidFill>
                  <a:schemeClr val="accent1"/>
                </a:solidFill>
                <a:latin typeface="Arial" pitchFamily="34" charset="0"/>
                <a:ea typeface="Arial" pitchFamily="34" charset="-122"/>
                <a:cs typeface="Arial" pitchFamily="34" charset="-120"/>
              </a:rPr>
              <a:t>90%</a:t>
            </a:r>
            <a:endParaRPr lang="en-US" sz="6600" dirty="0"/>
          </a:p>
        </p:txBody>
      </p:sp>
      <p:sp>
        <p:nvSpPr>
          <p:cNvPr id="5" name="Big number label"/>
          <p:cNvSpPr txBox="1"/>
          <p:nvPr/>
        </p:nvSpPr>
        <p:spPr>
          <a:xfrm>
            <a:off x="548640" y="2331720"/>
            <a:ext cx="5303520" cy="411480"/>
          </a:xfrm>
          <a:prstGeom prst="rect">
            <a:avLst/>
          </a:prstGeom>
          <a:noFill/>
          <a:ln/>
        </p:spPr>
        <p:txBody>
          <a:bodyPr wrap="square" lIns="0" tIns="0" rIns="0" bIns="0" rtlCol="0" anchor="ctr"/>
          <a:lstStyle/>
          <a:p>
            <a:pPr indent="0" marL="0">
              <a:buNone/>
            </a:pPr>
            <a:r>
              <a:rPr lang="en-US" sz="2000" b="1" dirty="0">
                <a:solidFill>
                  <a:schemeClr val="tx2"/>
                </a:solidFill>
              </a:rPr>
              <a:t>of roof leaks start at these spots</a:t>
            </a:r>
            <a:endParaRPr lang="en-US" sz="2000" dirty="0"/>
          </a:p>
        </p:txBody>
      </p:sp>
      <p:sp>
        <p:nvSpPr>
          <p:cNvPr id="6" name="Body text"/>
          <p:cNvSpPr txBox="1"/>
          <p:nvPr/>
        </p:nvSpPr>
        <p:spPr>
          <a:xfrm>
            <a:off x="548640" y="2971800"/>
            <a:ext cx="5303520" cy="320040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Seams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Penetrations</a:t>
            </a:r>
            <a:r>
              <a:rPr lang="en-US" sz="2200" dirty="0">
                <a:solidFill>
                  <a:schemeClr val="tx1"/>
                </a:solidFill>
                <a:latin typeface="Calibri" pitchFamily="34" charset="0"/>
                <a:ea typeface="Calibri" pitchFamily="34" charset="-122"/>
                <a:cs typeface="Calibri" pitchFamily="34" charset="-120"/>
              </a:rPr>
              <a:t> — pipes, vents, drains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Curbs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Edges (terminations)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Transitions</a:t>
            </a:r>
            <a:r>
              <a:rPr lang="en-US" sz="2200" dirty="0">
                <a:solidFill>
                  <a:schemeClr val="tx1"/>
                </a:solidFill>
                <a:latin typeface="Calibri" pitchFamily="34" charset="0"/>
                <a:ea typeface="Calibri" pitchFamily="34" charset="-122"/>
                <a:cs typeface="Calibri" pitchFamily="34" charset="-120"/>
              </a:rPr>
              <a:t> — where the roof changes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Parapet walls</a:t>
            </a:r>
            <a:endParaRPr lang="en-US" sz="2200" dirty="0"/>
          </a:p>
        </p:txBody>
      </p:sp>
      <p:pic>
        <p:nvPicPr>
          <p:cNvPr id="7" name="Photo" descr="Photo">    </p:cNvPr>
          <p:cNvPicPr>
            <a:picLocks noChangeAspect="1"/>
          </p:cNvPicPr>
          <p:nvPr/>
        </p:nvPicPr>
        <p:blipFill>
          <a:blip r:embed="rId1"/>
          <a:stretch>
            <a:fillRect/>
          </a:stretch>
        </p:blipFill>
        <p:spPr>
          <a:xfrm>
            <a:off x="6217920" y="2656641"/>
            <a:ext cx="5425135" cy="232195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Which Product for Which Detail?</a:t>
            </a:r>
            <a:endParaRPr lang="en-US" sz="3000" dirty="0"/>
          </a:p>
        </p:txBody>
      </p:sp>
      <p:graphicFrame>
        <p:nvGraphicFramePr>
          <p:cNvPr id="157"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827315"/>
                <a:gridCol w="3002018"/>
                <a:gridCol w="6265082"/>
              </a:tblGrid>
              <a:tr h="0">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Roof</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Detail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Product → How</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Asphalt</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Seams, pipes, drains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197 + 195 fabric → brush, roll, spray</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(Skip if doing a full fabric or emulsion system)</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167 + 183 yellow fabric → brush, trowel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Metal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Seams, pipes, fasteners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295 Seam Sealer → brush, bulk gun</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289 Sealant* → brush</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5"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*Use 289 where 295 doesn't meet VOC rules.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ALUMINUM</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Aluminum Application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Measure the squares. Hit the rate.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Measure the Roof in Squares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Mark the roof in 10' × 10' boxes</a:t>
            </a:r>
            <a:r>
              <a:rPr lang="en-US" sz="2400" dirty="0">
                <a:solidFill>
                  <a:schemeClr val="tx1"/>
                </a:solidFill>
                <a:latin typeface="Calibri" pitchFamily="34" charset="0"/>
                <a:ea typeface="Calibri" pitchFamily="34" charset="-122"/>
                <a:cs typeface="Calibri" pitchFamily="34" charset="-120"/>
              </a:rPr>
              <a:t> — 1 box = 1 square = 100 sq ft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Example</a:t>
            </a:r>
            <a:r>
              <a:rPr lang="en-US" sz="2400" dirty="0">
                <a:solidFill>
                  <a:schemeClr val="tx1"/>
                </a:solidFill>
                <a:latin typeface="Calibri" pitchFamily="34" charset="0"/>
                <a:ea typeface="Calibri" pitchFamily="34" charset="-122"/>
                <a:cs typeface="Calibri" pitchFamily="34" charset="-120"/>
              </a:rPr>
              <a:t> — spec says 2.5 gal per square → one 5-gal pail of Pro-Grade Aluminum covers 2 squares (smooth roof)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Rough roofs (granulated mod-bit) soak up more — use more to hit the right dry thickness</a:t>
            </a:r>
            <a:endParaRPr lang="en-US" sz="2400" dirty="0"/>
          </a:p>
        </p:txBody>
      </p:sp>
      <p:pic>
        <p:nvPicPr>
          <p:cNvPr id="5" name="Photo" descr="Photo">    </p:cNvPr>
          <p:cNvPicPr>
            <a:picLocks noChangeAspect="1"/>
          </p:cNvPicPr>
          <p:nvPr/>
        </p:nvPicPr>
        <p:blipFill>
          <a:blip r:embed="rId1"/>
          <a:stretch>
            <a:fillRect/>
          </a:stretch>
        </p:blipFill>
        <p:spPr>
          <a:xfrm>
            <a:off x="6217920" y="3233514"/>
            <a:ext cx="5425135" cy="116821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Roll or Brush</a:t>
            </a:r>
            <a:endParaRPr lang="en-US" sz="3000" dirty="0"/>
          </a:p>
        </p:txBody>
      </p:sp>
      <p:pic>
        <p:nvPicPr>
          <p:cNvPr id="4" name="Photo" descr="Photo">    </p:cNvPr>
          <p:cNvPicPr>
            <a:picLocks noChangeAspect="1"/>
          </p:cNvPicPr>
          <p:nvPr/>
        </p:nvPicPr>
        <p:blipFill>
          <a:blip r:embed="rId1"/>
          <a:stretch>
            <a:fillRect/>
          </a:stretch>
        </p:blipFill>
        <p:spPr>
          <a:xfrm>
            <a:off x="548640" y="2488659"/>
            <a:ext cx="11094415" cy="2063561"/>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Roll or brush it on in even passes. Mix well first!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Spray and Back Roll</a:t>
            </a:r>
            <a:endParaRPr lang="en-US" sz="3000" dirty="0"/>
          </a:p>
        </p:txBody>
      </p:sp>
      <p:pic>
        <p:nvPicPr>
          <p:cNvPr id="4" name="Photo" descr="Photo">    </p:cNvPr>
          <p:cNvPicPr>
            <a:picLocks noChangeAspect="1"/>
          </p:cNvPicPr>
          <p:nvPr/>
        </p:nvPicPr>
        <p:blipFill>
          <a:blip r:embed="rId1"/>
          <a:stretch>
            <a:fillRect/>
          </a:stretch>
        </p:blipFill>
        <p:spPr>
          <a:xfrm>
            <a:off x="637924" y="1417320"/>
            <a:ext cx="10915848"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Spray for speed, then roll it in.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Tank Spreader</a:t>
            </a:r>
            <a:endParaRPr lang="en-US" sz="3000" dirty="0"/>
          </a:p>
        </p:txBody>
      </p:sp>
      <p:pic>
        <p:nvPicPr>
          <p:cNvPr id="4" name="Photo" descr="Photo">    </p:cNvPr>
          <p:cNvPicPr>
            <a:picLocks noChangeAspect="1"/>
          </p:cNvPicPr>
          <p:nvPr/>
        </p:nvPicPr>
        <p:blipFill>
          <a:blip r:embed="rId1"/>
          <a:stretch>
            <a:fillRect/>
          </a:stretch>
        </p:blipFill>
        <p:spPr>
          <a:xfrm>
            <a:off x="548640" y="2074468"/>
            <a:ext cx="11094415" cy="289194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Even coat on big, open areas.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ALUMINUM</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Warranty Information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Do it right, and Henry stands behind it — up to 12 years.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Warranty Program</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Up to 12 years</a:t>
            </a:r>
            <a:r>
              <a:rPr lang="en-US" sz="2400" dirty="0">
                <a:solidFill>
                  <a:schemeClr val="tx1"/>
                </a:solidFill>
                <a:latin typeface="Calibri" pitchFamily="34" charset="0"/>
                <a:ea typeface="Calibri" pitchFamily="34" charset="-122"/>
                <a:cs typeface="Calibri" pitchFamily="34" charset="-120"/>
              </a:rPr>
              <a:t> — labor, workmanship, and materials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Can be transferred and renewed</a:t>
            </a:r>
            <a:endParaRPr lang="en-US" sz="2400" dirty="0"/>
          </a:p>
        </p:txBody>
      </p:sp>
      <p:pic>
        <p:nvPicPr>
          <p:cNvPr id="5" name="Photo" descr="Photo">    </p:cNvPr>
          <p:cNvPicPr>
            <a:picLocks noChangeAspect="1"/>
          </p:cNvPicPr>
          <p:nvPr/>
        </p:nvPicPr>
        <p:blipFill>
          <a:blip r:embed="rId1"/>
          <a:stretch>
            <a:fillRect/>
          </a:stretch>
        </p:blipFill>
        <p:spPr>
          <a:xfrm>
            <a:off x="6249487" y="1463040"/>
            <a:ext cx="5362001"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Aluminum Warranty Options</a:t>
            </a:r>
            <a:endParaRPr lang="en-US" sz="3000" dirty="0"/>
          </a:p>
        </p:txBody>
      </p:sp>
      <p:pic>
        <p:nvPicPr>
          <p:cNvPr id="4" name="Photo" descr="Photo">    </p:cNvPr>
          <p:cNvPicPr>
            <a:picLocks noChangeAspect="1"/>
          </p:cNvPicPr>
          <p:nvPr/>
        </p:nvPicPr>
        <p:blipFill>
          <a:blip r:embed="rId1"/>
          <a:stretch>
            <a:fillRect/>
          </a:stretch>
        </p:blipFill>
        <p:spPr>
          <a:xfrm>
            <a:off x="1330470" y="1417320"/>
            <a:ext cx="9530755"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ALUMINUM</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Aluminum Application Guide</a:t>
            </a:r>
            <a:endParaRPr lang="en-US" sz="3000" dirty="0"/>
          </a:p>
        </p:txBody>
      </p:sp>
      <p:pic>
        <p:nvPicPr>
          <p:cNvPr id="4" name="Photo" descr="Photo">    </p:cNvPr>
          <p:cNvPicPr>
            <a:picLocks noChangeAspect="1"/>
          </p:cNvPicPr>
          <p:nvPr/>
        </p:nvPicPr>
        <p:blipFill>
          <a:blip r:embed="rId1"/>
          <a:stretch>
            <a:fillRect/>
          </a:stretch>
        </p:blipFill>
        <p:spPr>
          <a:xfrm>
            <a:off x="1301501" y="1417320"/>
            <a:ext cx="9588693"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Your step-by-step guide for this system. Keep it on the job.</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Asphalt Repair Mastics &amp; Emulsion Systems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Emulsion: the low-cost base for asphalt roofs — always topcoat it.</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Asphalt Emulsion: The Strengths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Keeps moisture out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Forms one seamless layer with fabric</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Spray, brush, or roll</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Good value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Zero VOC</a:t>
            </a:r>
            <a:r>
              <a:rPr lang="en-US" sz="2400" dirty="0">
                <a:solidFill>
                  <a:schemeClr val="tx1"/>
                </a:solidFill>
                <a:latin typeface="Calibri" pitchFamily="34" charset="0"/>
                <a:ea typeface="Calibri" pitchFamily="34" charset="-122"/>
                <a:cs typeface="Calibri" pitchFamily="34" charset="-120"/>
              </a:rPr>
              <a:t> — no harmful fumes</a:t>
            </a:r>
            <a:endParaRPr lang="en-US" sz="2400" dirty="0"/>
          </a:p>
        </p:txBody>
      </p:sp>
      <p:pic>
        <p:nvPicPr>
          <p:cNvPr id="5" name="Photo" descr="Photo">    </p:cNvPr>
          <p:cNvPicPr>
            <a:picLocks noChangeAspect="1"/>
          </p:cNvPicPr>
          <p:nvPr/>
        </p:nvPicPr>
        <p:blipFill>
          <a:blip r:embed="rId1"/>
          <a:stretch>
            <a:fillRect/>
          </a:stretch>
        </p:blipFill>
        <p:spPr>
          <a:xfrm>
            <a:off x="6217920" y="2613240"/>
            <a:ext cx="5425135" cy="24087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Asphalt Emulsion: The Downsides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Must be topcoated</a:t>
            </a:r>
            <a:r>
              <a:rPr lang="en-US" sz="2400" dirty="0">
                <a:solidFill>
                  <a:schemeClr val="tx1"/>
                </a:solidFill>
                <a:latin typeface="Calibri" pitchFamily="34" charset="0"/>
                <a:ea typeface="Calibri" pitchFamily="34" charset="-122"/>
                <a:cs typeface="Calibri" pitchFamily="34" charset="-120"/>
              </a:rPr>
              <a:t> — sun breaks it down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Needs more than one coat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Takes longer to cure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Weather matters</a:t>
            </a:r>
            <a:r>
              <a:rPr lang="en-US" sz="2400" dirty="0">
                <a:solidFill>
                  <a:schemeClr val="tx1"/>
                </a:solidFill>
                <a:latin typeface="Calibri" pitchFamily="34" charset="0"/>
                <a:ea typeface="Calibri" pitchFamily="34" charset="-122"/>
                <a:cs typeface="Calibri" pitchFamily="34" charset="-120"/>
              </a:rPr>
              <a:t> — 50°F and rising, no rain for 6–12+ hours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Not for single-ply or metal</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Mold can grow on it. Only about 50% solids.</a:t>
            </a:r>
            <a:endParaRPr lang="en-US" sz="2400" dirty="0"/>
          </a:p>
        </p:txBody>
      </p:sp>
      <p:pic>
        <p:nvPicPr>
          <p:cNvPr id="5" name="Photo" descr="Photo">    </p:cNvPr>
          <p:cNvPicPr>
            <a:picLocks noChangeAspect="1"/>
          </p:cNvPicPr>
          <p:nvPr/>
        </p:nvPicPr>
        <p:blipFill>
          <a:blip r:embed="rId1"/>
          <a:stretch>
            <a:fillRect/>
          </a:stretch>
        </p:blipFill>
        <p:spPr>
          <a:xfrm>
            <a:off x="6217920" y="1736784"/>
            <a:ext cx="5425135" cy="41616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When Emulsion Is a Good Fit</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Flat asphalt roofs* that drain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Alligatored (cracked) asphalt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Roofs with old aluminum or acrylic coating</a:t>
            </a:r>
            <a:endParaRPr lang="en-US" sz="2400" dirty="0"/>
          </a:p>
        </p:txBody>
      </p:sp>
      <p:pic>
        <p:nvPicPr>
          <p:cNvPr id="5" name="Photo" descr="Photo">    </p:cNvPr>
          <p:cNvPicPr>
            <a:picLocks noChangeAspect="1"/>
          </p:cNvPicPr>
          <p:nvPr/>
        </p:nvPicPr>
        <p:blipFill>
          <a:blip r:embed="rId1"/>
          <a:stretch>
            <a:fillRect/>
          </a:stretch>
        </p:blipFill>
        <p:spPr>
          <a:xfrm>
            <a:off x="6217920" y="2432168"/>
            <a:ext cx="5425135" cy="2405143"/>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*Areas with good drainage — no ponding water.</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When Emulsion Is NOT a Good Fit</a:t>
            </a:r>
            <a:endParaRPr lang="en-US" sz="3000" dirty="0"/>
          </a:p>
        </p:txBody>
      </p:sp>
      <p:sp>
        <p:nvSpPr>
          <p:cNvPr id="4" name="Body text"/>
          <p:cNvSpPr txBox="1"/>
          <p:nvPr/>
        </p:nvSpPr>
        <p:spPr>
          <a:xfrm>
            <a:off x="548640" y="1508760"/>
            <a:ext cx="5303520" cy="429768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Ponding water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Flat roofs* that don't drain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Single-ply and spray foam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Max sun protection needed</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Heavy foot traffic</a:t>
            </a:r>
            <a:endParaRPr lang="en-US" sz="2400" dirty="0"/>
          </a:p>
        </p:txBody>
      </p:sp>
      <p:pic>
        <p:nvPicPr>
          <p:cNvPr id="5" name="Photo" descr="Photo">    </p:cNvPr>
          <p:cNvPicPr>
            <a:picLocks noChangeAspect="1"/>
          </p:cNvPicPr>
          <p:nvPr/>
        </p:nvPicPr>
        <p:blipFill>
          <a:blip r:embed="rId1"/>
          <a:stretch>
            <a:fillRect/>
          </a:stretch>
        </p:blipFill>
        <p:spPr>
          <a:xfrm>
            <a:off x="6217920" y="2475569"/>
            <a:ext cx="5425135" cy="2318341"/>
          </a:xfrm>
          <a:prstGeom prst="rect">
            <a:avLst/>
          </a:prstGeom>
        </p:spPr>
      </p:pic>
      <p:sp>
        <p:nvSpPr>
          <p:cNvPr id="6"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*Little to no drainage.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Emulsion Restoration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Emulsion builds it up. The topcoat protects it.</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What Roofs Can Emulsion Restore?</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Asphalt roofs only.</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Asphalt Roofs</a:t>
            </a:r>
            <a:endParaRPr lang="en-US" sz="3000" dirty="0"/>
          </a:p>
        </p:txBody>
      </p:sp>
      <p:pic>
        <p:nvPicPr>
          <p:cNvPr id="4" name="Photo" descr="Photo">    </p:cNvPr>
          <p:cNvPicPr>
            <a:picLocks noChangeAspect="1"/>
          </p:cNvPicPr>
          <p:nvPr/>
        </p:nvPicPr>
        <p:blipFill>
          <a:blip r:embed="rId1"/>
          <a:stretch>
            <a:fillRect/>
          </a:stretch>
        </p:blipFill>
        <p:spPr>
          <a:xfrm>
            <a:off x="548640" y="1671371"/>
            <a:ext cx="11094415" cy="369813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Granulated or smooth mod-bit, and BUR (built-up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Roofs Coated Before</a:t>
            </a:r>
            <a:endParaRPr lang="en-US" sz="3000" dirty="0"/>
          </a:p>
        </p:txBody>
      </p:sp>
      <p:pic>
        <p:nvPicPr>
          <p:cNvPr id="4" name="Photo" descr="Photo">    </p:cNvPr>
          <p:cNvPicPr>
            <a:picLocks noChangeAspect="1"/>
          </p:cNvPicPr>
          <p:nvPr/>
        </p:nvPicPr>
        <p:blipFill>
          <a:blip r:embed="rId1"/>
          <a:stretch>
            <a:fillRect/>
          </a:stretch>
        </p:blipFill>
        <p:spPr>
          <a:xfrm>
            <a:off x="548640" y="2392508"/>
            <a:ext cx="11094415" cy="225586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Asphalt roofs with an old acrylic or aluminum coating.</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Tar &amp; Gravel Roofs*</a:t>
            </a:r>
            <a:endParaRPr lang="en-US" sz="3000" dirty="0"/>
          </a:p>
        </p:txBody>
      </p:sp>
      <p:pic>
        <p:nvPicPr>
          <p:cNvPr id="4" name="Photo" descr="Photo">    </p:cNvPr>
          <p:cNvPicPr>
            <a:picLocks noChangeAspect="1"/>
          </p:cNvPicPr>
          <p:nvPr/>
        </p:nvPicPr>
        <p:blipFill>
          <a:blip r:embed="rId1"/>
          <a:stretch>
            <a:fillRect/>
          </a:stretch>
        </p:blipFill>
        <p:spPr>
          <a:xfrm>
            <a:off x="548640" y="1556729"/>
            <a:ext cx="11094415" cy="3927423"/>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*This system is still under review — check with Henry first.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Emulsion Restoration Steps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Repair first, then restore.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The Steps for a Warranted Job</a:t>
            </a:r>
            <a:endParaRPr lang="en-US" sz="3000" dirty="0"/>
          </a:p>
        </p:txBody>
      </p:sp>
      <p:sp>
        <p:nvSpPr>
          <p:cNvPr id="4" name="Step 1 card"/>
          <p:cNvSpPr/>
          <p:nvPr/>
        </p:nvSpPr>
        <p:spPr>
          <a:xfrm>
            <a:off x="548640" y="1554480"/>
            <a:ext cx="3515258" cy="2057400"/>
          </a:xfrm>
          <a:prstGeom prst="roundRect">
            <a:avLst>
              <a:gd name="adj" fmla="val 4444"/>
            </a:avLst>
          </a:prstGeom>
          <a:solidFill>
            <a:schemeClr val="bg2"/>
          </a:solidFill>
          <a:ln/>
        </p:spPr>
      </p:sp>
      <p:sp>
        <p:nvSpPr>
          <p:cNvPr id="5" name="Step 1 number"/>
          <p:cNvSpPr/>
          <p:nvPr/>
        </p:nvSpPr>
        <p:spPr>
          <a:xfrm>
            <a:off x="822960" y="1828800"/>
            <a:ext cx="685800" cy="685800"/>
          </a:xfrm>
          <a:prstGeom prst="ellipse">
            <a:avLst/>
          </a:prstGeom>
          <a:solidFill>
            <a:schemeClr val="accent1"/>
          </a:solidFill>
          <a:ln/>
        </p:spPr>
      </p:sp>
      <p:sp>
        <p:nvSpPr>
          <p:cNvPr id="6" name="Text 4"/>
          <p:cNvSpPr txBox="1"/>
          <p:nvPr/>
        </p:nvSpPr>
        <p:spPr>
          <a:xfrm>
            <a:off x="822960"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5"/>
          <p:cNvSpPr txBox="1"/>
          <p:nvPr/>
        </p:nvSpPr>
        <p:spPr>
          <a:xfrm>
            <a:off x="822960"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Walk the roof</a:t>
            </a:r>
            <a:endParaRPr lang="en-US" sz="2100" dirty="0"/>
          </a:p>
        </p:txBody>
      </p:sp>
      <p:sp>
        <p:nvSpPr>
          <p:cNvPr id="8" name="Text 6"/>
          <p:cNvSpPr txBox="1"/>
          <p:nvPr/>
        </p:nvSpPr>
        <p:spPr>
          <a:xfrm>
            <a:off x="822960"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Look it over. (If needed)</a:t>
            </a:r>
            <a:endParaRPr lang="en-US" sz="1600" dirty="0"/>
          </a:p>
        </p:txBody>
      </p:sp>
      <p:sp>
        <p:nvSpPr>
          <p:cNvPr id="9" name="Step 2 card"/>
          <p:cNvSpPr/>
          <p:nvPr/>
        </p:nvSpPr>
        <p:spPr>
          <a:xfrm>
            <a:off x="4338218" y="1554480"/>
            <a:ext cx="3515258" cy="2057400"/>
          </a:xfrm>
          <a:prstGeom prst="roundRect">
            <a:avLst>
              <a:gd name="adj" fmla="val 4444"/>
            </a:avLst>
          </a:prstGeom>
          <a:solidFill>
            <a:schemeClr val="bg2"/>
          </a:solidFill>
          <a:ln/>
        </p:spPr>
      </p:sp>
      <p:sp>
        <p:nvSpPr>
          <p:cNvPr id="10" name="Step 2 number"/>
          <p:cNvSpPr/>
          <p:nvPr/>
        </p:nvSpPr>
        <p:spPr>
          <a:xfrm>
            <a:off x="4612538" y="1828800"/>
            <a:ext cx="685800" cy="685800"/>
          </a:xfrm>
          <a:prstGeom prst="ellipse">
            <a:avLst/>
          </a:prstGeom>
          <a:solidFill>
            <a:schemeClr val="accent1"/>
          </a:solidFill>
          <a:ln/>
        </p:spPr>
      </p:sp>
      <p:sp>
        <p:nvSpPr>
          <p:cNvPr id="11" name="Text 9"/>
          <p:cNvSpPr txBox="1"/>
          <p:nvPr/>
        </p:nvSpPr>
        <p:spPr>
          <a:xfrm>
            <a:off x="4612538"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2" name="Text 10"/>
          <p:cNvSpPr txBox="1"/>
          <p:nvPr/>
        </p:nvSpPr>
        <p:spPr>
          <a:xfrm>
            <a:off x="4612538"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Adhesion test</a:t>
            </a:r>
            <a:endParaRPr lang="en-US" sz="2100" dirty="0"/>
          </a:p>
        </p:txBody>
      </p:sp>
      <p:sp>
        <p:nvSpPr>
          <p:cNvPr id="13" name="Text 11"/>
          <p:cNvSpPr txBox="1"/>
          <p:nvPr/>
        </p:nvSpPr>
        <p:spPr>
          <a:xfrm>
            <a:off x="4612538"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Will the coating stick? (If needed)</a:t>
            </a:r>
            <a:endParaRPr lang="en-US" sz="1600" dirty="0"/>
          </a:p>
        </p:txBody>
      </p:sp>
      <p:sp>
        <p:nvSpPr>
          <p:cNvPr id="14" name="Step 3 card"/>
          <p:cNvSpPr/>
          <p:nvPr/>
        </p:nvSpPr>
        <p:spPr>
          <a:xfrm>
            <a:off x="8127797" y="1554480"/>
            <a:ext cx="3515258" cy="2057400"/>
          </a:xfrm>
          <a:prstGeom prst="roundRect">
            <a:avLst>
              <a:gd name="adj" fmla="val 4444"/>
            </a:avLst>
          </a:prstGeom>
          <a:solidFill>
            <a:schemeClr val="bg2"/>
          </a:solidFill>
          <a:ln/>
        </p:spPr>
      </p:sp>
      <p:sp>
        <p:nvSpPr>
          <p:cNvPr id="15" name="Step 3 number"/>
          <p:cNvSpPr/>
          <p:nvPr/>
        </p:nvSpPr>
        <p:spPr>
          <a:xfrm>
            <a:off x="8402117" y="1828800"/>
            <a:ext cx="685800" cy="685800"/>
          </a:xfrm>
          <a:prstGeom prst="ellipse">
            <a:avLst/>
          </a:prstGeom>
          <a:solidFill>
            <a:schemeClr val="accent1"/>
          </a:solidFill>
          <a:ln/>
        </p:spPr>
      </p:sp>
      <p:sp>
        <p:nvSpPr>
          <p:cNvPr id="16" name="Text 14"/>
          <p:cNvSpPr txBox="1"/>
          <p:nvPr/>
        </p:nvSpPr>
        <p:spPr>
          <a:xfrm>
            <a:off x="8402117"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7" name="Text 15"/>
          <p:cNvSpPr txBox="1"/>
          <p:nvPr/>
        </p:nvSpPr>
        <p:spPr>
          <a:xfrm>
            <a:off x="8402117"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Moisture survey</a:t>
            </a:r>
            <a:endParaRPr lang="en-US" sz="2100" dirty="0"/>
          </a:p>
        </p:txBody>
      </p:sp>
      <p:sp>
        <p:nvSpPr>
          <p:cNvPr id="18" name="Text 16"/>
          <p:cNvSpPr txBox="1"/>
          <p:nvPr/>
        </p:nvSpPr>
        <p:spPr>
          <a:xfrm>
            <a:off x="8402117"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Is it wet inside? (If needed)</a:t>
            </a:r>
            <a:endParaRPr lang="en-US" sz="1600" dirty="0"/>
          </a:p>
        </p:txBody>
      </p:sp>
      <p:sp>
        <p:nvSpPr>
          <p:cNvPr id="19" name="Step 4 card"/>
          <p:cNvSpPr/>
          <p:nvPr/>
        </p:nvSpPr>
        <p:spPr>
          <a:xfrm>
            <a:off x="548640" y="3886200"/>
            <a:ext cx="3515258" cy="2057400"/>
          </a:xfrm>
          <a:prstGeom prst="roundRect">
            <a:avLst>
              <a:gd name="adj" fmla="val 4444"/>
            </a:avLst>
          </a:prstGeom>
          <a:solidFill>
            <a:schemeClr val="bg2"/>
          </a:solidFill>
          <a:ln/>
        </p:spPr>
      </p:sp>
      <p:sp>
        <p:nvSpPr>
          <p:cNvPr id="20" name="Step 4 number"/>
          <p:cNvSpPr/>
          <p:nvPr/>
        </p:nvSpPr>
        <p:spPr>
          <a:xfrm>
            <a:off x="822960" y="4160520"/>
            <a:ext cx="685800" cy="685800"/>
          </a:xfrm>
          <a:prstGeom prst="ellipse">
            <a:avLst/>
          </a:prstGeom>
          <a:solidFill>
            <a:schemeClr val="accent1"/>
          </a:solidFill>
          <a:ln/>
        </p:spPr>
      </p:sp>
      <p:sp>
        <p:nvSpPr>
          <p:cNvPr id="21" name="Text 19"/>
          <p:cNvSpPr txBox="1"/>
          <p:nvPr/>
        </p:nvSpPr>
        <p:spPr>
          <a:xfrm>
            <a:off x="822960"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2" name="Text 20"/>
          <p:cNvSpPr txBox="1"/>
          <p:nvPr/>
        </p:nvSpPr>
        <p:spPr>
          <a:xfrm>
            <a:off x="822960"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Fix the roof</a:t>
            </a:r>
            <a:endParaRPr lang="en-US" sz="2100" dirty="0"/>
          </a:p>
        </p:txBody>
      </p:sp>
      <p:sp>
        <p:nvSpPr>
          <p:cNvPr id="23" name="Text 21"/>
          <p:cNvSpPr txBox="1"/>
          <p:nvPr/>
        </p:nvSpPr>
        <p:spPr>
          <a:xfrm>
            <a:off x="822960"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Repair what's broken</a:t>
            </a:r>
            <a:endParaRPr lang="en-US" sz="1600" dirty="0"/>
          </a:p>
        </p:txBody>
      </p:sp>
      <p:sp>
        <p:nvSpPr>
          <p:cNvPr id="24" name="Step 5 card"/>
          <p:cNvSpPr/>
          <p:nvPr/>
        </p:nvSpPr>
        <p:spPr>
          <a:xfrm>
            <a:off x="4338218" y="3886200"/>
            <a:ext cx="3515258" cy="2057400"/>
          </a:xfrm>
          <a:prstGeom prst="roundRect">
            <a:avLst>
              <a:gd name="adj" fmla="val 4444"/>
            </a:avLst>
          </a:prstGeom>
          <a:solidFill>
            <a:schemeClr val="bg2"/>
          </a:solidFill>
          <a:ln/>
        </p:spPr>
      </p:sp>
      <p:sp>
        <p:nvSpPr>
          <p:cNvPr id="25" name="Step 5 number"/>
          <p:cNvSpPr/>
          <p:nvPr/>
        </p:nvSpPr>
        <p:spPr>
          <a:xfrm>
            <a:off x="4612538" y="4160520"/>
            <a:ext cx="685800" cy="685800"/>
          </a:xfrm>
          <a:prstGeom prst="ellipse">
            <a:avLst/>
          </a:prstGeom>
          <a:solidFill>
            <a:schemeClr val="accent1"/>
          </a:solidFill>
          <a:ln/>
        </p:spPr>
      </p:sp>
      <p:sp>
        <p:nvSpPr>
          <p:cNvPr id="26" name="Text 24"/>
          <p:cNvSpPr txBox="1"/>
          <p:nvPr/>
        </p:nvSpPr>
        <p:spPr>
          <a:xfrm>
            <a:off x="4612538"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7" name="Text 25"/>
          <p:cNvSpPr txBox="1"/>
          <p:nvPr/>
        </p:nvSpPr>
        <p:spPr>
          <a:xfrm>
            <a:off x="4612538"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Restore</a:t>
            </a:r>
            <a:endParaRPr lang="en-US" sz="2100" dirty="0"/>
          </a:p>
        </p:txBody>
      </p:sp>
      <p:sp>
        <p:nvSpPr>
          <p:cNvPr id="28" name="Text 26"/>
          <p:cNvSpPr txBox="1"/>
          <p:nvPr/>
        </p:nvSpPr>
        <p:spPr>
          <a:xfrm>
            <a:off x="4612538"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Apply the coating system</a:t>
            </a:r>
            <a:endParaRPr lang="en-US" sz="1600" dirty="0"/>
          </a:p>
        </p:txBody>
      </p:sp>
      <p:sp>
        <p:nvSpPr>
          <p:cNvPr id="29" name="Step 6 card"/>
          <p:cNvSpPr/>
          <p:nvPr/>
        </p:nvSpPr>
        <p:spPr>
          <a:xfrm>
            <a:off x="8127797" y="3886200"/>
            <a:ext cx="3515258" cy="2057400"/>
          </a:xfrm>
          <a:prstGeom prst="roundRect">
            <a:avLst>
              <a:gd name="adj" fmla="val 4444"/>
            </a:avLst>
          </a:prstGeom>
          <a:solidFill>
            <a:schemeClr val="bg2"/>
          </a:solidFill>
          <a:ln/>
        </p:spPr>
      </p:sp>
      <p:sp>
        <p:nvSpPr>
          <p:cNvPr id="30" name="Step 6 number"/>
          <p:cNvSpPr/>
          <p:nvPr/>
        </p:nvSpPr>
        <p:spPr>
          <a:xfrm>
            <a:off x="8402117" y="4160520"/>
            <a:ext cx="685800" cy="685800"/>
          </a:xfrm>
          <a:prstGeom prst="ellipse">
            <a:avLst/>
          </a:prstGeom>
          <a:solidFill>
            <a:schemeClr val="accent1"/>
          </a:solidFill>
          <a:ln/>
        </p:spPr>
      </p:sp>
      <p:sp>
        <p:nvSpPr>
          <p:cNvPr id="31" name="Text 29"/>
          <p:cNvSpPr txBox="1"/>
          <p:nvPr/>
        </p:nvSpPr>
        <p:spPr>
          <a:xfrm>
            <a:off x="8402117"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6</a:t>
            </a:r>
            <a:endParaRPr lang="en-US" sz="2600" dirty="0"/>
          </a:p>
        </p:txBody>
      </p:sp>
      <p:sp>
        <p:nvSpPr>
          <p:cNvPr id="32" name="Text 30"/>
          <p:cNvSpPr txBox="1"/>
          <p:nvPr/>
        </p:nvSpPr>
        <p:spPr>
          <a:xfrm>
            <a:off x="8402117"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Final inspection</a:t>
            </a:r>
            <a:endParaRPr lang="en-US" sz="2100" dirty="0"/>
          </a:p>
        </p:txBody>
      </p:sp>
      <p:sp>
        <p:nvSpPr>
          <p:cNvPr id="33" name="Text 31"/>
          <p:cNvSpPr txBox="1"/>
          <p:nvPr/>
        </p:nvSpPr>
        <p:spPr>
          <a:xfrm>
            <a:off x="8402117"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Check the work. (If needed)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3: Moisture Survey — Is It Wet Inside?</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Find wet insulation</a:t>
            </a:r>
            <a:r>
              <a:rPr lang="en-US" sz="2000" dirty="0">
                <a:solidFill>
                  <a:schemeClr val="tx1"/>
                </a:solidFill>
                <a:latin typeface="Calibri" pitchFamily="34" charset="0"/>
                <a:ea typeface="Calibri" pitchFamily="34" charset="-122"/>
                <a:cs typeface="Calibri" pitchFamily="34" charset="-120"/>
              </a:rPr>
              <a:t> — infrared scans and core cuts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More than 25% wet</a:t>
            </a:r>
            <a:r>
              <a:rPr lang="en-US" sz="2000" dirty="0">
                <a:solidFill>
                  <a:schemeClr val="tx1"/>
                </a:solidFill>
                <a:latin typeface="Calibri" pitchFamily="34" charset="0"/>
                <a:ea typeface="Calibri" pitchFamily="34" charset="-122"/>
                <a:cs typeface="Calibri" pitchFamily="34" charset="-120"/>
              </a:rPr>
              <a:t> — not a candidate. Replace the roof.</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Less than 25% wet</a:t>
            </a:r>
            <a:r>
              <a:rPr lang="en-US" sz="2000" dirty="0">
                <a:solidFill>
                  <a:schemeClr val="tx1"/>
                </a:solidFill>
                <a:latin typeface="Calibri" pitchFamily="34" charset="0"/>
                <a:ea typeface="Calibri" pitchFamily="34" charset="-122"/>
                <a:cs typeface="Calibri" pitchFamily="34" charset="-120"/>
              </a:rPr>
              <a:t> — cut out the wet areas and replace them</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Test methods</a:t>
            </a:r>
            <a:r>
              <a:rPr lang="en-US" sz="2000" dirty="0">
                <a:solidFill>
                  <a:schemeClr val="tx1"/>
                </a:solidFill>
                <a:latin typeface="Calibri" pitchFamily="34" charset="0"/>
                <a:ea typeface="Calibri" pitchFamily="34" charset="-122"/>
                <a:cs typeface="Calibri" pitchFamily="34" charset="-120"/>
              </a:rPr>
              <a:t> — nuclear, infrared, impedance, or cores</a:t>
            </a:r>
            <a:endParaRPr lang="en-US" sz="2000" dirty="0"/>
          </a:p>
          <a:p>
            <a:pPr marL="228600" indent="-228600">
              <a:spcAft>
                <a:spcPts val="1100"/>
              </a:spcAft>
              <a:buSzPct val="100000"/>
              <a:buChar char="•"/>
            </a:pPr>
            <a:r>
              <a:rPr lang="en-US" sz="2000" b="1" dirty="0">
                <a:solidFill>
                  <a:schemeClr val="tx2"/>
                </a:solidFill>
                <a:latin typeface="Calibri" pitchFamily="34" charset="0"/>
                <a:ea typeface="Calibri" pitchFamily="34" charset="-122"/>
                <a:cs typeface="Calibri" pitchFamily="34" charset="-120"/>
              </a:rPr>
              <a:t>You need</a:t>
            </a:r>
            <a:r>
              <a:rPr lang="en-US" sz="2000" dirty="0">
                <a:solidFill>
                  <a:schemeClr val="tx1"/>
                </a:solidFill>
                <a:latin typeface="Calibri" pitchFamily="34" charset="0"/>
                <a:ea typeface="Calibri" pitchFamily="34" charset="-122"/>
                <a:cs typeface="Calibri" pitchFamily="34" charset="-120"/>
              </a:rPr>
              <a:t> — a roof map and NRCA guidelines</a:t>
            </a:r>
            <a:endParaRPr lang="en-US" sz="2000" dirty="0"/>
          </a:p>
          <a:p>
            <a:pPr marL="228600" indent="-228600">
              <a:spcAft>
                <a:spcPts val="1100"/>
              </a:spcAft>
              <a:buSzPct val="100000"/>
              <a:buChar char="•"/>
            </a:pPr>
            <a:r>
              <a:rPr lang="en-US" sz="2000" dirty="0">
                <a:solidFill>
                  <a:schemeClr val="tx1"/>
                </a:solidFill>
                <a:latin typeface="Calibri" pitchFamily="34" charset="0"/>
                <a:ea typeface="Calibri" pitchFamily="34" charset="-122"/>
                <a:cs typeface="Calibri" pitchFamily="34" charset="-120"/>
              </a:rPr>
              <a:t>Not needed on metal roofs</a:t>
            </a:r>
            <a:endParaRPr lang="en-US" sz="2000" dirty="0"/>
          </a:p>
        </p:txBody>
      </p:sp>
      <p:pic>
        <p:nvPicPr>
          <p:cNvPr id="5" name="Photo" descr="Photo">    </p:cNvPr>
          <p:cNvPicPr>
            <a:picLocks noChangeAspect="1"/>
          </p:cNvPicPr>
          <p:nvPr/>
        </p:nvPicPr>
        <p:blipFill>
          <a:blip r:embed="rId1"/>
          <a:stretch>
            <a:fillRect/>
          </a:stretch>
        </p:blipFill>
        <p:spPr>
          <a:xfrm>
            <a:off x="6217920" y="2230768"/>
            <a:ext cx="5425135" cy="3173704"/>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Drone Moisture Scan</a:t>
            </a:r>
            <a:endParaRPr lang="en-US" sz="3000" dirty="0"/>
          </a:p>
        </p:txBody>
      </p:sp>
      <p:pic>
        <p:nvPicPr>
          <p:cNvPr id="4" name="Photo" descr="Photo">    </p:cNvPr>
          <p:cNvPicPr>
            <a:picLocks noChangeAspect="1"/>
          </p:cNvPicPr>
          <p:nvPr/>
        </p:nvPicPr>
        <p:blipFill>
          <a:blip r:embed="rId1"/>
          <a:stretch>
            <a:fillRect/>
          </a:stretch>
        </p:blipFill>
        <p:spPr>
          <a:xfrm>
            <a:off x="1242494" y="1417320"/>
            <a:ext cx="9706708"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Hot spots on the heat scan can mean trapped water under the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Step 4: Repair First, Then Restore</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Replace wet insulation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Replace damaged deck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Fill damaged spots with matching roof material</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The roof must be solid and watertight before you coat it</a:t>
            </a:r>
            <a:endParaRPr lang="en-US" sz="2400" dirty="0"/>
          </a:p>
        </p:txBody>
      </p:sp>
      <p:pic>
        <p:nvPicPr>
          <p:cNvPr id="5" name="Photo" descr="Photo">    </p:cNvPr>
          <p:cNvPicPr>
            <a:picLocks noChangeAspect="1"/>
          </p:cNvPicPr>
          <p:nvPr/>
        </p:nvPicPr>
        <p:blipFill>
          <a:blip r:embed="rId1"/>
          <a:stretch>
            <a:fillRect/>
          </a:stretch>
        </p:blipFill>
        <p:spPr>
          <a:xfrm>
            <a:off x="6217920" y="2622282"/>
            <a:ext cx="5425135" cy="239067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Complete Line of Products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One system, one brand — saves you time and money.</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Emulsion System Lineup</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Base</a:t>
            </a:r>
            <a:r>
              <a:rPr lang="en-US" sz="2400" dirty="0">
                <a:solidFill>
                  <a:schemeClr val="tx1"/>
                </a:solidFill>
                <a:latin typeface="Calibri" pitchFamily="34" charset="0"/>
                <a:ea typeface="Calibri" pitchFamily="34" charset="-122"/>
                <a:cs typeface="Calibri" pitchFamily="34" charset="-120"/>
              </a:rPr>
              <a:t> — Pro-Grade 197 Asphalt Emulsion</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Acrylic topcoats</a:t>
            </a:r>
            <a:r>
              <a:rPr lang="en-US" sz="2400" dirty="0">
                <a:solidFill>
                  <a:schemeClr val="tx1"/>
                </a:solidFill>
                <a:latin typeface="Calibri" pitchFamily="34" charset="0"/>
                <a:ea typeface="Calibri" pitchFamily="34" charset="-122"/>
                <a:cs typeface="Calibri" pitchFamily="34" charset="-120"/>
              </a:rPr>
              <a:t> — AcryShield 510/505, 610/605, 550, 400</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Aluminum topcoats</a:t>
            </a:r>
            <a:r>
              <a:rPr lang="en-US" sz="2400" dirty="0">
                <a:solidFill>
                  <a:schemeClr val="tx1"/>
                </a:solidFill>
                <a:latin typeface="Calibri" pitchFamily="34" charset="0"/>
                <a:ea typeface="Calibri" pitchFamily="34" charset="-122"/>
                <a:cs typeface="Calibri" pitchFamily="34" charset="-120"/>
              </a:rPr>
              <a:t> — Pro-Grade 599, 586, 588</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Fabric</a:t>
            </a:r>
            <a:r>
              <a:rPr lang="en-US" sz="2400" dirty="0">
                <a:solidFill>
                  <a:schemeClr val="tx1"/>
                </a:solidFill>
                <a:latin typeface="Calibri" pitchFamily="34" charset="0"/>
                <a:ea typeface="Calibri" pitchFamily="34" charset="-122"/>
                <a:cs typeface="Calibri" pitchFamily="34" charset="-120"/>
              </a:rPr>
              <a:t> — Henry 195/196 Polyester</a:t>
            </a:r>
            <a:endParaRPr lang="en-US" sz="2400" dirty="0"/>
          </a:p>
        </p:txBody>
      </p:sp>
      <p:pic>
        <p:nvPicPr>
          <p:cNvPr id="5" name="Photo" descr="Photo">    </p:cNvPr>
          <p:cNvPicPr>
            <a:picLocks noChangeAspect="1"/>
          </p:cNvPicPr>
          <p:nvPr/>
        </p:nvPicPr>
        <p:blipFill>
          <a:blip r:embed="rId1"/>
          <a:stretch>
            <a:fillRect/>
          </a:stretch>
        </p:blipFill>
        <p:spPr>
          <a:xfrm>
            <a:off x="6217920" y="1645100"/>
            <a:ext cx="5425135" cy="434504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197 Asphalt Emulsion</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Cold-applied coating for asphalt roofs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Keeps water out and smooths rough spots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Adds life to the old roof</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Low odor. Meets VOC rules everywhere.</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Must be topcoated</a:t>
            </a:r>
            <a:r>
              <a:rPr lang="en-US" sz="2200" dirty="0">
                <a:solidFill>
                  <a:schemeClr val="tx1"/>
                </a:solidFill>
                <a:latin typeface="Calibri" pitchFamily="34" charset="0"/>
                <a:ea typeface="Calibri" pitchFamily="34" charset="-122"/>
                <a:cs typeface="Calibri" pitchFamily="34" charset="-120"/>
              </a:rPr>
              <a:t> — with acrylic or aluminum</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Black</a:t>
            </a:r>
            <a:r>
              <a:rPr lang="en-US" sz="2200" dirty="0">
                <a:solidFill>
                  <a:schemeClr val="tx1"/>
                </a:solidFill>
                <a:latin typeface="Calibri" pitchFamily="34" charset="0"/>
                <a:ea typeface="Calibri" pitchFamily="34" charset="-122"/>
                <a:cs typeface="Calibri" pitchFamily="34" charset="-120"/>
              </a:rPr>
              <a:t> — 5-gal, 55-gal, 275-gal tote, bulk</a:t>
            </a:r>
            <a:endParaRPr lang="en-US" sz="2200" dirty="0"/>
          </a:p>
        </p:txBody>
      </p:sp>
      <p:pic>
        <p:nvPicPr>
          <p:cNvPr id="5" name="Photo" descr="Photo">    </p:cNvPr>
          <p:cNvPicPr>
            <a:picLocks noChangeAspect="1"/>
          </p:cNvPicPr>
          <p:nvPr/>
        </p:nvPicPr>
        <p:blipFill>
          <a:blip r:embed="rId1"/>
          <a:stretch>
            <a:fillRect/>
          </a:stretch>
        </p:blipFill>
        <p:spPr>
          <a:xfrm>
            <a:off x="7147273" y="1463040"/>
            <a:ext cx="3566428"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Emulsion Basecoat &amp; Topcoat Options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Pick the topcoat that fits the job.</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505 Basecoat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Water-based basecoat. Low fumes.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BUR, mod-bit, metal, single-ply, and asphalt emulsion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Blocks asphalt stains from bleeding through</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Strong ponding water resistance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Sticks well to a clean, prepped roof</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Beige</a:t>
            </a:r>
            <a:r>
              <a:rPr lang="en-US" sz="2400" dirty="0">
                <a:solidFill>
                  <a:schemeClr val="tx1"/>
                </a:solidFill>
                <a:latin typeface="Calibri" pitchFamily="34" charset="0"/>
                <a:ea typeface="Calibri" pitchFamily="34" charset="-122"/>
                <a:cs typeface="Calibri" pitchFamily="34" charset="-120"/>
              </a:rPr>
              <a:t> — 5-gal, 55-gal</a:t>
            </a:r>
            <a:endParaRPr lang="en-US" sz="2400" dirty="0"/>
          </a:p>
        </p:txBody>
      </p:sp>
      <p:pic>
        <p:nvPicPr>
          <p:cNvPr id="5" name="Photo" descr="Photo">    </p:cNvPr>
          <p:cNvPicPr>
            <a:picLocks noChangeAspect="1"/>
          </p:cNvPicPr>
          <p:nvPr/>
        </p:nvPicPr>
        <p:blipFill>
          <a:blip r:embed="rId1"/>
          <a:stretch>
            <a:fillRect/>
          </a:stretch>
        </p:blipFill>
        <p:spPr>
          <a:xfrm>
            <a:off x="6217920" y="2631324"/>
            <a:ext cx="5425135" cy="237259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510 Topcoat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100% acrylic topcoat</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For spray foam, single-ply, metal, and asphalt</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The go-to acrylic</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Does NOT block stains</a:t>
            </a:r>
            <a:r>
              <a:rPr lang="en-US" sz="2200" dirty="0">
                <a:solidFill>
                  <a:schemeClr val="tx1"/>
                </a:solidFill>
                <a:latin typeface="Calibri" pitchFamily="34" charset="0"/>
                <a:ea typeface="Calibri" pitchFamily="34" charset="-122"/>
                <a:cs typeface="Calibri" pitchFamily="34" charset="-120"/>
              </a:rPr>
              <a:t> — use a basecoat over asphalt</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Stays flexible in colder climates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Beats ASTM D6083</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White, sand, light and dark gray, custom — 5-gal, 55-gal</a:t>
            </a:r>
            <a:endParaRPr lang="en-US" sz="2200" dirty="0"/>
          </a:p>
        </p:txBody>
      </p:sp>
      <p:pic>
        <p:nvPicPr>
          <p:cNvPr id="5" name="Photo" descr="Photo">    </p:cNvPr>
          <p:cNvPicPr>
            <a:picLocks noChangeAspect="1"/>
          </p:cNvPicPr>
          <p:nvPr/>
        </p:nvPicPr>
        <p:blipFill>
          <a:blip r:embed="rId1"/>
          <a:stretch>
            <a:fillRect/>
          </a:stretch>
        </p:blipFill>
        <p:spPr>
          <a:xfrm>
            <a:off x="6217920" y="2631324"/>
            <a:ext cx="5425135" cy="237259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605 Fast-Set Basecoat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Sets fast</a:t>
            </a:r>
            <a:r>
              <a:rPr lang="en-US" sz="2400" dirty="0">
                <a:solidFill>
                  <a:schemeClr val="tx1"/>
                </a:solidFill>
                <a:latin typeface="Calibri" pitchFamily="34" charset="0"/>
                <a:ea typeface="Calibri" pitchFamily="34" charset="-122"/>
                <a:cs typeface="Calibri" pitchFamily="34" charset="-120"/>
              </a:rPr>
              <a:t> — resists early wash-off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Handles heavy dew and light rain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BUR, mod-bit, metal, single-ply, and asphalt emulsion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Water-based. Low fumes.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Beige</a:t>
            </a:r>
            <a:r>
              <a:rPr lang="en-US" sz="2400" dirty="0">
                <a:solidFill>
                  <a:schemeClr val="tx1"/>
                </a:solidFill>
                <a:latin typeface="Calibri" pitchFamily="34" charset="0"/>
                <a:ea typeface="Calibri" pitchFamily="34" charset="-122"/>
                <a:cs typeface="Calibri" pitchFamily="34" charset="-120"/>
              </a:rPr>
              <a:t> — 5-gal, 55-gal</a:t>
            </a:r>
            <a:endParaRPr lang="en-US" sz="2400" dirty="0"/>
          </a:p>
        </p:txBody>
      </p:sp>
      <p:pic>
        <p:nvPicPr>
          <p:cNvPr id="5" name="Photo" descr="Photo">    </p:cNvPr>
          <p:cNvPicPr>
            <a:picLocks noChangeAspect="1"/>
          </p:cNvPicPr>
          <p:nvPr/>
        </p:nvPicPr>
        <p:blipFill>
          <a:blip r:embed="rId1"/>
          <a:stretch>
            <a:fillRect/>
          </a:stretch>
        </p:blipFill>
        <p:spPr>
          <a:xfrm>
            <a:off x="6217920" y="2631324"/>
            <a:ext cx="5425135" cy="237259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610 Fast-Set Topcoat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Sets fast</a:t>
            </a:r>
            <a:r>
              <a:rPr lang="en-US" sz="2400" dirty="0">
                <a:solidFill>
                  <a:schemeClr val="tx1"/>
                </a:solidFill>
                <a:latin typeface="Calibri" pitchFamily="34" charset="0"/>
                <a:ea typeface="Calibri" pitchFamily="34" charset="-122"/>
                <a:cs typeface="Calibri" pitchFamily="34" charset="-120"/>
              </a:rPr>
              <a:t> — resists early wash-off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Handles heavy dew and light rain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100% acrylic</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spray foam, single-ply, metal, and asphalt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White, sand, light and dark gray, custom — 5-gal, 55-gal</a:t>
            </a:r>
            <a:endParaRPr lang="en-US" sz="2400" dirty="0"/>
          </a:p>
        </p:txBody>
      </p:sp>
      <p:pic>
        <p:nvPicPr>
          <p:cNvPr id="5" name="Photo" descr="Photo">    </p:cNvPr>
          <p:cNvPicPr>
            <a:picLocks noChangeAspect="1"/>
          </p:cNvPicPr>
          <p:nvPr/>
        </p:nvPicPr>
        <p:blipFill>
          <a:blip r:embed="rId1"/>
          <a:stretch>
            <a:fillRect/>
          </a:stretch>
        </p:blipFill>
        <p:spPr>
          <a:xfrm>
            <a:off x="6217920" y="2631324"/>
            <a:ext cx="5425135" cy="237259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550 High Tensile Topcoat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Tough like urethane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Best against foot traffic and abuse</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spray foam, single-ply, metal, and asphalt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Beats ASTM D6083</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White, sand, light and dark gray</a:t>
            </a:r>
            <a:r>
              <a:rPr lang="en-US" sz="2400" dirty="0">
                <a:solidFill>
                  <a:schemeClr val="tx1"/>
                </a:solidFill>
                <a:latin typeface="Calibri" pitchFamily="34" charset="0"/>
                <a:ea typeface="Calibri" pitchFamily="34" charset="-122"/>
                <a:cs typeface="Calibri" pitchFamily="34" charset="-120"/>
              </a:rPr>
              <a:t> — 5-gal, 55-gal</a:t>
            </a:r>
            <a:endParaRPr lang="en-US" sz="2400" dirty="0"/>
          </a:p>
        </p:txBody>
      </p:sp>
      <p:pic>
        <p:nvPicPr>
          <p:cNvPr id="5" name="Photo" descr="Photo">    </p:cNvPr>
          <p:cNvPicPr>
            <a:picLocks noChangeAspect="1"/>
          </p:cNvPicPr>
          <p:nvPr/>
        </p:nvPicPr>
        <p:blipFill>
          <a:blip r:embed="rId1"/>
          <a:stretch>
            <a:fillRect/>
          </a:stretch>
        </p:blipFill>
        <p:spPr>
          <a:xfrm>
            <a:off x="6217920" y="2631324"/>
            <a:ext cx="5425135" cy="237259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400 Coating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Multi-purpose topcoat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Blocks asphalt stains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asphalt, single-ply, and metal</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Beats key ASTM D6083 tests</a:t>
            </a:r>
            <a:r>
              <a:rPr lang="en-US" sz="2400" dirty="0">
                <a:solidFill>
                  <a:schemeClr val="tx1"/>
                </a:solidFill>
                <a:latin typeface="Calibri" pitchFamily="34" charset="0"/>
                <a:ea typeface="Calibri" pitchFamily="34" charset="-122"/>
                <a:cs typeface="Calibri" pitchFamily="34" charset="-120"/>
              </a:rPr>
              <a:t> — strength, stretch, wet adhesion, weathering</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White, sand, light and dark gray</a:t>
            </a:r>
            <a:r>
              <a:rPr lang="en-US" sz="2400" dirty="0">
                <a:solidFill>
                  <a:schemeClr val="tx1"/>
                </a:solidFill>
                <a:latin typeface="Calibri" pitchFamily="34" charset="0"/>
                <a:ea typeface="Calibri" pitchFamily="34" charset="-122"/>
                <a:cs typeface="Calibri" pitchFamily="34" charset="-120"/>
              </a:rPr>
              <a:t> — 5-gal, 55-gal</a:t>
            </a:r>
            <a:endParaRPr lang="en-US" sz="2400" dirty="0"/>
          </a:p>
        </p:txBody>
      </p:sp>
      <p:pic>
        <p:nvPicPr>
          <p:cNvPr id="5" name="Photo" descr="Photo">    </p:cNvPr>
          <p:cNvPicPr>
            <a:picLocks noChangeAspect="1"/>
          </p:cNvPicPr>
          <p:nvPr/>
        </p:nvPicPr>
        <p:blipFill>
          <a:blip r:embed="rId1"/>
          <a:stretch>
            <a:fillRect/>
          </a:stretch>
        </p:blipFill>
        <p:spPr>
          <a:xfrm>
            <a:off x="6217920" y="2631324"/>
            <a:ext cx="5425135" cy="237259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588 Aluminum Roof Coating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Water-based, fibered aluminum coating</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Low fumes</a:t>
            </a:r>
            <a:r>
              <a:rPr lang="en-US" sz="2400" dirty="0">
                <a:solidFill>
                  <a:schemeClr val="tx1"/>
                </a:solidFill>
                <a:latin typeface="Calibri" pitchFamily="34" charset="0"/>
                <a:ea typeface="Calibri" pitchFamily="34" charset="-122"/>
                <a:cs typeface="Calibri" pitchFamily="34" charset="-120"/>
              </a:rPr>
              <a:t> — made for Southern California rules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Aluminum flakes reflect the sun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UL, CRRC, and Energy Star rated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Silver</a:t>
            </a:r>
            <a:r>
              <a:rPr lang="en-US" sz="2400" dirty="0">
                <a:solidFill>
                  <a:schemeClr val="tx1"/>
                </a:solidFill>
                <a:latin typeface="Calibri" pitchFamily="34" charset="0"/>
                <a:ea typeface="Calibri" pitchFamily="34" charset="-122"/>
                <a:cs typeface="Calibri" pitchFamily="34" charset="-120"/>
              </a:rPr>
              <a:t> — 5-gal, 50-gal</a:t>
            </a:r>
            <a:endParaRPr lang="en-US" sz="2400" dirty="0"/>
          </a:p>
        </p:txBody>
      </p:sp>
      <p:pic>
        <p:nvPicPr>
          <p:cNvPr id="5" name="Photo" descr="Photo">    </p:cNvPr>
          <p:cNvPicPr>
            <a:picLocks noChangeAspect="1"/>
          </p:cNvPicPr>
          <p:nvPr/>
        </p:nvPicPr>
        <p:blipFill>
          <a:blip r:embed="rId1"/>
          <a:stretch>
            <a:fillRect/>
          </a:stretch>
        </p:blipFill>
        <p:spPr>
          <a:xfrm>
            <a:off x="7853770" y="1463040"/>
            <a:ext cx="2153435"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586 Aluminum Roof Coating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Fire-rated, fibered aluminum coating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smooth BUR, mod-bit, aged metal, and new emulsion</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Solvent-based. One coat.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UL, FM, CRRC, Miami-Dade, and Energy Star rated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Silver</a:t>
            </a:r>
            <a:r>
              <a:rPr lang="en-US" sz="2400" dirty="0">
                <a:solidFill>
                  <a:schemeClr val="tx1"/>
                </a:solidFill>
                <a:latin typeface="Calibri" pitchFamily="34" charset="0"/>
                <a:ea typeface="Calibri" pitchFamily="34" charset="-122"/>
                <a:cs typeface="Calibri" pitchFamily="34" charset="-120"/>
              </a:rPr>
              <a:t> — 5-gal, 50-gal</a:t>
            </a:r>
            <a:endParaRPr lang="en-US" sz="2400" dirty="0"/>
          </a:p>
        </p:txBody>
      </p:sp>
      <p:pic>
        <p:nvPicPr>
          <p:cNvPr id="5" name="Photo" descr="Photo">    </p:cNvPr>
          <p:cNvPicPr>
            <a:picLocks noChangeAspect="1"/>
          </p:cNvPicPr>
          <p:nvPr/>
        </p:nvPicPr>
        <p:blipFill>
          <a:blip r:embed="rId1"/>
          <a:stretch>
            <a:fillRect/>
          </a:stretch>
        </p:blipFill>
        <p:spPr>
          <a:xfrm>
            <a:off x="7920878" y="1463040"/>
            <a:ext cx="2019220"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599 Rubberized Aluminum Coating</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Aluminum with SBS rubber</a:t>
            </a:r>
            <a:r>
              <a:rPr lang="en-US" sz="2400" dirty="0">
                <a:solidFill>
                  <a:schemeClr val="tx1"/>
                </a:solidFill>
                <a:latin typeface="Calibri" pitchFamily="34" charset="0"/>
                <a:ea typeface="Calibri" pitchFamily="34" charset="-122"/>
                <a:cs typeface="Calibri" pitchFamily="34" charset="-120"/>
              </a:rPr>
              <a:t> — strong and stretchy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Holds up better to ponding water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Solvent-based. One coat.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BUR, mod-bit, and metal roofs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CRRC, Miami-Dade, Energy Star (low and steep slope)</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Silver</a:t>
            </a:r>
            <a:r>
              <a:rPr lang="en-US" sz="2400" dirty="0">
                <a:solidFill>
                  <a:schemeClr val="tx1"/>
                </a:solidFill>
                <a:latin typeface="Calibri" pitchFamily="34" charset="0"/>
                <a:ea typeface="Calibri" pitchFamily="34" charset="-122"/>
                <a:cs typeface="Calibri" pitchFamily="34" charset="-120"/>
              </a:rPr>
              <a:t> — 5-gal, 50-gal</a:t>
            </a:r>
            <a:endParaRPr lang="en-US" sz="2400" dirty="0"/>
          </a:p>
        </p:txBody>
      </p:sp>
      <p:pic>
        <p:nvPicPr>
          <p:cNvPr id="5" name="Photo" descr="Photo">    </p:cNvPr>
          <p:cNvPicPr>
            <a:picLocks noChangeAspect="1"/>
          </p:cNvPicPr>
          <p:nvPr/>
        </p:nvPicPr>
        <p:blipFill>
          <a:blip r:embed="rId1"/>
          <a:stretch>
            <a:fillRect/>
          </a:stretch>
        </p:blipFill>
        <p:spPr>
          <a:xfrm>
            <a:off x="7535028" y="1463040"/>
            <a:ext cx="2790918"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Emulsion Accessories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Fabric makes it one solid layer.</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195 / 196 Polyester Fabric</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195</a:t>
            </a:r>
            <a:r>
              <a:rPr lang="en-US" sz="2400" dirty="0">
                <a:solidFill>
                  <a:schemeClr val="tx1"/>
                </a:solidFill>
                <a:latin typeface="Calibri" pitchFamily="34" charset="0"/>
                <a:ea typeface="Calibri" pitchFamily="34" charset="-122"/>
                <a:cs typeface="Calibri" pitchFamily="34" charset="-120"/>
              </a:rPr>
              <a:t> — soft. Bends around odd shapes.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196</a:t>
            </a:r>
            <a:r>
              <a:rPr lang="en-US" sz="2400" dirty="0">
                <a:solidFill>
                  <a:schemeClr val="tx1"/>
                </a:solidFill>
                <a:latin typeface="Calibri" pitchFamily="34" charset="0"/>
                <a:ea typeface="Calibri" pitchFamily="34" charset="-122"/>
                <a:cs typeface="Calibri" pitchFamily="34" charset="-120"/>
              </a:rPr>
              <a:t> — firmer.</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Both</a:t>
            </a:r>
            <a:r>
              <a:rPr lang="en-US" sz="2400" dirty="0">
                <a:solidFill>
                  <a:schemeClr val="tx1"/>
                </a:solidFill>
                <a:latin typeface="Calibri" pitchFamily="34" charset="0"/>
                <a:ea typeface="Calibri" pitchFamily="34" charset="-122"/>
                <a:cs typeface="Calibri" pitchFamily="34" charset="-120"/>
              </a:rPr>
              <a:t> — strong stitched polyester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drains, seams, and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195 rolls</a:t>
            </a:r>
            <a:r>
              <a:rPr lang="en-US" sz="2400" dirty="0">
                <a:solidFill>
                  <a:schemeClr val="tx1"/>
                </a:solidFill>
                <a:latin typeface="Calibri" pitchFamily="34" charset="0"/>
                <a:ea typeface="Calibri" pitchFamily="34" charset="-122"/>
                <a:cs typeface="Calibri" pitchFamily="34" charset="-120"/>
              </a:rPr>
              <a:t> — 40" × 324', 12" × 300', 6" × 300'</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196 rolls</a:t>
            </a:r>
            <a:r>
              <a:rPr lang="en-US" sz="2400" dirty="0">
                <a:solidFill>
                  <a:schemeClr val="tx1"/>
                </a:solidFill>
                <a:latin typeface="Calibri" pitchFamily="34" charset="0"/>
                <a:ea typeface="Calibri" pitchFamily="34" charset="-122"/>
                <a:cs typeface="Calibri" pitchFamily="34" charset="-120"/>
              </a:rPr>
              <a:t> — 40" × 324', 4" × 300'</a:t>
            </a:r>
            <a:endParaRPr lang="en-US" sz="2400" dirty="0"/>
          </a:p>
        </p:txBody>
      </p:sp>
      <p:pic>
        <p:nvPicPr>
          <p:cNvPr id="5" name="Photo" descr="Photo">    </p:cNvPr>
          <p:cNvPicPr>
            <a:picLocks noChangeAspect="1"/>
          </p:cNvPicPr>
          <p:nvPr/>
        </p:nvPicPr>
        <p:blipFill>
          <a:blip r:embed="rId1"/>
          <a:stretch>
            <a:fillRect/>
          </a:stretch>
        </p:blipFill>
        <p:spPr>
          <a:xfrm>
            <a:off x="8449444" y="1463040"/>
            <a:ext cx="962086"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Project Startup</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 clean, dry roof is half the job.</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Prep Step 1: Clean the Roof</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Mod-bit and BUR (granulated or smooth)</a:t>
            </a:r>
            <a:r>
              <a:rPr lang="en-US" sz="2400" dirty="0">
                <a:solidFill>
                  <a:schemeClr val="tx1"/>
                </a:solidFill>
                <a:latin typeface="Calibri" pitchFamily="34" charset="0"/>
                <a:ea typeface="Calibri" pitchFamily="34" charset="-122"/>
                <a:cs typeface="Calibri" pitchFamily="34" charset="-120"/>
              </a:rPr>
              <a:t> — power broom, dry vac, air lance (195 CFM)</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Rule</a:t>
            </a:r>
            <a:r>
              <a:rPr lang="en-US" sz="2400" dirty="0">
                <a:solidFill>
                  <a:schemeClr val="tx1"/>
                </a:solidFill>
                <a:latin typeface="Calibri" pitchFamily="34" charset="0"/>
                <a:ea typeface="Calibri" pitchFamily="34" charset="-122"/>
                <a:cs typeface="Calibri" pitchFamily="34" charset="-120"/>
              </a:rPr>
              <a:t> — all dirt gone and the roof DRY before any coating</a:t>
            </a:r>
            <a:endParaRPr lang="en-US" sz="2400" dirty="0"/>
          </a:p>
        </p:txBody>
      </p:sp>
      <p:pic>
        <p:nvPicPr>
          <p:cNvPr id="5" name="Photo" descr="Photo">    </p:cNvPr>
          <p:cNvPicPr>
            <a:picLocks noChangeAspect="1"/>
          </p:cNvPicPr>
          <p:nvPr/>
        </p:nvPicPr>
        <p:blipFill>
          <a:blip r:embed="rId1"/>
          <a:stretch>
            <a:fillRect/>
          </a:stretch>
        </p:blipFill>
        <p:spPr>
          <a:xfrm>
            <a:off x="6668716" y="1463040"/>
            <a:ext cx="4523543"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Sweat the Details</a:t>
            </a:r>
            <a:endParaRPr lang="en-US" sz="3000" dirty="0"/>
          </a:p>
        </p:txBody>
      </p:sp>
      <p:sp>
        <p:nvSpPr>
          <p:cNvPr id="4" name="Big number"/>
          <p:cNvSpPr txBox="1"/>
          <p:nvPr/>
        </p:nvSpPr>
        <p:spPr>
          <a:xfrm>
            <a:off x="548640" y="1371600"/>
            <a:ext cx="5303520" cy="960120"/>
          </a:xfrm>
          <a:prstGeom prst="rect">
            <a:avLst/>
          </a:prstGeom>
          <a:noFill/>
          <a:ln/>
        </p:spPr>
        <p:txBody>
          <a:bodyPr wrap="square" lIns="0" tIns="0" rIns="0" bIns="0" rtlCol="0" anchor="ctr"/>
          <a:lstStyle/>
          <a:p>
            <a:pPr indent="0" marL="0">
              <a:buNone/>
            </a:pPr>
            <a:r>
              <a:rPr lang="en-US" sz="6600" b="1" dirty="0">
                <a:solidFill>
                  <a:schemeClr val="accent1"/>
                </a:solidFill>
                <a:latin typeface="Arial" pitchFamily="34" charset="0"/>
                <a:ea typeface="Arial" pitchFamily="34" charset="-122"/>
                <a:cs typeface="Arial" pitchFamily="34" charset="-120"/>
              </a:rPr>
              <a:t>90%</a:t>
            </a:r>
            <a:endParaRPr lang="en-US" sz="6600" dirty="0"/>
          </a:p>
        </p:txBody>
      </p:sp>
      <p:sp>
        <p:nvSpPr>
          <p:cNvPr id="5" name="Big number label"/>
          <p:cNvSpPr txBox="1"/>
          <p:nvPr/>
        </p:nvSpPr>
        <p:spPr>
          <a:xfrm>
            <a:off x="548640" y="2331720"/>
            <a:ext cx="5303520" cy="411480"/>
          </a:xfrm>
          <a:prstGeom prst="rect">
            <a:avLst/>
          </a:prstGeom>
          <a:noFill/>
          <a:ln/>
        </p:spPr>
        <p:txBody>
          <a:bodyPr wrap="square" lIns="0" tIns="0" rIns="0" bIns="0" rtlCol="0" anchor="ctr"/>
          <a:lstStyle/>
          <a:p>
            <a:pPr indent="0" marL="0">
              <a:buNone/>
            </a:pPr>
            <a:r>
              <a:rPr lang="en-US" sz="2000" b="1" dirty="0">
                <a:solidFill>
                  <a:schemeClr val="tx2"/>
                </a:solidFill>
              </a:rPr>
              <a:t>of roof leaks start at these spots</a:t>
            </a:r>
            <a:endParaRPr lang="en-US" sz="2000" dirty="0"/>
          </a:p>
        </p:txBody>
      </p:sp>
      <p:sp>
        <p:nvSpPr>
          <p:cNvPr id="6" name="Body text"/>
          <p:cNvSpPr txBox="1"/>
          <p:nvPr/>
        </p:nvSpPr>
        <p:spPr>
          <a:xfrm>
            <a:off x="548640" y="2971800"/>
            <a:ext cx="5303520" cy="320040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Seams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Penetrations</a:t>
            </a:r>
            <a:r>
              <a:rPr lang="en-US" sz="2200" dirty="0">
                <a:solidFill>
                  <a:schemeClr val="tx1"/>
                </a:solidFill>
                <a:latin typeface="Calibri" pitchFamily="34" charset="0"/>
                <a:ea typeface="Calibri" pitchFamily="34" charset="-122"/>
                <a:cs typeface="Calibri" pitchFamily="34" charset="-120"/>
              </a:rPr>
              <a:t> — pipes, vents, drains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Curbs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Edges (terminations)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Transitions</a:t>
            </a:r>
            <a:r>
              <a:rPr lang="en-US" sz="2200" dirty="0">
                <a:solidFill>
                  <a:schemeClr val="tx1"/>
                </a:solidFill>
                <a:latin typeface="Calibri" pitchFamily="34" charset="0"/>
                <a:ea typeface="Calibri" pitchFamily="34" charset="-122"/>
                <a:cs typeface="Calibri" pitchFamily="34" charset="-120"/>
              </a:rPr>
              <a:t> — where the roof changes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Parapet walls</a:t>
            </a:r>
            <a:endParaRPr lang="en-US" sz="2200" dirty="0"/>
          </a:p>
        </p:txBody>
      </p:sp>
      <p:pic>
        <p:nvPicPr>
          <p:cNvPr id="7" name="Photo" descr="Photo">    </p:cNvPr>
          <p:cNvPicPr>
            <a:picLocks noChangeAspect="1"/>
          </p:cNvPicPr>
          <p:nvPr/>
        </p:nvPicPr>
        <p:blipFill>
          <a:blip r:embed="rId1"/>
          <a:stretch>
            <a:fillRect/>
          </a:stretch>
        </p:blipFill>
        <p:spPr>
          <a:xfrm>
            <a:off x="6217920" y="2622282"/>
            <a:ext cx="5425135" cy="239067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Which Product for Which Detail?</a:t>
            </a:r>
            <a:endParaRPr lang="en-US" sz="3000" dirty="0"/>
          </a:p>
        </p:txBody>
      </p:sp>
      <p:graphicFrame>
        <p:nvGraphicFramePr>
          <p:cNvPr id="200"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045526"/>
                <a:gridCol w="8048889"/>
              </a:tblGrid>
              <a:tr h="0">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Detail</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2000" b="1" dirty="0">
                          <a:solidFill>
                            <a:schemeClr val="bg1"/>
                          </a:solidFill>
                          <a:latin typeface="Calibri" pitchFamily="34" charset="0"/>
                          <a:ea typeface="Calibri" pitchFamily="34" charset="-122"/>
                          <a:cs typeface="Calibri" pitchFamily="34" charset="-120"/>
                        </a:rPr>
                        <a:t>Product → How</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Seams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197 + 195 fabric → brush, roll, spray</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(Skip if doing a full fabric system)</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Penetrations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197 + 195 fabric → brush</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289 Sealant → brush</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2000" b="1" dirty="0">
                          <a:solidFill>
                            <a:schemeClr val="tx2"/>
                          </a:solidFill>
                          <a:latin typeface="Calibri" pitchFamily="34" charset="0"/>
                          <a:ea typeface="Calibri" pitchFamily="34" charset="-122"/>
                          <a:cs typeface="Calibri" pitchFamily="34" charset="-120"/>
                        </a:rPr>
                        <a:t>Fasteners</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2000" dirty="0">
                          <a:solidFill>
                            <a:schemeClr val="tx1"/>
                          </a:solidFill>
                          <a:latin typeface="Calibri" pitchFamily="34" charset="0"/>
                          <a:ea typeface="Calibri" pitchFamily="34" charset="-122"/>
                          <a:cs typeface="Calibri" pitchFamily="34" charset="-120"/>
                        </a:rPr>
                        <a:t>295 Seam Sealer → brush, bulk gun</a:t>
                      </a:r>
                      <a:endParaRPr lang="en-US" sz="2000" dirty="0">
                        <a:latin typeface="Calibri" charset="0"/>
                        <a:ea typeface="Calibri" charset="0"/>
                        <a:cs typeface="Calibri" charset="0"/>
                      </a:endParaRPr>
                    </a:p>
                    <a:p>
                      <a:pPr indent="0" marL="0">
                        <a:buNone/>
                      </a:pPr>
                      <a:r>
                        <a:rPr lang="en-US" sz="2000" dirty="0">
                          <a:solidFill>
                            <a:schemeClr val="tx1"/>
                          </a:solidFill>
                          <a:latin typeface="Calibri" pitchFamily="34" charset="0"/>
                          <a:ea typeface="Calibri" pitchFamily="34" charset="-122"/>
                          <a:cs typeface="Calibri" pitchFamily="34" charset="-120"/>
                        </a:rPr>
                        <a:t>289 Sealant → brush</a:t>
                      </a:r>
                      <a:endParaRPr lang="en-US" sz="20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Emulsion Application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Measure the squares. Hit the rate.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Measure the Roof in Squares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Mark the roof in 10' × 10' boxes</a:t>
            </a:r>
            <a:r>
              <a:rPr lang="en-US" sz="2400" dirty="0">
                <a:solidFill>
                  <a:schemeClr val="tx1"/>
                </a:solidFill>
                <a:latin typeface="Calibri" pitchFamily="34" charset="0"/>
                <a:ea typeface="Calibri" pitchFamily="34" charset="-122"/>
                <a:cs typeface="Calibri" pitchFamily="34" charset="-120"/>
              </a:rPr>
              <a:t> — 1 box = 1 square = 100 sq ft</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Example</a:t>
            </a:r>
            <a:r>
              <a:rPr lang="en-US" sz="2400" dirty="0">
                <a:solidFill>
                  <a:schemeClr val="tx1"/>
                </a:solidFill>
                <a:latin typeface="Calibri" pitchFamily="34" charset="0"/>
                <a:ea typeface="Calibri" pitchFamily="34" charset="-122"/>
                <a:cs typeface="Calibri" pitchFamily="34" charset="-120"/>
              </a:rPr>
              <a:t> — spec says 5 gal per square → one 5-gal pail of Pro-Grade 197 covers 1 squares (smooth roof)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Rough roofs (granulated mod-bit) soak up more — use more to hit the right dry thickness</a:t>
            </a:r>
            <a:endParaRPr lang="en-US" sz="2400" dirty="0"/>
          </a:p>
        </p:txBody>
      </p:sp>
      <p:pic>
        <p:nvPicPr>
          <p:cNvPr id="5" name="Photo" descr="Photo">    </p:cNvPr>
          <p:cNvPicPr>
            <a:picLocks noChangeAspect="1"/>
          </p:cNvPicPr>
          <p:nvPr/>
        </p:nvPicPr>
        <p:blipFill>
          <a:blip r:embed="rId1"/>
          <a:stretch>
            <a:fillRect/>
          </a:stretch>
        </p:blipFill>
        <p:spPr>
          <a:xfrm>
            <a:off x="6217920" y="3233514"/>
            <a:ext cx="5425135" cy="116821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Broom, Squeegee, Roll</a:t>
            </a:r>
            <a:endParaRPr lang="en-US" sz="3000" dirty="0"/>
          </a:p>
        </p:txBody>
      </p:sp>
      <p:pic>
        <p:nvPicPr>
          <p:cNvPr id="4" name="Photo" descr="Photo">    </p:cNvPr>
          <p:cNvPicPr>
            <a:picLocks noChangeAspect="1"/>
          </p:cNvPicPr>
          <p:nvPr/>
        </p:nvPicPr>
        <p:blipFill>
          <a:blip r:embed="rId1"/>
          <a:stretch>
            <a:fillRect/>
          </a:stretch>
        </p:blipFill>
        <p:spPr>
          <a:xfrm>
            <a:off x="548640" y="1571521"/>
            <a:ext cx="11094415" cy="389783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Spread the emulsion with a broom, squeegee, or roller.</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Spray and Broom In</a:t>
            </a:r>
            <a:endParaRPr lang="en-US" sz="3000" dirty="0"/>
          </a:p>
        </p:txBody>
      </p:sp>
      <p:pic>
        <p:nvPicPr>
          <p:cNvPr id="4" name="Photo" descr="Photo">    </p:cNvPr>
          <p:cNvPicPr>
            <a:picLocks noChangeAspect="1"/>
          </p:cNvPicPr>
          <p:nvPr/>
        </p:nvPicPr>
        <p:blipFill>
          <a:blip r:embed="rId1"/>
          <a:stretch>
            <a:fillRect/>
          </a:stretch>
        </p:blipFill>
        <p:spPr>
          <a:xfrm>
            <a:off x="548640" y="1553030"/>
            <a:ext cx="11094415" cy="3934819"/>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Spray it on, then broom it into the surface.</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203</a:t>
            </a:fld>
            <a:endParaRPr 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Ways to Apply: Topcoat</a:t>
            </a:r>
            <a:endParaRPr lang="en-US" sz="3000" dirty="0"/>
          </a:p>
        </p:txBody>
      </p:sp>
      <p:pic>
        <p:nvPicPr>
          <p:cNvPr id="4" name="Photo" descr="Photo">    </p:cNvPr>
          <p:cNvPicPr>
            <a:picLocks noChangeAspect="1"/>
          </p:cNvPicPr>
          <p:nvPr/>
        </p:nvPicPr>
        <p:blipFill>
          <a:blip r:embed="rId1"/>
          <a:stretch>
            <a:fillRect/>
          </a:stretch>
        </p:blipFill>
        <p:spPr>
          <a:xfrm>
            <a:off x="548640" y="1793409"/>
            <a:ext cx="11094415" cy="3454061"/>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Then topcoat: roll, squeegee and back roll, or spray and back roll.</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EMULSION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Warranty Information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Do it right, and Henry stands behind it — up to 15 years.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Warranty Program</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Acrylic-emulsion systems</a:t>
            </a:r>
            <a:r>
              <a:rPr lang="en-US" sz="2400" dirty="0">
                <a:solidFill>
                  <a:schemeClr val="tx1"/>
                </a:solidFill>
                <a:latin typeface="Calibri" pitchFamily="34" charset="0"/>
                <a:ea typeface="Calibri" pitchFamily="34" charset="-122"/>
                <a:cs typeface="Calibri" pitchFamily="34" charset="-120"/>
              </a:rPr>
              <a:t> — up to 15 years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Aluminum-emulsion systems</a:t>
            </a:r>
            <a:r>
              <a:rPr lang="en-US" sz="2400" dirty="0">
                <a:solidFill>
                  <a:schemeClr val="tx1"/>
                </a:solidFill>
                <a:latin typeface="Calibri" pitchFamily="34" charset="0"/>
                <a:ea typeface="Calibri" pitchFamily="34" charset="-122"/>
                <a:cs typeface="Calibri" pitchFamily="34" charset="-120"/>
              </a:rPr>
              <a:t> — up to 12 years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Covers labor, workmanship, and materials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Can be transferred and renewed</a:t>
            </a:r>
            <a:endParaRPr lang="en-US" sz="2400" dirty="0"/>
          </a:p>
        </p:txBody>
      </p:sp>
      <p:pic>
        <p:nvPicPr>
          <p:cNvPr id="5" name="Photo" descr="Photo">    </p:cNvPr>
          <p:cNvPicPr>
            <a:picLocks noChangeAspect="1"/>
          </p:cNvPicPr>
          <p:nvPr/>
        </p:nvPicPr>
        <p:blipFill>
          <a:blip r:embed="rId1"/>
          <a:stretch>
            <a:fillRect/>
          </a:stretch>
        </p:blipFill>
        <p:spPr>
          <a:xfrm>
            <a:off x="6514811" y="1463040"/>
            <a:ext cx="4831354"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206</a:t>
            </a:fld>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Acrylic-Emulsion Warranty Options</a:t>
            </a:r>
            <a:endParaRPr lang="en-US" sz="3000" dirty="0"/>
          </a:p>
        </p:txBody>
      </p:sp>
      <p:pic>
        <p:nvPicPr>
          <p:cNvPr id="4" name="Photo" descr="Photo">    </p:cNvPr>
          <p:cNvPicPr>
            <a:picLocks noChangeAspect="1"/>
          </p:cNvPicPr>
          <p:nvPr/>
        </p:nvPicPr>
        <p:blipFill>
          <a:blip r:embed="rId1"/>
          <a:stretch>
            <a:fillRect/>
          </a:stretch>
        </p:blipFill>
        <p:spPr>
          <a:xfrm>
            <a:off x="1323261" y="1417320"/>
            <a:ext cx="9545174"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AcryShield Acrylic-Emulsion Application Guide</a:t>
            </a:r>
            <a:endParaRPr lang="en-US" sz="3000" dirty="0"/>
          </a:p>
        </p:txBody>
      </p:sp>
      <p:pic>
        <p:nvPicPr>
          <p:cNvPr id="4" name="Photo" descr="Photo">    </p:cNvPr>
          <p:cNvPicPr>
            <a:picLocks noChangeAspect="1"/>
          </p:cNvPicPr>
          <p:nvPr/>
        </p:nvPicPr>
        <p:blipFill>
          <a:blip r:embed="rId1"/>
          <a:stretch>
            <a:fillRect/>
          </a:stretch>
        </p:blipFill>
        <p:spPr>
          <a:xfrm>
            <a:off x="1294204" y="1417320"/>
            <a:ext cx="9603288"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Your step-by-step guide for this system. Keep it on the job.</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208</a:t>
            </a:fld>
            <a:endParaRPr 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Aluminum-Emulsion Warranty Options</a:t>
            </a:r>
            <a:endParaRPr lang="en-US" sz="3000" dirty="0"/>
          </a:p>
        </p:txBody>
      </p:sp>
      <p:pic>
        <p:nvPicPr>
          <p:cNvPr id="4" name="Photo" descr="Photo">    </p:cNvPr>
          <p:cNvPicPr>
            <a:picLocks noChangeAspect="1"/>
          </p:cNvPicPr>
          <p:nvPr/>
        </p:nvPicPr>
        <p:blipFill>
          <a:blip r:embed="rId1"/>
          <a:stretch>
            <a:fillRect/>
          </a:stretch>
        </p:blipFill>
        <p:spPr>
          <a:xfrm>
            <a:off x="1323261" y="1417320"/>
            <a:ext cx="9545174"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Pick the warranty length. The chart tells you how much coating and how many coats you need.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209</a:t>
            </a:fld>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EMULSION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Aluminum-Emulsion Application Guide</a:t>
            </a:r>
            <a:endParaRPr lang="en-US" sz="3000" dirty="0"/>
          </a:p>
        </p:txBody>
      </p:sp>
      <p:pic>
        <p:nvPicPr>
          <p:cNvPr id="4" name="Photo" descr="Photo">    </p:cNvPr>
          <p:cNvPicPr>
            <a:picLocks noChangeAspect="1"/>
          </p:cNvPicPr>
          <p:nvPr/>
        </p:nvPicPr>
        <p:blipFill>
          <a:blip r:embed="rId1"/>
          <a:stretch>
            <a:fillRect/>
          </a:stretch>
        </p:blipFill>
        <p:spPr>
          <a:xfrm>
            <a:off x="1301501" y="1417320"/>
            <a:ext cx="9588693"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Your step-by-step guide for this system. Keep it on the job.</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210</a:t>
            </a:fld>
            <a:endParaRPr 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REPAIR MASTICS</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What Roofs Can We Repair?</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Stop the leak today with the right mastic.</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211</a:t>
            </a:fld>
            <a:endParaRPr 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Asphalt Roofs</a:t>
            </a:r>
            <a:endParaRPr lang="en-US" sz="3000" dirty="0"/>
          </a:p>
        </p:txBody>
      </p:sp>
      <p:pic>
        <p:nvPicPr>
          <p:cNvPr id="4" name="Photo" descr="Photo">    </p:cNvPr>
          <p:cNvPicPr>
            <a:picLocks noChangeAspect="1"/>
          </p:cNvPicPr>
          <p:nvPr/>
        </p:nvPicPr>
        <p:blipFill>
          <a:blip r:embed="rId1"/>
          <a:stretch>
            <a:fillRect/>
          </a:stretch>
        </p:blipFill>
        <p:spPr>
          <a:xfrm>
            <a:off x="548640" y="1671371"/>
            <a:ext cx="11094415" cy="369813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Granulated or smooth mod-bit, and BUR (built-up roof).</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212</a:t>
            </a:fld>
            <a:endParaRPr lang="en-US"/>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REPAIR MASTICS</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Complete Line of Products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One system, one brand — saves you time and money.</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213</a:t>
            </a:fld>
            <a:endParaRPr 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REPAIR MASTICS</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Asphalt Mastics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The right cement for the weather you're in.</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Mastics &amp; Cements</a:t>
            </a:r>
            <a:endParaRPr lang="en-US" sz="3000" dirty="0"/>
          </a:p>
        </p:txBody>
      </p:sp>
      <p:pic>
        <p:nvPicPr>
          <p:cNvPr id="4" name="Photo" descr="Photo">    </p:cNvPr>
          <p:cNvPicPr>
            <a:picLocks noChangeAspect="1"/>
          </p:cNvPicPr>
          <p:nvPr/>
        </p:nvPicPr>
        <p:blipFill>
          <a:blip r:embed="rId1"/>
          <a:stretch>
            <a:fillRect/>
          </a:stretch>
        </p:blipFill>
        <p:spPr>
          <a:xfrm>
            <a:off x="1264791" y="1417320"/>
            <a:ext cx="9662113"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Our full lineup of roof mastics and cements.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215</a:t>
            </a:fld>
            <a:endParaRPr lang="en-US"/>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151 Plastic Cement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Basic roof cement for flat areas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 backup layer in good flashing details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Winter and summer grades</a:t>
            </a:r>
            <a:r>
              <a:rPr lang="en-US" sz="2400" dirty="0">
                <a:solidFill>
                  <a:schemeClr val="tx1"/>
                </a:solidFill>
                <a:latin typeface="Calibri" pitchFamily="34" charset="0"/>
                <a:ea typeface="Calibri" pitchFamily="34" charset="-122"/>
                <a:cs typeface="Calibri" pitchFamily="34" charset="-120"/>
              </a:rPr>
              <a:t> — 20°F to 120°F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Meets ASTM D4586. Miami-Dade approved.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Black</a:t>
            </a:r>
            <a:r>
              <a:rPr lang="en-US" sz="2400" dirty="0">
                <a:solidFill>
                  <a:schemeClr val="tx1"/>
                </a:solidFill>
                <a:latin typeface="Calibri" pitchFamily="34" charset="0"/>
                <a:ea typeface="Calibri" pitchFamily="34" charset="-122"/>
                <a:cs typeface="Calibri" pitchFamily="34" charset="-120"/>
              </a:rPr>
              <a:t> — 5-gal pail</a:t>
            </a:r>
            <a:endParaRPr lang="en-US" sz="2400" dirty="0"/>
          </a:p>
        </p:txBody>
      </p:sp>
      <p:pic>
        <p:nvPicPr>
          <p:cNvPr id="5" name="Photo" descr="Photo">    </p:cNvPr>
          <p:cNvPicPr>
            <a:picLocks noChangeAspect="1"/>
          </p:cNvPicPr>
          <p:nvPr/>
        </p:nvPicPr>
        <p:blipFill>
          <a:blip r:embed="rId1"/>
          <a:stretch>
            <a:fillRect/>
          </a:stretch>
        </p:blipFill>
        <p:spPr>
          <a:xfrm>
            <a:off x="6946932" y="1463040"/>
            <a:ext cx="3967111"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216</a:t>
            </a:fld>
            <a:endParaRPr lang="en-US"/>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155 Flashing Cement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Rubberized cement for walls and flat areas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Won't sag or slide</a:t>
            </a:r>
            <a:r>
              <a:rPr lang="en-US" sz="2400" dirty="0">
                <a:solidFill>
                  <a:schemeClr val="tx1"/>
                </a:solidFill>
                <a:latin typeface="Calibri" pitchFamily="34" charset="0"/>
                <a:ea typeface="Calibri" pitchFamily="34" charset="-122"/>
                <a:cs typeface="Calibri" pitchFamily="34" charset="-120"/>
              </a:rPr>
              <a:t> — even at 140°F roof temps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Winter and summer grades</a:t>
            </a:r>
            <a:r>
              <a:rPr lang="en-US" sz="2400" dirty="0">
                <a:solidFill>
                  <a:schemeClr val="tx1"/>
                </a:solidFill>
                <a:latin typeface="Calibri" pitchFamily="34" charset="0"/>
                <a:ea typeface="Calibri" pitchFamily="34" charset="-122"/>
                <a:cs typeface="Calibri" pitchFamily="34" charset="-120"/>
              </a:rPr>
              <a:t> — 20°F to 120°F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Meets ASTM D4586. Miami-Dade approved.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Black</a:t>
            </a:r>
            <a:r>
              <a:rPr lang="en-US" sz="2400" dirty="0">
                <a:solidFill>
                  <a:schemeClr val="tx1"/>
                </a:solidFill>
                <a:latin typeface="Calibri" pitchFamily="34" charset="0"/>
                <a:ea typeface="Calibri" pitchFamily="34" charset="-122"/>
                <a:cs typeface="Calibri" pitchFamily="34" charset="-120"/>
              </a:rPr>
              <a:t> — 5-gal pail</a:t>
            </a:r>
            <a:endParaRPr lang="en-US" sz="2400" dirty="0"/>
          </a:p>
        </p:txBody>
      </p:sp>
      <p:pic>
        <p:nvPicPr>
          <p:cNvPr id="5" name="Photo" descr="Photo">    </p:cNvPr>
          <p:cNvPicPr>
            <a:picLocks noChangeAspect="1"/>
          </p:cNvPicPr>
          <p:nvPr/>
        </p:nvPicPr>
        <p:blipFill>
          <a:blip r:embed="rId1"/>
          <a:stretch>
            <a:fillRect/>
          </a:stretch>
        </p:blipFill>
        <p:spPr>
          <a:xfrm>
            <a:off x="6957853" y="1463040"/>
            <a:ext cx="3945270" cy="470916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217</a:t>
            </a:fld>
            <a:endParaRPr lang="en-US"/>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161 All Weather Flashing Cement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Premium rubberized cement</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Apply in wet or dry weather</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Sets and repairs SBS mod-bit flashings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Winter and summer grades</a:t>
            </a:r>
            <a:r>
              <a:rPr lang="en-US" sz="2200" dirty="0">
                <a:solidFill>
                  <a:schemeClr val="tx1"/>
                </a:solidFill>
                <a:latin typeface="Calibri" pitchFamily="34" charset="0"/>
                <a:ea typeface="Calibri" pitchFamily="34" charset="-122"/>
                <a:cs typeface="Calibri" pitchFamily="34" charset="-120"/>
              </a:rPr>
              <a:t> — 20°F to 120°F</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Sticks 100% underwater (ASTM D3409)</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Meets ASTM D4586. Miami-Dade approved. Black — 5-gal.</a:t>
            </a:r>
            <a:endParaRPr lang="en-US" sz="2200" dirty="0"/>
          </a:p>
        </p:txBody>
      </p:sp>
      <p:pic>
        <p:nvPicPr>
          <p:cNvPr id="5" name="Photo" descr="Photo">    </p:cNvPr>
          <p:cNvPicPr>
            <a:picLocks noChangeAspect="1"/>
          </p:cNvPicPr>
          <p:nvPr/>
        </p:nvPicPr>
        <p:blipFill>
          <a:blip r:embed="rId1"/>
          <a:stretch>
            <a:fillRect/>
          </a:stretch>
        </p:blipFill>
        <p:spPr>
          <a:xfrm>
            <a:off x="6217920" y="2785036"/>
            <a:ext cx="5425135" cy="206516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218</a:t>
            </a:fld>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163 Emergency Leak Repair Sealant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Stops leaks right now</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Apply in wet or dry weather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Sticks even underwater</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Works from 0°F to 120°F</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Meets ASTM D4586 and D3409. Miami-Dade approved.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Black</a:t>
            </a:r>
            <a:r>
              <a:rPr lang="en-US" sz="2400" dirty="0">
                <a:solidFill>
                  <a:schemeClr val="tx1"/>
                </a:solidFill>
                <a:latin typeface="Calibri" pitchFamily="34" charset="0"/>
                <a:ea typeface="Calibri" pitchFamily="34" charset="-122"/>
                <a:cs typeface="Calibri" pitchFamily="34" charset="-120"/>
              </a:rPr>
              <a:t> — 10.1 oz tube, 1-gal, 3-gal</a:t>
            </a:r>
            <a:endParaRPr lang="en-US" sz="2400" dirty="0"/>
          </a:p>
        </p:txBody>
      </p:sp>
      <p:pic>
        <p:nvPicPr>
          <p:cNvPr id="5" name="Photo" descr="Photo">    </p:cNvPr>
          <p:cNvPicPr>
            <a:picLocks noChangeAspect="1"/>
          </p:cNvPicPr>
          <p:nvPr/>
        </p:nvPicPr>
        <p:blipFill>
          <a:blip r:embed="rId1"/>
          <a:stretch>
            <a:fillRect/>
          </a:stretch>
        </p:blipFill>
        <p:spPr>
          <a:xfrm>
            <a:off x="6217920" y="2978532"/>
            <a:ext cx="5425135" cy="167817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219</a:t>
            </a:fld>
            <a:endParaRPr lang="en-US"/>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Pro-Grade 167 Extreme Rubberized Flashing Cement</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Our best roof cement</a:t>
            </a:r>
            <a:r>
              <a:rPr lang="en-US" sz="2200" dirty="0">
                <a:solidFill>
                  <a:schemeClr val="tx1"/>
                </a:solidFill>
                <a:latin typeface="Calibri" pitchFamily="34" charset="0"/>
                <a:ea typeface="Calibri" pitchFamily="34" charset="-122"/>
                <a:cs typeface="Calibri" pitchFamily="34" charset="-120"/>
              </a:rPr>
              <a:t> — for permanent repairs</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Apply in wet or dry weather</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Rubber (SEBS) + UV protection for long life</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Works from -20°F to 140°F</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Sticks 100% underwater (ASTM D3409)</a:t>
            </a:r>
            <a:endParaRPr lang="en-US" sz="2200" dirty="0"/>
          </a:p>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Meets ASTM D4586. Miami-Dade approved.</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Black</a:t>
            </a:r>
            <a:r>
              <a:rPr lang="en-US" sz="2200" dirty="0">
                <a:solidFill>
                  <a:schemeClr val="tx1"/>
                </a:solidFill>
                <a:latin typeface="Calibri" pitchFamily="34" charset="0"/>
                <a:ea typeface="Calibri" pitchFamily="34" charset="-122"/>
                <a:cs typeface="Calibri" pitchFamily="34" charset="-120"/>
              </a:rPr>
              <a:t> — 1-gal can, 3-gal pail</a:t>
            </a:r>
            <a:endParaRPr lang="en-US" sz="2200" dirty="0"/>
          </a:p>
        </p:txBody>
      </p:sp>
      <p:pic>
        <p:nvPicPr>
          <p:cNvPr id="5" name="Photo" descr="Photo">    </p:cNvPr>
          <p:cNvPicPr>
            <a:picLocks noChangeAspect="1"/>
          </p:cNvPicPr>
          <p:nvPr/>
        </p:nvPicPr>
        <p:blipFill>
          <a:blip r:embed="rId1"/>
          <a:stretch>
            <a:fillRect/>
          </a:stretch>
        </p:blipFill>
        <p:spPr>
          <a:xfrm>
            <a:off x="6217920" y="2940556"/>
            <a:ext cx="5425135" cy="1754127"/>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220</a:t>
            </a:fld>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Henry 183 Yellow Fiberglass Repair Fabric</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Woven glass fabric with a yellow coating</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Stands up to acid and heat. Won't rot.</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Works with asphalt, emulsions, and coatings</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For penetrations, flashings, seams, repairs</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Rolls</a:t>
            </a:r>
            <a:r>
              <a:rPr lang="en-US" sz="2400" dirty="0">
                <a:solidFill>
                  <a:schemeClr val="tx1"/>
                </a:solidFill>
                <a:latin typeface="Calibri" pitchFamily="34" charset="0"/>
                <a:ea typeface="Calibri" pitchFamily="34" charset="-122"/>
                <a:cs typeface="Calibri" pitchFamily="34" charset="-120"/>
              </a:rPr>
              <a:t> — 4" × 150', 6" × 25', 36" × 150'</a:t>
            </a:r>
            <a:endParaRPr lang="en-US" sz="2400" dirty="0"/>
          </a:p>
        </p:txBody>
      </p:sp>
      <p:pic>
        <p:nvPicPr>
          <p:cNvPr id="5" name="Photo" descr="Photo">    </p:cNvPr>
          <p:cNvPicPr>
            <a:picLocks noChangeAspect="1"/>
          </p:cNvPicPr>
          <p:nvPr/>
        </p:nvPicPr>
        <p:blipFill>
          <a:blip r:embed="rId1"/>
          <a:stretch>
            <a:fillRect/>
          </a:stretch>
        </p:blipFill>
        <p:spPr>
          <a:xfrm>
            <a:off x="6217920" y="2730995"/>
            <a:ext cx="5425135" cy="217325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221</a:t>
            </a:fld>
            <a:endParaRPr 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Why Pro-Grade Mastics?</a:t>
            </a:r>
            <a:endParaRPr lang="en-US" sz="3000" dirty="0"/>
          </a:p>
        </p:txBody>
      </p:sp>
      <p:sp>
        <p:nvSpPr>
          <p:cNvPr id="4" name="Body text"/>
          <p:cNvSpPr txBox="1"/>
          <p:nvPr/>
        </p:nvSpPr>
        <p:spPr>
          <a:xfrm>
            <a:off x="548640" y="1508760"/>
            <a:ext cx="5303520" cy="4663440"/>
          </a:xfrm>
          <a:prstGeom prst="rect">
            <a:avLst/>
          </a:prstGeom>
          <a:noFill/>
          <a:ln/>
        </p:spPr>
        <p:txBody>
          <a:bodyPr wrap="square" lIns="0" tIns="0" rIns="0" bIns="0" rtlCol="0" anchor="t"/>
          <a:lstStyle/>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Work in extreme heat and cold</a:t>
            </a:r>
            <a:endParaRPr lang="en-US" sz="2400" dirty="0"/>
          </a:p>
          <a:p>
            <a:pPr marL="228600" indent="-228600">
              <a:spcAft>
                <a:spcPts val="1320"/>
              </a:spcAft>
              <a:buSzPct val="100000"/>
              <a:buChar char="•"/>
            </a:pPr>
            <a:r>
              <a:rPr lang="en-US" sz="2400" b="1" dirty="0">
                <a:solidFill>
                  <a:schemeClr val="tx2"/>
                </a:solidFill>
                <a:latin typeface="Calibri" pitchFamily="34" charset="0"/>
                <a:ea typeface="Calibri" pitchFamily="34" charset="-122"/>
                <a:cs typeface="Calibri" pitchFamily="34" charset="-120"/>
              </a:rPr>
              <a:t>Stay easy to spread</a:t>
            </a:r>
            <a:r>
              <a:rPr lang="en-US" sz="2400" dirty="0">
                <a:solidFill>
                  <a:schemeClr val="tx1"/>
                </a:solidFill>
                <a:latin typeface="Calibri" pitchFamily="34" charset="0"/>
                <a:ea typeface="Calibri" pitchFamily="34" charset="-122"/>
                <a:cs typeface="Calibri" pitchFamily="34" charset="-120"/>
              </a:rPr>
              <a:t> — even when cold</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Fewer products to stock</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Fewer buckets to carry</a:t>
            </a:r>
            <a:endParaRPr lang="en-US" sz="2400" dirty="0"/>
          </a:p>
          <a:p>
            <a:pPr marL="228600" indent="-228600">
              <a:spcAft>
                <a:spcPts val="1320"/>
              </a:spcAft>
              <a:buSzPct val="100000"/>
              <a:buChar char="•"/>
            </a:pPr>
            <a:r>
              <a:rPr lang="en-US" sz="2400" dirty="0">
                <a:solidFill>
                  <a:schemeClr val="tx1"/>
                </a:solidFill>
                <a:latin typeface="Calibri" pitchFamily="34" charset="0"/>
                <a:ea typeface="Calibri" pitchFamily="34" charset="-122"/>
                <a:cs typeface="Calibri" pitchFamily="34" charset="-120"/>
              </a:rPr>
              <a:t>Every wet/dry mastic sticks 100% underwater (ASTM D3409)</a:t>
            </a:r>
            <a:endParaRPr lang="en-US" sz="2400" dirty="0"/>
          </a:p>
        </p:txBody>
      </p:sp>
      <p:pic>
        <p:nvPicPr>
          <p:cNvPr id="5" name="Photo" descr="Photo">    </p:cNvPr>
          <p:cNvPicPr>
            <a:picLocks noChangeAspect="1"/>
          </p:cNvPicPr>
          <p:nvPr/>
        </p:nvPicPr>
        <p:blipFill>
          <a:blip r:embed="rId1"/>
          <a:stretch>
            <a:fillRect/>
          </a:stretch>
        </p:blipFill>
        <p:spPr>
          <a:xfrm>
            <a:off x="6217920" y="3235322"/>
            <a:ext cx="5425135" cy="116459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222</a:t>
            </a:fld>
            <a:endParaRPr 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The Underwater Test</a:t>
            </a:r>
            <a:endParaRPr lang="en-US" sz="3000" dirty="0"/>
          </a:p>
        </p:txBody>
      </p:sp>
      <p:pic>
        <p:nvPicPr>
          <p:cNvPr id="4" name="Photo" descr="Photo">    </p:cNvPr>
          <p:cNvPicPr>
            <a:picLocks noChangeAspect="1"/>
          </p:cNvPicPr>
          <p:nvPr/>
        </p:nvPicPr>
        <p:blipFill>
          <a:blip r:embed="rId1"/>
          <a:stretch>
            <a:fillRect/>
          </a:stretch>
        </p:blipFill>
        <p:spPr>
          <a:xfrm>
            <a:off x="548640" y="1559656"/>
            <a:ext cx="11094415" cy="392156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600" b="1" dirty="0">
                <a:solidFill>
                  <a:schemeClr val="tx2"/>
                </a:solidFill>
              </a:rPr>
              <a:t>Both brands claim ASTM D3409. Competitor (left) barely sticks underwater. Henry (right) sticks 100%.</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223</a:t>
            </a:fld>
            <a:endParaRPr 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REPAIR MASTICS</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Pro-Grade Mastics &amp; Cements Application</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Mastic, fabric, mastic.</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224</a:t>
            </a:fld>
            <a:endParaRPr lang="en-US"/>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Mastic Repair: Step 1</a:t>
            </a:r>
            <a:endParaRPr lang="en-US" sz="3000" dirty="0"/>
          </a:p>
        </p:txBody>
      </p:sp>
      <p:pic>
        <p:nvPicPr>
          <p:cNvPr id="4" name="Photo" descr="Photo">    </p:cNvPr>
          <p:cNvPicPr>
            <a:picLocks noChangeAspect="1"/>
          </p:cNvPicPr>
          <p:nvPr/>
        </p:nvPicPr>
        <p:blipFill>
          <a:blip r:embed="rId1"/>
          <a:stretch>
            <a:fillRect/>
          </a:stretch>
        </p:blipFill>
        <p:spPr>
          <a:xfrm>
            <a:off x="548640" y="1896957"/>
            <a:ext cx="11094415" cy="3246966"/>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Spread a layer of mastic. Lay the fabric into it.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225</a:t>
            </a:fld>
            <a:endParaRPr 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Mastic Repair: Step 2</a:t>
            </a:r>
            <a:endParaRPr lang="en-US" sz="3000" dirty="0"/>
          </a:p>
        </p:txBody>
      </p:sp>
      <p:pic>
        <p:nvPicPr>
          <p:cNvPr id="4" name="Photo" descr="Photo">    </p:cNvPr>
          <p:cNvPicPr>
            <a:picLocks noChangeAspect="1"/>
          </p:cNvPicPr>
          <p:nvPr/>
        </p:nvPicPr>
        <p:blipFill>
          <a:blip r:embed="rId1"/>
          <a:stretch>
            <a:fillRect/>
          </a:stretch>
        </p:blipFill>
        <p:spPr>
          <a:xfrm>
            <a:off x="548640" y="1908052"/>
            <a:ext cx="11094415" cy="3224777"/>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Cover the fabric with more mastic.</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226</a:t>
            </a:fld>
            <a:endParaRPr 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REPAIR MASTICS</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Mastic Repair: Step 3</a:t>
            </a:r>
            <a:endParaRPr lang="en-US" sz="3000" dirty="0"/>
          </a:p>
        </p:txBody>
      </p:sp>
      <p:pic>
        <p:nvPicPr>
          <p:cNvPr id="4" name="Photo" descr="Photo">    </p:cNvPr>
          <p:cNvPicPr>
            <a:picLocks noChangeAspect="1"/>
          </p:cNvPicPr>
          <p:nvPr/>
        </p:nvPicPr>
        <p:blipFill>
          <a:blip r:embed="rId1"/>
          <a:stretch>
            <a:fillRect/>
          </a:stretch>
        </p:blipFill>
        <p:spPr>
          <a:xfrm>
            <a:off x="1174350" y="1417320"/>
            <a:ext cx="9842995"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Press it all down — no gaps, no bubbles.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227</a:t>
            </a:fld>
            <a:endParaRPr lang="en-US"/>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WARRANTY &amp; AUTHORIZATION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Warranties &amp; Becoming an Authorized Contractor</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Get authorized before the job starts.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228</a:t>
            </a:fld>
            <a:endParaRPr 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WARRANTY &amp; AUTHORIZATION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Warranty Options</a:t>
            </a:r>
            <a:endParaRPr lang="en-US" sz="3000" dirty="0"/>
          </a:p>
        </p:txBody>
      </p:sp>
      <p:graphicFrame>
        <p:nvGraphicFramePr>
          <p:cNvPr id="230"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516503"/>
                <a:gridCol w="4788956"/>
                <a:gridCol w="4788956"/>
              </a:tblGrid>
              <a:tr h="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Warranty</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it covers</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you need</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Manufacturer</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defects for 1 year or until the product expires</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Proof of purchase</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Implied</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Product works as the data sheet says</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Store, handle, and install per Henry guidelines</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Limited Lifetime</a:t>
                      </a:r>
                      <a:endParaRPr lang="en-US" sz="1400" dirty="0">
                        <a:latin typeface="Calibri" charset="0"/>
                        <a:ea typeface="Calibri" charset="0"/>
                        <a:cs typeface="Calibri" charset="0"/>
                      </a:endParaRPr>
                    </a:p>
                    <a:p>
                      <a:pPr indent="0" marL="0">
                        <a:buNone/>
                      </a:pPr>
                      <a:r>
                        <a:rPr lang="en-US" sz="1400" b="1" dirty="0">
                          <a:solidFill>
                            <a:schemeClr val="tx2"/>
                          </a:solidFill>
                          <a:latin typeface="Calibri" pitchFamily="34" charset="0"/>
                          <a:ea typeface="Calibri" pitchFamily="34" charset="-122"/>
                          <a:cs typeface="Calibri" pitchFamily="34" charset="-120"/>
                        </a:rPr>
                        <a:t>(988 silicone only)</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Free replacement material for the life of the roof if there's a defect</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Proof of purchase. Use two Pro-Grade silicone products.</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Material Plus</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Material + labor to install it, free, if the product is defective</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Sign the Material Plus agreement. Apply at henry.com/warranty.</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Gold Seal</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Material + labor to fix product defects AND workmanship mistakes</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Sign the Gold Seal agreement. Apply at henry.com/warranty.</a:t>
                      </a:r>
                      <a:endParaRPr lang="en-US" sz="14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5"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All products must be installed by a Henry Authorized Contractor, per the data sheets and guide spec.</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229</a:t>
            </a:fld>
            <a:endParaRPr lang="en-US"/>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WARRANTY &amp; AUTHORIZATION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How to Become a Henry Authorized Contractor</a:t>
            </a:r>
            <a:endParaRPr lang="en-US" sz="3000" dirty="0"/>
          </a:p>
        </p:txBody>
      </p:sp>
      <p:sp>
        <p:nvSpPr>
          <p:cNvPr id="4" name="Step 1 card"/>
          <p:cNvSpPr/>
          <p:nvPr/>
        </p:nvSpPr>
        <p:spPr>
          <a:xfrm>
            <a:off x="548640" y="1554480"/>
            <a:ext cx="2567864" cy="2057400"/>
          </a:xfrm>
          <a:prstGeom prst="roundRect">
            <a:avLst>
              <a:gd name="adj" fmla="val 4444"/>
            </a:avLst>
          </a:prstGeom>
          <a:solidFill>
            <a:schemeClr val="bg2"/>
          </a:solidFill>
          <a:ln/>
        </p:spPr>
      </p:sp>
      <p:sp>
        <p:nvSpPr>
          <p:cNvPr id="5" name="Step 1 number"/>
          <p:cNvSpPr/>
          <p:nvPr/>
        </p:nvSpPr>
        <p:spPr>
          <a:xfrm>
            <a:off x="822960" y="1828800"/>
            <a:ext cx="685800" cy="685800"/>
          </a:xfrm>
          <a:prstGeom prst="ellipse">
            <a:avLst/>
          </a:prstGeom>
          <a:solidFill>
            <a:schemeClr val="accent1"/>
          </a:solidFill>
          <a:ln/>
        </p:spPr>
      </p:sp>
      <p:sp>
        <p:nvSpPr>
          <p:cNvPr id="6" name="Text 4"/>
          <p:cNvSpPr txBox="1"/>
          <p:nvPr/>
        </p:nvSpPr>
        <p:spPr>
          <a:xfrm>
            <a:off x="822960"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5"/>
          <p:cNvSpPr txBox="1"/>
          <p:nvPr/>
        </p:nvSpPr>
        <p:spPr>
          <a:xfrm>
            <a:off x="822960" y="2651760"/>
            <a:ext cx="2019224" cy="411480"/>
          </a:xfrm>
          <a:prstGeom prst="rect">
            <a:avLst/>
          </a:prstGeom>
          <a:noFill/>
          <a:ln/>
        </p:spPr>
        <p:txBody>
          <a:bodyPr wrap="square" lIns="0" tIns="0" rIns="0" bIns="0" rtlCol="0" anchor="ctr"/>
          <a:lstStyle/>
          <a:p>
            <a:pPr indent="0" marL="0">
              <a:buNone/>
            </a:pPr>
            <a:r>
              <a:rPr lang="en-US" sz="2100" b="1" dirty="0">
                <a:solidFill>
                  <a:schemeClr val="tx2"/>
                </a:solidFill>
              </a:rPr>
              <a:t>Apply</a:t>
            </a:r>
            <a:endParaRPr lang="en-US" sz="2100" dirty="0"/>
          </a:p>
        </p:txBody>
      </p:sp>
      <p:sp>
        <p:nvSpPr>
          <p:cNvPr id="8" name="Text 6"/>
          <p:cNvSpPr txBox="1"/>
          <p:nvPr/>
        </p:nvSpPr>
        <p:spPr>
          <a:xfrm>
            <a:off x="822960" y="3063240"/>
            <a:ext cx="2019224"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Fill out the Authorized Contractor Application</a:t>
            </a:r>
            <a:endParaRPr lang="en-US" sz="1600" dirty="0"/>
          </a:p>
        </p:txBody>
      </p:sp>
      <p:sp>
        <p:nvSpPr>
          <p:cNvPr id="9" name="Step 2 card"/>
          <p:cNvSpPr/>
          <p:nvPr/>
        </p:nvSpPr>
        <p:spPr>
          <a:xfrm>
            <a:off x="3390824" y="1554480"/>
            <a:ext cx="2567864" cy="2057400"/>
          </a:xfrm>
          <a:prstGeom prst="roundRect">
            <a:avLst>
              <a:gd name="adj" fmla="val 4444"/>
            </a:avLst>
          </a:prstGeom>
          <a:solidFill>
            <a:schemeClr val="bg2"/>
          </a:solidFill>
          <a:ln/>
        </p:spPr>
      </p:sp>
      <p:sp>
        <p:nvSpPr>
          <p:cNvPr id="10" name="Step 2 number"/>
          <p:cNvSpPr/>
          <p:nvPr/>
        </p:nvSpPr>
        <p:spPr>
          <a:xfrm>
            <a:off x="3665144" y="1828800"/>
            <a:ext cx="685800" cy="685800"/>
          </a:xfrm>
          <a:prstGeom prst="ellipse">
            <a:avLst/>
          </a:prstGeom>
          <a:solidFill>
            <a:schemeClr val="accent1"/>
          </a:solidFill>
          <a:ln/>
        </p:spPr>
      </p:sp>
      <p:sp>
        <p:nvSpPr>
          <p:cNvPr id="11" name="Text 9"/>
          <p:cNvSpPr txBox="1"/>
          <p:nvPr/>
        </p:nvSpPr>
        <p:spPr>
          <a:xfrm>
            <a:off x="3665144"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2" name="Text 10"/>
          <p:cNvSpPr txBox="1"/>
          <p:nvPr/>
        </p:nvSpPr>
        <p:spPr>
          <a:xfrm>
            <a:off x="3665144" y="2651760"/>
            <a:ext cx="2019224" cy="411480"/>
          </a:xfrm>
          <a:prstGeom prst="rect">
            <a:avLst/>
          </a:prstGeom>
          <a:noFill/>
          <a:ln/>
        </p:spPr>
        <p:txBody>
          <a:bodyPr wrap="square" lIns="0" tIns="0" rIns="0" bIns="0" rtlCol="0" anchor="ctr"/>
          <a:lstStyle/>
          <a:p>
            <a:pPr indent="0" marL="0">
              <a:buNone/>
            </a:pPr>
            <a:r>
              <a:rPr lang="en-US" sz="2100" b="1" dirty="0">
                <a:solidFill>
                  <a:schemeClr val="tx2"/>
                </a:solidFill>
              </a:rPr>
              <a:t>Send documents</a:t>
            </a:r>
            <a:endParaRPr lang="en-US" sz="2100" dirty="0"/>
          </a:p>
        </p:txBody>
      </p:sp>
      <p:sp>
        <p:nvSpPr>
          <p:cNvPr id="13" name="Text 11"/>
          <p:cNvSpPr txBox="1"/>
          <p:nvPr/>
        </p:nvSpPr>
        <p:spPr>
          <a:xfrm>
            <a:off x="3665144" y="3063240"/>
            <a:ext cx="2019224"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warranty@henry.com and Ray Leake (rleake@henry.com)</a:t>
            </a:r>
            <a:endParaRPr lang="en-US" sz="1600" dirty="0"/>
          </a:p>
        </p:txBody>
      </p:sp>
      <p:sp>
        <p:nvSpPr>
          <p:cNvPr id="14" name="Step 3 card"/>
          <p:cNvSpPr/>
          <p:nvPr/>
        </p:nvSpPr>
        <p:spPr>
          <a:xfrm>
            <a:off x="6233008" y="1554480"/>
            <a:ext cx="2567864" cy="2057400"/>
          </a:xfrm>
          <a:prstGeom prst="roundRect">
            <a:avLst>
              <a:gd name="adj" fmla="val 4444"/>
            </a:avLst>
          </a:prstGeom>
          <a:solidFill>
            <a:schemeClr val="bg2"/>
          </a:solidFill>
          <a:ln/>
        </p:spPr>
      </p:sp>
      <p:sp>
        <p:nvSpPr>
          <p:cNvPr id="15" name="Step 3 number"/>
          <p:cNvSpPr/>
          <p:nvPr/>
        </p:nvSpPr>
        <p:spPr>
          <a:xfrm>
            <a:off x="6507328" y="1828800"/>
            <a:ext cx="685800" cy="685800"/>
          </a:xfrm>
          <a:prstGeom prst="ellipse">
            <a:avLst/>
          </a:prstGeom>
          <a:solidFill>
            <a:schemeClr val="accent1"/>
          </a:solidFill>
          <a:ln/>
        </p:spPr>
      </p:sp>
      <p:sp>
        <p:nvSpPr>
          <p:cNvPr id="16" name="Text 14"/>
          <p:cNvSpPr txBox="1"/>
          <p:nvPr/>
        </p:nvSpPr>
        <p:spPr>
          <a:xfrm>
            <a:off x="6507328"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7" name="Text 15"/>
          <p:cNvSpPr txBox="1"/>
          <p:nvPr/>
        </p:nvSpPr>
        <p:spPr>
          <a:xfrm>
            <a:off x="6507328" y="2651760"/>
            <a:ext cx="2019224" cy="411480"/>
          </a:xfrm>
          <a:prstGeom prst="rect">
            <a:avLst/>
          </a:prstGeom>
          <a:noFill/>
          <a:ln/>
        </p:spPr>
        <p:txBody>
          <a:bodyPr wrap="square" lIns="0" tIns="0" rIns="0" bIns="0" rtlCol="0" anchor="ctr"/>
          <a:lstStyle/>
          <a:p>
            <a:pPr indent="0" marL="0">
              <a:buNone/>
            </a:pPr>
            <a:r>
              <a:rPr lang="en-US" sz="2100" b="1" dirty="0">
                <a:solidFill>
                  <a:schemeClr val="tx2"/>
                </a:solidFill>
              </a:rPr>
              <a:t>Train</a:t>
            </a:r>
            <a:endParaRPr lang="en-US" sz="2100" dirty="0"/>
          </a:p>
        </p:txBody>
      </p:sp>
      <p:sp>
        <p:nvSpPr>
          <p:cNvPr id="18" name="Text 16"/>
          <p:cNvSpPr txBox="1"/>
          <p:nvPr/>
        </p:nvSpPr>
        <p:spPr>
          <a:xfrm>
            <a:off x="6507328" y="3063240"/>
            <a:ext cx="2019224"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Schedule training with the Henry tech team</a:t>
            </a:r>
            <a:endParaRPr lang="en-US" sz="1600" dirty="0"/>
          </a:p>
        </p:txBody>
      </p:sp>
      <p:sp>
        <p:nvSpPr>
          <p:cNvPr id="19" name="Step 4 card"/>
          <p:cNvSpPr/>
          <p:nvPr/>
        </p:nvSpPr>
        <p:spPr>
          <a:xfrm>
            <a:off x="9075191" y="1554480"/>
            <a:ext cx="2567864" cy="2057400"/>
          </a:xfrm>
          <a:prstGeom prst="roundRect">
            <a:avLst>
              <a:gd name="adj" fmla="val 4444"/>
            </a:avLst>
          </a:prstGeom>
          <a:solidFill>
            <a:schemeClr val="bg2"/>
          </a:solidFill>
          <a:ln/>
        </p:spPr>
      </p:sp>
      <p:sp>
        <p:nvSpPr>
          <p:cNvPr id="20" name="Step 4 number"/>
          <p:cNvSpPr/>
          <p:nvPr/>
        </p:nvSpPr>
        <p:spPr>
          <a:xfrm>
            <a:off x="9349511" y="1828800"/>
            <a:ext cx="685800" cy="685800"/>
          </a:xfrm>
          <a:prstGeom prst="ellipse">
            <a:avLst/>
          </a:prstGeom>
          <a:solidFill>
            <a:schemeClr val="accent1"/>
          </a:solidFill>
          <a:ln/>
        </p:spPr>
      </p:sp>
      <p:sp>
        <p:nvSpPr>
          <p:cNvPr id="21" name="Text 19"/>
          <p:cNvSpPr txBox="1"/>
          <p:nvPr/>
        </p:nvSpPr>
        <p:spPr>
          <a:xfrm>
            <a:off x="9349511"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2" name="Text 20"/>
          <p:cNvSpPr txBox="1"/>
          <p:nvPr/>
        </p:nvSpPr>
        <p:spPr>
          <a:xfrm>
            <a:off x="9349511" y="2651760"/>
            <a:ext cx="2019224" cy="411480"/>
          </a:xfrm>
          <a:prstGeom prst="rect">
            <a:avLst/>
          </a:prstGeom>
          <a:noFill/>
          <a:ln/>
        </p:spPr>
        <p:txBody>
          <a:bodyPr wrap="square" lIns="0" tIns="0" rIns="0" bIns="0" rtlCol="0" anchor="ctr"/>
          <a:lstStyle/>
          <a:p>
            <a:pPr indent="0" marL="0">
              <a:buNone/>
            </a:pPr>
            <a:r>
              <a:rPr lang="en-US" sz="2100" b="1" dirty="0">
                <a:solidFill>
                  <a:schemeClr val="tx2"/>
                </a:solidFill>
              </a:rPr>
              <a:t>Get approved</a:t>
            </a:r>
            <a:endParaRPr lang="en-US" sz="2100" dirty="0"/>
          </a:p>
        </p:txBody>
      </p:sp>
      <p:sp>
        <p:nvSpPr>
          <p:cNvPr id="23" name="Text 21"/>
          <p:cNvSpPr txBox="1"/>
          <p:nvPr/>
        </p:nvSpPr>
        <p:spPr>
          <a:xfrm>
            <a:off x="9349511" y="3063240"/>
            <a:ext cx="2019224"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Henry sends your contractor agreement</a:t>
            </a:r>
            <a:endParaRPr lang="en-US" sz="1600" dirty="0"/>
          </a:p>
        </p:txBody>
      </p:sp>
      <p:sp>
        <p:nvSpPr>
          <p:cNvPr id="24" name="Body text"/>
          <p:cNvSpPr txBox="1"/>
          <p:nvPr/>
        </p:nvSpPr>
        <p:spPr>
          <a:xfrm>
            <a:off x="548640" y="3931920"/>
            <a:ext cx="11094415" cy="1874520"/>
          </a:xfrm>
          <a:prstGeom prst="rect">
            <a:avLst/>
          </a:prstGeom>
          <a:noFill/>
          <a:ln/>
        </p:spPr>
        <p:txBody>
          <a:bodyPr wrap="square" lIns="0" tIns="0" rIns="0" bIns="0" rtlCol="0" anchor="t"/>
          <a:lstStyle/>
          <a:p>
            <a:pPr marL="228600" indent="-228600">
              <a:spcAft>
                <a:spcPts val="1210"/>
              </a:spcAft>
              <a:buSzPct val="100000"/>
              <a:buChar char="•"/>
            </a:pPr>
            <a:r>
              <a:rPr lang="en-US" sz="2200" dirty="0">
                <a:solidFill>
                  <a:schemeClr val="tx1"/>
                </a:solidFill>
                <a:latin typeface="Calibri" pitchFamily="34" charset="0"/>
                <a:ea typeface="Calibri" pitchFamily="34" charset="-122"/>
                <a:cs typeface="Calibri" pitchFamily="34" charset="-120"/>
              </a:rPr>
              <a:t>Training must be done BEFORE the warranted job starts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Material Plus training</a:t>
            </a:r>
            <a:r>
              <a:rPr lang="en-US" sz="2200" dirty="0">
                <a:solidFill>
                  <a:schemeClr val="tx1"/>
                </a:solidFill>
                <a:latin typeface="Calibri" pitchFamily="34" charset="0"/>
                <a:ea typeface="Calibri" pitchFamily="34" charset="-122"/>
                <a:cs typeface="Calibri" pitchFamily="34" charset="-120"/>
              </a:rPr>
              <a:t> — classroom: install rules and correct details</a:t>
            </a:r>
            <a:endParaRPr lang="en-US" sz="2200" dirty="0"/>
          </a:p>
          <a:p>
            <a:pPr marL="228600" indent="-228600">
              <a:spcAft>
                <a:spcPts val="1210"/>
              </a:spcAft>
              <a:buSzPct val="100000"/>
              <a:buChar char="•"/>
            </a:pPr>
            <a:r>
              <a:rPr lang="en-US" sz="2200" b="1" dirty="0">
                <a:solidFill>
                  <a:schemeClr val="tx2"/>
                </a:solidFill>
                <a:latin typeface="Calibri" pitchFamily="34" charset="0"/>
                <a:ea typeface="Calibri" pitchFamily="34" charset="-122"/>
                <a:cs typeface="Calibri" pitchFamily="34" charset="-120"/>
              </a:rPr>
              <a:t>Gold Seal training</a:t>
            </a:r>
            <a:r>
              <a:rPr lang="en-US" sz="2200" dirty="0">
                <a:solidFill>
                  <a:schemeClr val="tx1"/>
                </a:solidFill>
                <a:latin typeface="Calibri" pitchFamily="34" charset="0"/>
                <a:ea typeface="Calibri" pitchFamily="34" charset="-122"/>
                <a:cs typeface="Calibri" pitchFamily="34" charset="-120"/>
              </a:rPr>
              <a:t> — full product review, hands-on training, and help on your first job*</a:t>
            </a:r>
            <a:endParaRPr lang="en-US" sz="2200" dirty="0"/>
          </a:p>
        </p:txBody>
      </p:sp>
      <p:sp>
        <p:nvSpPr>
          <p:cNvPr id="25"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*First-job help can be skipped with proven, verified coating experience in that system.</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230</a:t>
            </a:fld>
            <a:endParaRPr lang="en-US"/>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WARRANTY &amp; AUTHORIZATION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Material Plus vs. Gold Seal Contractor</a:t>
            </a:r>
            <a:endParaRPr lang="en-US" sz="3000" dirty="0"/>
          </a:p>
        </p:txBody>
      </p:sp>
      <p:graphicFrame>
        <p:nvGraphicFramePr>
          <p:cNvPr id="232"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262779"/>
                <a:gridCol w="5411910"/>
                <a:gridCol w="4419726"/>
              </a:tblGrid>
              <a:tr h="0">
                <a:tc>
                  <a:txBody>
                    <a:bodyPr/>
                    <a:lstStyle/>
                    <a:p>
                      <a:pPr indent="0" marL="0">
                        <a:buNone/>
                      </a:pP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Material Plus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Gold Seal</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Systems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Silicone, acrylic, aluminum, emulsion</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Silicone, acrylic, aluminum, emulsion</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Paperwork</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Roofing license (if your state requires), liability insurance, workers' comp, business license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Same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Before the job</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Submit warranty application. Prequalify the roof.</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Same, plus a pre-job roof inspection</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Testing</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Do the adhesion test and moisture survey</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Submit PROOF of adhesion test and moisture survey</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Install</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Per the guide spec</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Per the guide spec</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231</a:t>
            </a:fld>
            <a:endParaRPr lang="en-US"/>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WARRANTY &amp; AUTHORIZATION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Material Plus vs. Gold Seal Warranty</a:t>
            </a:r>
            <a:endParaRPr lang="en-US" sz="3000" dirty="0"/>
          </a:p>
        </p:txBody>
      </p:sp>
      <p:graphicFrame>
        <p:nvGraphicFramePr>
          <p:cNvPr id="233"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819389"/>
                <a:gridCol w="2091570"/>
                <a:gridCol w="5183456"/>
              </a:tblGrid>
              <a:tr h="0">
                <a:tc>
                  <a:txBody>
                    <a:bodyPr/>
                    <a:lstStyle/>
                    <a:p>
                      <a:pPr indent="0" marL="0">
                        <a:buNone/>
                      </a:pP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Material Plus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Gold Seal</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Defective Henry products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Covered</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Covered</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All Henry products, same length as coating</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Workmanship mistakes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Your liability</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Only 2 years of workmanship (others: about half the term)</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Fee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Warranty fee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Ponding water (silicone)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Not excluded</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Not excluded</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Inspections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Confirm tests were done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Pre-job inspection, test proof, final inspection by Henry</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5"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Lifetime warranty (988 only): 988 + one more Pro-Grade silicone product. All seams stripped with 988. Transferable. No approved applicator needed.</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232</a:t>
            </a:fld>
            <a:endParaRPr lang="en-US"/>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FINAL INSPECTION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Final Inspections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No final inspection, no Gold Seal.</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233</a:t>
            </a:fld>
            <a:endParaRPr lang="en-US"/>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FINAL INSPECTION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Final Inspection: Step by Step</a:t>
            </a:r>
            <a:endParaRPr lang="en-US" sz="3000" dirty="0"/>
          </a:p>
        </p:txBody>
      </p:sp>
      <p:sp>
        <p:nvSpPr>
          <p:cNvPr id="4" name="Step 1 card"/>
          <p:cNvSpPr/>
          <p:nvPr/>
        </p:nvSpPr>
        <p:spPr>
          <a:xfrm>
            <a:off x="548640" y="1554480"/>
            <a:ext cx="3515258" cy="2057400"/>
          </a:xfrm>
          <a:prstGeom prst="roundRect">
            <a:avLst>
              <a:gd name="adj" fmla="val 4444"/>
            </a:avLst>
          </a:prstGeom>
          <a:solidFill>
            <a:schemeClr val="bg2"/>
          </a:solidFill>
          <a:ln/>
        </p:spPr>
      </p:sp>
      <p:sp>
        <p:nvSpPr>
          <p:cNvPr id="5" name="Step 1 number"/>
          <p:cNvSpPr/>
          <p:nvPr/>
        </p:nvSpPr>
        <p:spPr>
          <a:xfrm>
            <a:off x="822960" y="1828800"/>
            <a:ext cx="685800" cy="685800"/>
          </a:xfrm>
          <a:prstGeom prst="ellipse">
            <a:avLst/>
          </a:prstGeom>
          <a:solidFill>
            <a:schemeClr val="accent1"/>
          </a:solidFill>
          <a:ln/>
        </p:spPr>
      </p:sp>
      <p:sp>
        <p:nvSpPr>
          <p:cNvPr id="6" name="Text 4"/>
          <p:cNvSpPr txBox="1"/>
          <p:nvPr/>
        </p:nvSpPr>
        <p:spPr>
          <a:xfrm>
            <a:off x="822960"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5"/>
          <p:cNvSpPr txBox="1"/>
          <p:nvPr/>
        </p:nvSpPr>
        <p:spPr>
          <a:xfrm>
            <a:off x="822960"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Finish the job</a:t>
            </a:r>
            <a:endParaRPr lang="en-US" sz="2100" dirty="0"/>
          </a:p>
        </p:txBody>
      </p:sp>
      <p:sp>
        <p:nvSpPr>
          <p:cNvPr id="8" name="Text 6"/>
          <p:cNvSpPr txBox="1"/>
          <p:nvPr/>
        </p:nvSpPr>
        <p:spPr>
          <a:xfrm>
            <a:off x="822960"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Submit the warranty application</a:t>
            </a:r>
            <a:endParaRPr lang="en-US" sz="1600" dirty="0"/>
          </a:p>
        </p:txBody>
      </p:sp>
      <p:sp>
        <p:nvSpPr>
          <p:cNvPr id="9" name="Step 2 card"/>
          <p:cNvSpPr/>
          <p:nvPr/>
        </p:nvSpPr>
        <p:spPr>
          <a:xfrm>
            <a:off x="4338218" y="1554480"/>
            <a:ext cx="3515258" cy="2057400"/>
          </a:xfrm>
          <a:prstGeom prst="roundRect">
            <a:avLst>
              <a:gd name="adj" fmla="val 4444"/>
            </a:avLst>
          </a:prstGeom>
          <a:solidFill>
            <a:schemeClr val="bg2"/>
          </a:solidFill>
          <a:ln/>
        </p:spPr>
      </p:sp>
      <p:sp>
        <p:nvSpPr>
          <p:cNvPr id="10" name="Step 2 number"/>
          <p:cNvSpPr/>
          <p:nvPr/>
        </p:nvSpPr>
        <p:spPr>
          <a:xfrm>
            <a:off x="4612538" y="1828800"/>
            <a:ext cx="685800" cy="685800"/>
          </a:xfrm>
          <a:prstGeom prst="ellipse">
            <a:avLst/>
          </a:prstGeom>
          <a:solidFill>
            <a:schemeClr val="accent1"/>
          </a:solidFill>
          <a:ln/>
        </p:spPr>
      </p:sp>
      <p:sp>
        <p:nvSpPr>
          <p:cNvPr id="11" name="Text 9"/>
          <p:cNvSpPr txBox="1"/>
          <p:nvPr/>
        </p:nvSpPr>
        <p:spPr>
          <a:xfrm>
            <a:off x="4612538"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2" name="Text 10"/>
          <p:cNvSpPr txBox="1"/>
          <p:nvPr/>
        </p:nvSpPr>
        <p:spPr>
          <a:xfrm>
            <a:off x="4612538"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Send documents</a:t>
            </a:r>
            <a:endParaRPr lang="en-US" sz="2100" dirty="0"/>
          </a:p>
        </p:txBody>
      </p:sp>
      <p:sp>
        <p:nvSpPr>
          <p:cNvPr id="13" name="Text 11"/>
          <p:cNvSpPr txBox="1"/>
          <p:nvPr/>
        </p:nvSpPr>
        <p:spPr>
          <a:xfrm>
            <a:off x="4612538"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Adhesion test and moisture survey results</a:t>
            </a:r>
            <a:endParaRPr lang="en-US" sz="1600" dirty="0"/>
          </a:p>
        </p:txBody>
      </p:sp>
      <p:sp>
        <p:nvSpPr>
          <p:cNvPr id="14" name="Step 3 card"/>
          <p:cNvSpPr/>
          <p:nvPr/>
        </p:nvSpPr>
        <p:spPr>
          <a:xfrm>
            <a:off x="8127797" y="1554480"/>
            <a:ext cx="3515258" cy="2057400"/>
          </a:xfrm>
          <a:prstGeom prst="roundRect">
            <a:avLst>
              <a:gd name="adj" fmla="val 4444"/>
            </a:avLst>
          </a:prstGeom>
          <a:solidFill>
            <a:schemeClr val="bg2"/>
          </a:solidFill>
          <a:ln/>
        </p:spPr>
      </p:sp>
      <p:sp>
        <p:nvSpPr>
          <p:cNvPr id="15" name="Step 3 number"/>
          <p:cNvSpPr/>
          <p:nvPr/>
        </p:nvSpPr>
        <p:spPr>
          <a:xfrm>
            <a:off x="8402117" y="1828800"/>
            <a:ext cx="685800" cy="685800"/>
          </a:xfrm>
          <a:prstGeom prst="ellipse">
            <a:avLst/>
          </a:prstGeom>
          <a:solidFill>
            <a:schemeClr val="accent1"/>
          </a:solidFill>
          <a:ln/>
        </p:spPr>
      </p:sp>
      <p:sp>
        <p:nvSpPr>
          <p:cNvPr id="16" name="Text 14"/>
          <p:cNvSpPr txBox="1"/>
          <p:nvPr/>
        </p:nvSpPr>
        <p:spPr>
          <a:xfrm>
            <a:off x="8402117" y="1828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7" name="Text 15"/>
          <p:cNvSpPr txBox="1"/>
          <p:nvPr/>
        </p:nvSpPr>
        <p:spPr>
          <a:xfrm>
            <a:off x="8402117" y="265176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Henry schedules</a:t>
            </a:r>
            <a:endParaRPr lang="en-US" sz="2100" dirty="0"/>
          </a:p>
        </p:txBody>
      </p:sp>
      <p:sp>
        <p:nvSpPr>
          <p:cNvPr id="18" name="Text 16"/>
          <p:cNvSpPr txBox="1"/>
          <p:nvPr/>
        </p:nvSpPr>
        <p:spPr>
          <a:xfrm>
            <a:off x="8402117" y="306324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Warranty team books your tech rep</a:t>
            </a:r>
            <a:endParaRPr lang="en-US" sz="1600" dirty="0"/>
          </a:p>
        </p:txBody>
      </p:sp>
      <p:sp>
        <p:nvSpPr>
          <p:cNvPr id="19" name="Step 4 card"/>
          <p:cNvSpPr/>
          <p:nvPr/>
        </p:nvSpPr>
        <p:spPr>
          <a:xfrm>
            <a:off x="548640" y="3886200"/>
            <a:ext cx="3515258" cy="2057400"/>
          </a:xfrm>
          <a:prstGeom prst="roundRect">
            <a:avLst>
              <a:gd name="adj" fmla="val 4444"/>
            </a:avLst>
          </a:prstGeom>
          <a:solidFill>
            <a:schemeClr val="bg2"/>
          </a:solidFill>
          <a:ln/>
        </p:spPr>
      </p:sp>
      <p:sp>
        <p:nvSpPr>
          <p:cNvPr id="20" name="Step 4 number"/>
          <p:cNvSpPr/>
          <p:nvPr/>
        </p:nvSpPr>
        <p:spPr>
          <a:xfrm>
            <a:off x="822960" y="4160520"/>
            <a:ext cx="685800" cy="685800"/>
          </a:xfrm>
          <a:prstGeom prst="ellipse">
            <a:avLst/>
          </a:prstGeom>
          <a:solidFill>
            <a:schemeClr val="accent1"/>
          </a:solidFill>
          <a:ln/>
        </p:spPr>
      </p:sp>
      <p:sp>
        <p:nvSpPr>
          <p:cNvPr id="21" name="Text 19"/>
          <p:cNvSpPr txBox="1"/>
          <p:nvPr/>
        </p:nvSpPr>
        <p:spPr>
          <a:xfrm>
            <a:off x="822960"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2" name="Text 20"/>
          <p:cNvSpPr txBox="1"/>
          <p:nvPr/>
        </p:nvSpPr>
        <p:spPr>
          <a:xfrm>
            <a:off x="822960"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Rep inspects</a:t>
            </a:r>
            <a:endParaRPr lang="en-US" sz="2100" dirty="0"/>
          </a:p>
        </p:txBody>
      </p:sp>
      <p:sp>
        <p:nvSpPr>
          <p:cNvPr id="23" name="Text 21"/>
          <p:cNvSpPr txBox="1"/>
          <p:nvPr/>
        </p:nvSpPr>
        <p:spPr>
          <a:xfrm>
            <a:off x="822960"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Sends a report and punch list</a:t>
            </a:r>
            <a:endParaRPr lang="en-US" sz="1600" dirty="0"/>
          </a:p>
        </p:txBody>
      </p:sp>
      <p:sp>
        <p:nvSpPr>
          <p:cNvPr id="24" name="Step 5 card"/>
          <p:cNvSpPr/>
          <p:nvPr/>
        </p:nvSpPr>
        <p:spPr>
          <a:xfrm>
            <a:off x="4338218" y="3886200"/>
            <a:ext cx="3515258" cy="2057400"/>
          </a:xfrm>
          <a:prstGeom prst="roundRect">
            <a:avLst>
              <a:gd name="adj" fmla="val 4444"/>
            </a:avLst>
          </a:prstGeom>
          <a:solidFill>
            <a:schemeClr val="bg2"/>
          </a:solidFill>
          <a:ln/>
        </p:spPr>
      </p:sp>
      <p:sp>
        <p:nvSpPr>
          <p:cNvPr id="25" name="Step 5 number"/>
          <p:cNvSpPr/>
          <p:nvPr/>
        </p:nvSpPr>
        <p:spPr>
          <a:xfrm>
            <a:off x="4612538" y="4160520"/>
            <a:ext cx="685800" cy="685800"/>
          </a:xfrm>
          <a:prstGeom prst="ellipse">
            <a:avLst/>
          </a:prstGeom>
          <a:solidFill>
            <a:schemeClr val="accent1"/>
          </a:solidFill>
          <a:ln/>
        </p:spPr>
      </p:sp>
      <p:sp>
        <p:nvSpPr>
          <p:cNvPr id="26" name="Text 24"/>
          <p:cNvSpPr txBox="1"/>
          <p:nvPr/>
        </p:nvSpPr>
        <p:spPr>
          <a:xfrm>
            <a:off x="4612538"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7" name="Text 25"/>
          <p:cNvSpPr txBox="1"/>
          <p:nvPr/>
        </p:nvSpPr>
        <p:spPr>
          <a:xfrm>
            <a:off x="4612538"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You fix the list</a:t>
            </a:r>
            <a:endParaRPr lang="en-US" sz="2100" dirty="0"/>
          </a:p>
        </p:txBody>
      </p:sp>
      <p:sp>
        <p:nvSpPr>
          <p:cNvPr id="28" name="Text 26"/>
          <p:cNvSpPr txBox="1"/>
          <p:nvPr/>
        </p:nvSpPr>
        <p:spPr>
          <a:xfrm>
            <a:off x="4612538"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Send before/after photos and sign off</a:t>
            </a:r>
            <a:endParaRPr lang="en-US" sz="1600" dirty="0"/>
          </a:p>
        </p:txBody>
      </p:sp>
      <p:sp>
        <p:nvSpPr>
          <p:cNvPr id="29" name="Step 6 card"/>
          <p:cNvSpPr/>
          <p:nvPr/>
        </p:nvSpPr>
        <p:spPr>
          <a:xfrm>
            <a:off x="8127797" y="3886200"/>
            <a:ext cx="3515258" cy="2057400"/>
          </a:xfrm>
          <a:prstGeom prst="roundRect">
            <a:avLst>
              <a:gd name="adj" fmla="val 4444"/>
            </a:avLst>
          </a:prstGeom>
          <a:solidFill>
            <a:schemeClr val="bg2"/>
          </a:solidFill>
          <a:ln/>
        </p:spPr>
      </p:sp>
      <p:sp>
        <p:nvSpPr>
          <p:cNvPr id="30" name="Step 6 number"/>
          <p:cNvSpPr/>
          <p:nvPr/>
        </p:nvSpPr>
        <p:spPr>
          <a:xfrm>
            <a:off x="8402117" y="4160520"/>
            <a:ext cx="685800" cy="685800"/>
          </a:xfrm>
          <a:prstGeom prst="ellipse">
            <a:avLst/>
          </a:prstGeom>
          <a:solidFill>
            <a:schemeClr val="accent1"/>
          </a:solidFill>
          <a:ln/>
        </p:spPr>
      </p:sp>
      <p:sp>
        <p:nvSpPr>
          <p:cNvPr id="31" name="Text 29"/>
          <p:cNvSpPr txBox="1"/>
          <p:nvPr/>
        </p:nvSpPr>
        <p:spPr>
          <a:xfrm>
            <a:off x="8402117" y="416052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rPr>
              <a:t>6</a:t>
            </a:r>
            <a:endParaRPr lang="en-US" sz="2600" dirty="0"/>
          </a:p>
        </p:txBody>
      </p:sp>
      <p:sp>
        <p:nvSpPr>
          <p:cNvPr id="32" name="Text 30"/>
          <p:cNvSpPr txBox="1"/>
          <p:nvPr/>
        </p:nvSpPr>
        <p:spPr>
          <a:xfrm>
            <a:off x="8402117" y="4983480"/>
            <a:ext cx="2966618" cy="411480"/>
          </a:xfrm>
          <a:prstGeom prst="rect">
            <a:avLst/>
          </a:prstGeom>
          <a:noFill/>
          <a:ln/>
        </p:spPr>
        <p:txBody>
          <a:bodyPr wrap="square" lIns="0" tIns="0" rIns="0" bIns="0" rtlCol="0" anchor="ctr"/>
          <a:lstStyle/>
          <a:p>
            <a:pPr indent="0" marL="0">
              <a:buNone/>
            </a:pPr>
            <a:r>
              <a:rPr lang="en-US" sz="2100" b="1" dirty="0">
                <a:solidFill>
                  <a:schemeClr val="tx2"/>
                </a:solidFill>
              </a:rPr>
              <a:t>Warranty issued</a:t>
            </a:r>
            <a:endParaRPr lang="en-US" sz="2100" dirty="0"/>
          </a:p>
        </p:txBody>
      </p:sp>
      <p:sp>
        <p:nvSpPr>
          <p:cNvPr id="33" name="Text 31"/>
          <p:cNvSpPr txBox="1"/>
          <p:nvPr/>
        </p:nvSpPr>
        <p:spPr>
          <a:xfrm>
            <a:off x="8402117" y="5394960"/>
            <a:ext cx="2966618" cy="502920"/>
          </a:xfrm>
          <a:prstGeom prst="rect">
            <a:avLst/>
          </a:prstGeom>
          <a:noFill/>
          <a:ln/>
        </p:spPr>
        <p:txBody>
          <a:bodyPr wrap="square" lIns="0" tIns="0" rIns="0" bIns="0" rtlCol="0" anchor="t">
            <a:normAutofit/>
          </a:bodyPr>
          <a:lstStyle/>
          <a:p>
            <a:pPr indent="0" marL="0">
              <a:buNone/>
            </a:pPr>
            <a:r>
              <a:rPr lang="en-US" sz="1600" dirty="0">
                <a:solidFill>
                  <a:schemeClr val="tx1"/>
                </a:solidFill>
              </a:rPr>
              <a:t>By email. Fee invoiced separately.</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234</a:t>
            </a:fld>
            <a:endParaRPr lang="en-US"/>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FINAL INSPECTION</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Common Punch List Items</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Catch these yourself before the inspector does.</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235</a:t>
            </a:fld>
            <a:endParaRPr lang="en-US"/>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FINAL INSPECTION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Seams: Open Seams</a:t>
            </a:r>
            <a:endParaRPr lang="en-US" sz="3000" dirty="0"/>
          </a:p>
        </p:txBody>
      </p:sp>
      <p:pic>
        <p:nvPicPr>
          <p:cNvPr id="4" name="Photo" descr="Photo">    </p:cNvPr>
          <p:cNvPicPr>
            <a:picLocks noChangeAspect="1"/>
          </p:cNvPicPr>
          <p:nvPr/>
        </p:nvPicPr>
        <p:blipFill>
          <a:blip r:embed="rId1"/>
          <a:stretch>
            <a:fillRect/>
          </a:stretch>
        </p:blipFill>
        <p:spPr>
          <a:xfrm>
            <a:off x="548640" y="1878040"/>
            <a:ext cx="11094415" cy="3284801"/>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Seams not fully sealed. Fix: seal and reinforce before topcoat.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236</a:t>
            </a:fld>
            <a:endParaRPr lang="en-US"/>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FINAL INSPECTION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Seams: More Open Seams</a:t>
            </a:r>
            <a:endParaRPr lang="en-US" sz="3000" dirty="0"/>
          </a:p>
        </p:txBody>
      </p:sp>
      <p:pic>
        <p:nvPicPr>
          <p:cNvPr id="4" name="Photo" descr="Photo">    </p:cNvPr>
          <p:cNvPicPr>
            <a:picLocks noChangeAspect="1"/>
          </p:cNvPicPr>
          <p:nvPr/>
        </p:nvPicPr>
        <p:blipFill>
          <a:blip r:embed="rId1"/>
          <a:stretch>
            <a:fillRect/>
          </a:stretch>
        </p:blipFill>
        <p:spPr>
          <a:xfrm>
            <a:off x="548640" y="2351828"/>
            <a:ext cx="11094415" cy="2337223"/>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Look closely — small gaps let water in.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237</a:t>
            </a:fld>
            <a:endParaRPr lang="en-US"/>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FINAL INSPECTION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Penetrations Not Sealed</a:t>
            </a:r>
            <a:endParaRPr lang="en-US" sz="3000" dirty="0"/>
          </a:p>
        </p:txBody>
      </p:sp>
      <p:pic>
        <p:nvPicPr>
          <p:cNvPr id="4" name="Photo" descr="Photo">    </p:cNvPr>
          <p:cNvPicPr>
            <a:picLocks noChangeAspect="1"/>
          </p:cNvPicPr>
          <p:nvPr/>
        </p:nvPicPr>
        <p:blipFill>
          <a:blip r:embed="rId1"/>
          <a:stretch>
            <a:fillRect/>
          </a:stretch>
        </p:blipFill>
        <p:spPr>
          <a:xfrm>
            <a:off x="548640" y="2174318"/>
            <a:ext cx="11094415" cy="2692245"/>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Pipes and vents need a full seal all the way around.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238</a:t>
            </a:fld>
            <a:endParaRPr lang="en-US"/>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FINAL INSPECTION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Open Flashings</a:t>
            </a:r>
            <a:endParaRPr lang="en-US" sz="3000" dirty="0"/>
          </a:p>
        </p:txBody>
      </p:sp>
      <p:pic>
        <p:nvPicPr>
          <p:cNvPr id="4" name="Photo" descr="Photo">    </p:cNvPr>
          <p:cNvPicPr>
            <a:picLocks noChangeAspect="1"/>
          </p:cNvPicPr>
          <p:nvPr/>
        </p:nvPicPr>
        <p:blipFill>
          <a:blip r:embed="rId1"/>
          <a:stretch>
            <a:fillRect/>
          </a:stretch>
        </p:blipFill>
        <p:spPr>
          <a:xfrm>
            <a:off x="548640" y="1462605"/>
            <a:ext cx="11094415" cy="411567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Flashing edges must be sealed tight.</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239</a:t>
            </a:fld>
            <a:endParaRPr lang="en-US"/>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FINAL INSPECTION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Thin Coating in the Field</a:t>
            </a:r>
            <a:endParaRPr lang="en-US" sz="3000" dirty="0"/>
          </a:p>
        </p:txBody>
      </p:sp>
      <p:pic>
        <p:nvPicPr>
          <p:cNvPr id="4" name="Photo" descr="Photo">    </p:cNvPr>
          <p:cNvPicPr>
            <a:picLocks noChangeAspect="1"/>
          </p:cNvPicPr>
          <p:nvPr/>
        </p:nvPicPr>
        <p:blipFill>
          <a:blip r:embed="rId1"/>
          <a:stretch>
            <a:fillRect/>
          </a:stretch>
        </p:blipFill>
        <p:spPr>
          <a:xfrm>
            <a:off x="548640" y="1660276"/>
            <a:ext cx="11094415" cy="3720327"/>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Not enough coating. Fix: add coating to hit the spec rate.</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240</a:t>
            </a:fld>
            <a:endParaRPr lang="en-US"/>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FINAL INSPECTION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Fasteners</a:t>
            </a:r>
            <a:endParaRPr lang="en-US" sz="3000" dirty="0"/>
          </a:p>
        </p:txBody>
      </p:sp>
      <p:pic>
        <p:nvPicPr>
          <p:cNvPr id="4" name="Photo" descr="Photo">    </p:cNvPr>
          <p:cNvPicPr>
            <a:picLocks noChangeAspect="1"/>
          </p:cNvPicPr>
          <p:nvPr/>
        </p:nvPicPr>
        <p:blipFill>
          <a:blip r:embed="rId1"/>
          <a:stretch>
            <a:fillRect/>
          </a:stretch>
        </p:blipFill>
        <p:spPr>
          <a:xfrm>
            <a:off x="548640" y="2266771"/>
            <a:ext cx="11094415" cy="2507338"/>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Every screw head needs to be fully covered.</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241</a:t>
            </a:fld>
            <a:endParaRPr lang="en-US"/>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FINAL INSPECTION</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Fasteners, Skylights &amp; Drains</a:t>
            </a:r>
            <a:endParaRPr lang="en-US" sz="3000" dirty="0"/>
          </a:p>
        </p:txBody>
      </p:sp>
      <p:pic>
        <p:nvPicPr>
          <p:cNvPr id="4" name="Photo" descr="Photo">    </p:cNvPr>
          <p:cNvPicPr>
            <a:picLocks noChangeAspect="1"/>
          </p:cNvPicPr>
          <p:nvPr/>
        </p:nvPicPr>
        <p:blipFill>
          <a:blip r:embed="rId1"/>
          <a:stretch>
            <a:fillRect/>
          </a:stretch>
        </p:blipFill>
        <p:spPr>
          <a:xfrm>
            <a:off x="548640" y="2322243"/>
            <a:ext cx="11094415" cy="2396394"/>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Check every fastener, skylight edge, and drain.</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242</a:t>
            </a:fld>
            <a:endParaRPr lang="en-US"/>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RESULTS &amp; SUPPORT</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The End Result</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An old roof that works like new.</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243</a:t>
            </a:fld>
            <a:endParaRPr lang="en-US"/>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RESULTS &amp; SUPPORT</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Before &amp; After (1)</a:t>
            </a:r>
            <a:endParaRPr lang="en-US" sz="3000" dirty="0"/>
          </a:p>
        </p:txBody>
      </p:sp>
      <p:pic>
        <p:nvPicPr>
          <p:cNvPr id="4" name="Photo" descr="Photo">    </p:cNvPr>
          <p:cNvPicPr>
            <a:picLocks noChangeAspect="1"/>
          </p:cNvPicPr>
          <p:nvPr/>
        </p:nvPicPr>
        <p:blipFill>
          <a:blip r:embed="rId1"/>
          <a:stretch>
            <a:fillRect/>
          </a:stretch>
        </p:blipFill>
        <p:spPr>
          <a:xfrm>
            <a:off x="609448" y="1417320"/>
            <a:ext cx="1097280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Before → After</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244</a:t>
            </a:fld>
            <a:endParaRPr lang="en-US"/>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RESULTS &amp; SUPPORT</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Before &amp; After (2)</a:t>
            </a:r>
            <a:endParaRPr lang="en-US" sz="3000" dirty="0"/>
          </a:p>
        </p:txBody>
      </p:sp>
      <p:pic>
        <p:nvPicPr>
          <p:cNvPr id="4" name="Photo" descr="Photo">    </p:cNvPr>
          <p:cNvPicPr>
            <a:picLocks noChangeAspect="1"/>
          </p:cNvPicPr>
          <p:nvPr/>
        </p:nvPicPr>
        <p:blipFill>
          <a:blip r:embed="rId1"/>
          <a:stretch>
            <a:fillRect/>
          </a:stretch>
        </p:blipFill>
        <p:spPr>
          <a:xfrm>
            <a:off x="609448" y="1417320"/>
            <a:ext cx="1097280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Before → After</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245</a:t>
            </a:fld>
            <a:endParaRPr lang="en-US"/>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RESULTS &amp; SUPPORT</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Before &amp; After (3)</a:t>
            </a:r>
            <a:endParaRPr lang="en-US" sz="3000" dirty="0"/>
          </a:p>
        </p:txBody>
      </p:sp>
      <p:pic>
        <p:nvPicPr>
          <p:cNvPr id="4" name="Photo" descr="Photo">    </p:cNvPr>
          <p:cNvPicPr>
            <a:picLocks noChangeAspect="1"/>
          </p:cNvPicPr>
          <p:nvPr/>
        </p:nvPicPr>
        <p:blipFill>
          <a:blip r:embed="rId1"/>
          <a:stretch>
            <a:fillRect/>
          </a:stretch>
        </p:blipFill>
        <p:spPr>
          <a:xfrm>
            <a:off x="609448" y="1417320"/>
            <a:ext cx="10972800"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Before → After</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246</a:t>
            </a:fld>
            <a:endParaRPr lang="en-US"/>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RESULTS &amp; SUPPORT</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Before &amp; After (4)</a:t>
            </a:r>
            <a:endParaRPr lang="en-US" sz="3000" dirty="0"/>
          </a:p>
        </p:txBody>
      </p:sp>
      <p:pic>
        <p:nvPicPr>
          <p:cNvPr id="4" name="Photo" descr="Photo">    </p:cNvPr>
          <p:cNvPicPr>
            <a:picLocks noChangeAspect="1"/>
          </p:cNvPicPr>
          <p:nvPr/>
        </p:nvPicPr>
        <p:blipFill>
          <a:blip r:embed="rId1"/>
          <a:stretch>
            <a:fillRect/>
          </a:stretch>
        </p:blipFill>
        <p:spPr>
          <a:xfrm>
            <a:off x="551595" y="1417320"/>
            <a:ext cx="11088506" cy="4206240"/>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Before → After</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247</a:t>
            </a:fld>
            <a:endParaRPr lang="en-US"/>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RESULTS &amp; SUPPORT</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Before &amp; After (5)</a:t>
            </a:r>
            <a:endParaRPr lang="en-US" sz="3000" dirty="0"/>
          </a:p>
        </p:txBody>
      </p:sp>
      <p:pic>
        <p:nvPicPr>
          <p:cNvPr id="4" name="Photo" descr="Photo">    </p:cNvPr>
          <p:cNvPicPr>
            <a:picLocks noChangeAspect="1"/>
          </p:cNvPicPr>
          <p:nvPr/>
        </p:nvPicPr>
        <p:blipFill>
          <a:blip r:embed="rId1"/>
          <a:stretch>
            <a:fillRect/>
          </a:stretch>
        </p:blipFill>
        <p:spPr>
          <a:xfrm>
            <a:off x="548640" y="1723145"/>
            <a:ext cx="11094415" cy="3594591"/>
          </a:xfrm>
          <a:prstGeom prst="rect">
            <a:avLst/>
          </a:prstGeom>
        </p:spPr>
      </p:pic>
      <p:sp>
        <p:nvSpPr>
          <p:cNvPr id="5" name="Caption card"/>
          <p:cNvSpPr/>
          <p:nvPr/>
        </p:nvSpPr>
        <p:spPr>
          <a:xfrm>
            <a:off x="548640" y="5742432"/>
            <a:ext cx="11094415" cy="566928"/>
          </a:xfrm>
          <a:prstGeom prst="roundRect">
            <a:avLst>
              <a:gd name="adj" fmla="val 12903"/>
            </a:avLst>
          </a:prstGeom>
          <a:solidFill>
            <a:schemeClr val="bg2"/>
          </a:solidFill>
          <a:ln/>
        </p:spPr>
      </p:sp>
      <p:sp>
        <p:nvSpPr>
          <p:cNvPr id="6" name="Caption"/>
          <p:cNvSpPr txBox="1"/>
          <p:nvPr/>
        </p:nvSpPr>
        <p:spPr>
          <a:xfrm>
            <a:off x="777240" y="5742432"/>
            <a:ext cx="10637215" cy="566928"/>
          </a:xfrm>
          <a:prstGeom prst="rect">
            <a:avLst/>
          </a:prstGeom>
          <a:noFill/>
          <a:ln/>
        </p:spPr>
        <p:txBody>
          <a:bodyPr wrap="square" lIns="0" tIns="0" rIns="0" bIns="0" rtlCol="0" anchor="ctr">
            <a:normAutofit/>
          </a:bodyPr>
          <a:lstStyle/>
          <a:p>
            <a:pPr indent="0" marL="0">
              <a:buNone/>
            </a:pPr>
            <a:r>
              <a:rPr lang="en-US" sz="1900" b="1" dirty="0">
                <a:solidFill>
                  <a:schemeClr val="tx2"/>
                </a:solidFill>
              </a:rPr>
              <a:t>Before → After</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248</a:t>
            </a:fld>
            <a:endParaRPr lang="en-US"/>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RESULTS &amp; SUPPORT</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Technical Support</a:t>
            </a:r>
            <a:endParaRPr lang="en-US" sz="4000" dirty="0"/>
          </a:p>
        </p:txBody>
      </p:sp>
      <p:sp>
        <p:nvSpPr>
          <p:cNvPr id="4" name="Remember card"/>
          <p:cNvSpPr/>
          <p:nvPr/>
        </p:nvSpPr>
        <p:spPr>
          <a:xfrm>
            <a:off x="731520" y="3749040"/>
            <a:ext cx="10698480" cy="1737360"/>
          </a:xfrm>
          <a:prstGeom prst="roundRect">
            <a:avLst>
              <a:gd name="adj" fmla="val 6316"/>
            </a:avLst>
          </a:prstGeom>
          <a:solidFill>
            <a:schemeClr val="accent1"/>
          </a:solidFill>
          <a:ln/>
        </p:spPr>
      </p:sp>
      <p:sp>
        <p:nvSpPr>
          <p:cNvPr id="5" name="Text 3"/>
          <p:cNvSpPr txBox="1"/>
          <p:nvPr/>
        </p:nvSpPr>
        <p:spPr>
          <a:xfrm>
            <a:off x="1097280" y="3977640"/>
            <a:ext cx="996696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REMEMBER</a:t>
            </a:r>
            <a:endParaRPr lang="en-US" sz="1400" dirty="0"/>
          </a:p>
        </p:txBody>
      </p:sp>
      <p:sp>
        <p:nvSpPr>
          <p:cNvPr id="6" name="Remember line"/>
          <p:cNvSpPr txBox="1"/>
          <p:nvPr/>
        </p:nvSpPr>
        <p:spPr>
          <a:xfrm>
            <a:off x="1097280" y="4389120"/>
            <a:ext cx="9966960" cy="914400"/>
          </a:xfrm>
          <a:prstGeom prst="rect">
            <a:avLst/>
          </a:prstGeom>
          <a:noFill/>
          <a:ln/>
        </p:spPr>
        <p:txBody>
          <a:bodyPr wrap="square" lIns="0" tIns="0" rIns="0" bIns="0" rtlCol="0" anchor="t"/>
          <a:lstStyle/>
          <a:p>
            <a:pPr indent="0" marL="0">
              <a:buNone/>
            </a:pPr>
            <a:r>
              <a:rPr lang="en-US" sz="2800" b="1" dirty="0">
                <a:solidFill>
                  <a:schemeClr val="bg1"/>
                </a:solidFill>
              </a:rPr>
              <a:t>You're never on the roof alone.</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249</a:t>
            </a:fld>
            <a:endParaRPr lang="en-US"/>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200" b="1" spc="100" kern="0" dirty="0">
                <a:solidFill>
                  <a:schemeClr val="accent1"/>
                </a:solidFill>
              </a:rPr>
              <a:t>RESULTS &amp; SUPPORT</a:t>
            </a:r>
            <a:endParaRPr lang="en-US" sz="1200" dirty="0"/>
          </a:p>
        </p:txBody>
      </p:sp>
      <p:sp>
        <p:nvSpPr>
          <p:cNvPr id="3" name="Text 1"/>
          <p:cNvSpPr/>
          <p:nvPr>
            <p:ph idx="102"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000" b="1" dirty="0">
                <a:solidFill>
                  <a:schemeClr val="tx2"/>
                </a:solidFill>
                <a:latin typeface="Arial" pitchFamily="34" charset="0"/>
                <a:ea typeface="Arial" pitchFamily="34" charset="-122"/>
                <a:cs typeface="Arial" pitchFamily="34" charset="-120"/>
              </a:rPr>
              <a:t>Your Henry Tech Reps</a:t>
            </a:r>
            <a:endParaRPr lang="en-US" sz="3000" dirty="0"/>
          </a:p>
        </p:txBody>
      </p:sp>
      <p:graphicFrame>
        <p:nvGraphicFramePr>
          <p:cNvPr id="251"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1613733"/>
                <a:gridCol w="6051499"/>
                <a:gridCol w="1412016"/>
                <a:gridCol w="2017166"/>
              </a:tblGrid>
              <a:tr h="0">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Rep</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Area</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Phone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Email</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Carlos Benavides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CA, AZ, NV</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951.617.0783</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cbenavides@henry.com</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David Ahrlett</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TX, OK, AR, LA, MS, NM, CO, KS, UT, Memphis, western MO</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817.771.4026</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dahrlett@henry.com</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Jason Morris</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IL, NW IN, eastern MO, IA, MN, ND, SD, NE, WA, OR, ID, MT, WY, AK, HI</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773.412.9022</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jmorris@henry.com</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Dana Destro</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Northeast, Mid-Atlantic, OH, WV, IN, MI, KY, central and western TN</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215.817.6386</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ddestro@henry.com</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John Croyle</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Northeast, Mid-Atlantic, OH, WV, IN, MI, KY, central and western TN</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440.547.5344</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jcroyle@henry.com</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2"/>
                          </a:solidFill>
                          <a:latin typeface="Calibri" pitchFamily="34" charset="0"/>
                          <a:ea typeface="Calibri" pitchFamily="34" charset="-122"/>
                          <a:cs typeface="Calibri" pitchFamily="34" charset="-120"/>
                        </a:rPr>
                        <a:t>Michael Strachan</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FL, GA, AL, SC, NC, eastern TN</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727.589.6493</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mstrachan@henry.com</a:t>
                      </a:r>
                      <a:endParaRPr lang="en-US" sz="1600" dirty="0">
                        <a:latin typeface="Calibri" charset="0"/>
                        <a:ea typeface="Calibri" charset="0"/>
                        <a:cs typeface="Calibri" charset="0"/>
                      </a:endParaRPr>
                    </a:p>
                  </a:txBody>
                  <a:tcPr marL="127000" marR="127000" marT="76200" marB="7620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5" name="Footnote"/>
          <p:cNvSpPr txBox="1"/>
          <p:nvPr/>
        </p:nvSpPr>
        <p:spPr>
          <a:xfrm>
            <a:off x="548640" y="5925312"/>
            <a:ext cx="11094415" cy="365760"/>
          </a:xfrm>
          <a:prstGeom prst="rect">
            <a:avLst/>
          </a:prstGeom>
          <a:noFill/>
          <a:ln/>
        </p:spPr>
        <p:txBody>
          <a:bodyPr wrap="square" lIns="0" tIns="0" rIns="0" bIns="0" rtlCol="0" anchor="b"/>
          <a:lstStyle/>
          <a:p>
            <a:pPr indent="0" marL="0">
              <a:buNone/>
            </a:pPr>
            <a:r>
              <a:rPr lang="en-US" sz="1200" i="1" dirty="0">
                <a:solidFill>
                  <a:schemeClr val="accent5"/>
                </a:solidFill>
              </a:rPr>
              <a:t>Northeast and Mid-Atlantic: ME, VT, NH, MA, CT, RI, NY, NJ, PA, MD, DE, DC, VA.</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250</a:t>
            </a:fld>
            <a:endParaRPr lang="en-US"/>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spTree>
      <p:nvGrpSpPr>
        <p:cNvPr id="1" name=""/>
        <p:cNvGrpSpPr/>
        <p:nvPr/>
      </p:nvGrpSpPr>
      <p:grpSpPr>
        <a:xfrm>
          <a:off x="0" y="0"/>
          <a:ext cx="0" cy="0"/>
          <a:chOff x="0" y="0"/>
          <a:chExt cx="0" cy="0"/>
        </a:xfrm>
      </p:grpSpPr>
      <p:sp>
        <p:nvSpPr>
          <p:cNvPr id="2" name="Text 0"/>
          <p:cNvSpPr/>
          <p:nvPr>
            <p:ph idx="100" type="body" hasCustomPrompt="1"/>
          </p:nvPr>
        </p:nvSpPr>
        <p:spPr>
          <a:xfrm>
            <a:off x="731520" y="1097280"/>
            <a:ext cx="10698480" cy="365760"/>
          </a:xfrm>
          <a:prstGeom prst="rect">
            <a:avLst/>
          </a:prstGeom>
          <a:noFill/>
          <a:ln/>
        </p:spPr>
        <p:txBody>
          <a:bodyPr wrap="square" lIns="0" tIns="0" rIns="0" bIns="0" rtlCol="0"/>
          <a:lstStyle/>
          <a:p>
            <a:pPr indent="0" marL="0">
              <a:buNone/>
            </a:pPr>
            <a:r>
              <a:rPr lang="en-US" sz="1400" b="1" spc="200" kern="0" dirty="0">
                <a:solidFill>
                  <a:schemeClr val="accent2"/>
                </a:solidFill>
              </a:rPr>
              <a:t>WRAP-UP</a:t>
            </a:r>
            <a:endParaRPr lang="en-US" sz="1400" dirty="0"/>
          </a:p>
        </p:txBody>
      </p:sp>
      <p:sp>
        <p:nvSpPr>
          <p:cNvPr id="3" name="Text 0"/>
          <p:cNvSpPr/>
          <p:nvPr>
            <p:ph idx="101" type="title" hasCustomPrompt="1"/>
          </p:nvPr>
        </p:nvSpPr>
        <p:spPr>
          <a:xfrm>
            <a:off x="731520" y="1554480"/>
            <a:ext cx="10698480" cy="17373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Questions?</a:t>
            </a:r>
            <a:endParaRPr lang="en-US" sz="4000" dirty="0"/>
          </a:p>
        </p:txBody>
      </p:sp>
      <p:sp>
        <p:nvSpPr>
          <p:cNvPr id="4" name="Recap 1"/>
          <p:cNvSpPr/>
          <p:nvPr/>
        </p:nvSpPr>
        <p:spPr>
          <a:xfrm>
            <a:off x="731520" y="3017520"/>
            <a:ext cx="5212080" cy="1005840"/>
          </a:xfrm>
          <a:prstGeom prst="roundRect">
            <a:avLst>
              <a:gd name="adj" fmla="val 9091"/>
            </a:avLst>
          </a:prstGeom>
          <a:solidFill>
            <a:schemeClr val="accent1"/>
          </a:solidFill>
          <a:ln/>
        </p:spPr>
      </p:sp>
      <p:sp>
        <p:nvSpPr>
          <p:cNvPr id="5" name="Text 3"/>
          <p:cNvSpPr txBox="1"/>
          <p:nvPr/>
        </p:nvSpPr>
        <p:spPr>
          <a:xfrm>
            <a:off x="1051560" y="3017520"/>
            <a:ext cx="4572000" cy="1005840"/>
          </a:xfrm>
          <a:prstGeom prst="rect">
            <a:avLst/>
          </a:prstGeom>
          <a:noFill/>
          <a:ln/>
        </p:spPr>
        <p:txBody>
          <a:bodyPr wrap="square" lIns="0" tIns="0" rIns="0" bIns="0" rtlCol="0" anchor="ctr"/>
          <a:lstStyle/>
          <a:p>
            <a:pPr indent="0" marL="0">
              <a:buNone/>
            </a:pPr>
            <a:r>
              <a:rPr lang="en-US" sz="2400" b="1" dirty="0">
                <a:solidFill>
                  <a:schemeClr val="accent2"/>
                </a:solidFill>
              </a:rPr>
              <a:t>1  </a:t>
            </a:r>
            <a:r>
              <a:rPr lang="en-US" sz="2400" b="1" dirty="0">
                <a:solidFill>
                  <a:schemeClr val="bg1"/>
                </a:solidFill>
              </a:rPr>
              <a:t>Clean. Dry. Sound.</a:t>
            </a:r>
            <a:endParaRPr lang="en-US" sz="2400" dirty="0"/>
          </a:p>
        </p:txBody>
      </p:sp>
      <p:sp>
        <p:nvSpPr>
          <p:cNvPr id="6" name="Recap 2"/>
          <p:cNvSpPr/>
          <p:nvPr/>
        </p:nvSpPr>
        <p:spPr>
          <a:xfrm>
            <a:off x="6217920" y="3017520"/>
            <a:ext cx="5212080" cy="1005840"/>
          </a:xfrm>
          <a:prstGeom prst="roundRect">
            <a:avLst>
              <a:gd name="adj" fmla="val 9091"/>
            </a:avLst>
          </a:prstGeom>
          <a:solidFill>
            <a:schemeClr val="accent1"/>
          </a:solidFill>
          <a:ln/>
        </p:spPr>
      </p:sp>
      <p:sp>
        <p:nvSpPr>
          <p:cNvPr id="7" name="Text 5"/>
          <p:cNvSpPr txBox="1"/>
          <p:nvPr/>
        </p:nvSpPr>
        <p:spPr>
          <a:xfrm>
            <a:off x="6537960" y="3017520"/>
            <a:ext cx="4572000" cy="1005840"/>
          </a:xfrm>
          <a:prstGeom prst="rect">
            <a:avLst/>
          </a:prstGeom>
          <a:noFill/>
          <a:ln/>
        </p:spPr>
        <p:txBody>
          <a:bodyPr wrap="square" lIns="0" tIns="0" rIns="0" bIns="0" rtlCol="0" anchor="ctr"/>
          <a:lstStyle/>
          <a:p>
            <a:pPr indent="0" marL="0">
              <a:buNone/>
            </a:pPr>
            <a:r>
              <a:rPr lang="en-US" sz="2400" b="1" dirty="0">
                <a:solidFill>
                  <a:schemeClr val="accent2"/>
                </a:solidFill>
              </a:rPr>
              <a:t>2  </a:t>
            </a:r>
            <a:r>
              <a:rPr lang="en-US" sz="2400" b="1" dirty="0">
                <a:solidFill>
                  <a:schemeClr val="bg1"/>
                </a:solidFill>
              </a:rPr>
              <a:t>Repair first, then restore.</a:t>
            </a:r>
            <a:endParaRPr lang="en-US" sz="2400" dirty="0"/>
          </a:p>
        </p:txBody>
      </p:sp>
      <p:sp>
        <p:nvSpPr>
          <p:cNvPr id="8" name="Recap 3"/>
          <p:cNvSpPr/>
          <p:nvPr/>
        </p:nvSpPr>
        <p:spPr>
          <a:xfrm>
            <a:off x="731520" y="4251960"/>
            <a:ext cx="5212080" cy="1005840"/>
          </a:xfrm>
          <a:prstGeom prst="roundRect">
            <a:avLst>
              <a:gd name="adj" fmla="val 9091"/>
            </a:avLst>
          </a:prstGeom>
          <a:solidFill>
            <a:schemeClr val="accent1"/>
          </a:solidFill>
          <a:ln/>
        </p:spPr>
      </p:sp>
      <p:sp>
        <p:nvSpPr>
          <p:cNvPr id="9" name="Text 7"/>
          <p:cNvSpPr txBox="1"/>
          <p:nvPr/>
        </p:nvSpPr>
        <p:spPr>
          <a:xfrm>
            <a:off x="1051560" y="4251960"/>
            <a:ext cx="4572000" cy="1005840"/>
          </a:xfrm>
          <a:prstGeom prst="rect">
            <a:avLst/>
          </a:prstGeom>
          <a:noFill/>
          <a:ln/>
        </p:spPr>
        <p:txBody>
          <a:bodyPr wrap="square" lIns="0" tIns="0" rIns="0" bIns="0" rtlCol="0" anchor="ctr"/>
          <a:lstStyle/>
          <a:p>
            <a:pPr indent="0" marL="0">
              <a:buNone/>
            </a:pPr>
            <a:r>
              <a:rPr lang="en-US" sz="2400" b="1" dirty="0">
                <a:solidFill>
                  <a:schemeClr val="accent2"/>
                </a:solidFill>
              </a:rPr>
              <a:t>3  </a:t>
            </a:r>
            <a:r>
              <a:rPr lang="en-US" sz="2400" b="1" dirty="0">
                <a:solidFill>
                  <a:schemeClr val="bg1"/>
                </a:solidFill>
              </a:rPr>
              <a:t>Sweat the details.</a:t>
            </a:r>
            <a:endParaRPr lang="en-US" sz="2400" dirty="0"/>
          </a:p>
        </p:txBody>
      </p:sp>
      <p:sp>
        <p:nvSpPr>
          <p:cNvPr id="10" name="Recap 4"/>
          <p:cNvSpPr/>
          <p:nvPr/>
        </p:nvSpPr>
        <p:spPr>
          <a:xfrm>
            <a:off x="6217920" y="4251960"/>
            <a:ext cx="5212080" cy="1005840"/>
          </a:xfrm>
          <a:prstGeom prst="roundRect">
            <a:avLst>
              <a:gd name="adj" fmla="val 9091"/>
            </a:avLst>
          </a:prstGeom>
          <a:solidFill>
            <a:schemeClr val="accent1"/>
          </a:solidFill>
          <a:ln/>
        </p:spPr>
      </p:sp>
      <p:sp>
        <p:nvSpPr>
          <p:cNvPr id="11" name="Text 9"/>
          <p:cNvSpPr txBox="1"/>
          <p:nvPr/>
        </p:nvSpPr>
        <p:spPr>
          <a:xfrm>
            <a:off x="6537960" y="4251960"/>
            <a:ext cx="4572000" cy="1005840"/>
          </a:xfrm>
          <a:prstGeom prst="rect">
            <a:avLst/>
          </a:prstGeom>
          <a:noFill/>
          <a:ln/>
        </p:spPr>
        <p:txBody>
          <a:bodyPr wrap="square" lIns="0" tIns="0" rIns="0" bIns="0" rtlCol="0" anchor="ctr"/>
          <a:lstStyle/>
          <a:p>
            <a:pPr indent="0" marL="0">
              <a:buNone/>
            </a:pPr>
            <a:r>
              <a:rPr lang="en-US" sz="2400" b="1" dirty="0">
                <a:solidFill>
                  <a:schemeClr val="accent2"/>
                </a:solidFill>
              </a:rPr>
              <a:t>4  </a:t>
            </a:r>
            <a:r>
              <a:rPr lang="en-US" sz="2400" b="1" dirty="0">
                <a:solidFill>
                  <a:schemeClr val="bg1"/>
                </a:solidFill>
              </a:rPr>
              <a:t>Get authorized before the job.</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251</a:t>
            </a:fld>
            <a:endParaRPr lang="en-US"/>
          </a:p>
        </p:txBody>
      </p:sp>
    </p:spTree>
  </p:cSld>
  <p:clrMapOvr>
    <a:masterClrMapping/>
  </p:clrMapOvr>
</p:sld>
</file>

<file path=ppt/theme/theme1.xml><?xml version="1.0" encoding="utf-8"?>
<a:theme xmlns:a="http://schemas.openxmlformats.org/drawingml/2006/main" name="Henry Gold Seal">
  <a:themeElements>
    <a:clrScheme name="Henry Gold Seal">
      <a:dk1>
        <a:srgbClr val="1B1F24"/>
      </a:dk1>
      <a:lt1>
        <a:srgbClr val="FFFFFF"/>
      </a:lt1>
      <a:dk2>
        <a:srgbClr val="0B2545"/>
      </a:dk2>
      <a:lt2>
        <a:srgbClr val="EEF3F8"/>
      </a:lt2>
      <a:accent1>
        <a:srgbClr val="0057A8"/>
      </a:accent1>
      <a:accent2>
        <a:srgbClr val="F5B700"/>
      </a:accent2>
      <a:accent3>
        <a:srgbClr val="2E8B57"/>
      </a:accent3>
      <a:accent4>
        <a:srgbClr val="C0392B"/>
      </a:accent4>
      <a:accent5>
        <a:srgbClr val="5B6B7C"/>
      </a:accent5>
      <a:accent6>
        <a:srgbClr val="9CC3EC"/>
      </a:accent6>
      <a:hlink>
        <a:srgbClr val="0057A8"/>
      </a:hlink>
      <a:folHlink>
        <a:srgbClr val="5B6B7C"/>
      </a:folHlink>
    </a:clrScheme>
    <a:fontScheme name="Henry Gold Se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251</Slides>
  <Notes>251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251</vt:i4>
      </vt:variant>
    </vt:vector>
  </HeadingPairs>
  <TitlesOfParts>
    <vt:vector size="2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Henry Roof Restoration &amp; Repair — Gold Seal Training</dc:title>
  <dc:subject>PptxGenJS Presentation</dc:subject>
  <dc:creator>Henry Gold Seal Training</dc:creator>
  <cp:lastModifiedBy>Henry Gold Seal Training</cp:lastModifiedBy>
  <cp:revision>1</cp:revision>
  <dcterms:created xsi:type="dcterms:W3CDTF">2026-10-27T21:09:42Z</dcterms:created>
  <dcterms:modified xsi:type="dcterms:W3CDTF">2026-10-27T21:09:42Z</dcterms:modified>
</cp:coreProperties>
</file>